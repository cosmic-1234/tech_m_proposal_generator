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0"/>
            <a:ext cx="731520" cy="68580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0"/>
            <a:ext cx="182880" cy="6858000"/>
          </a:xfrm>
          <a:prstGeom prst="rect">
            <a:avLst/>
          </a:prstGeom>
          <a:solidFill>
            <a:srgbClr val="696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echm_logo.jpg"/>
          <p:cNvPicPr>
            <a:picLocks noChangeAspect="1"/>
          </p:cNvPicPr>
          <p:nvPr/>
        </p:nvPicPr>
        <p:blipFill>
          <a:blip r:embed="rId2"/>
          <a:stretch>
            <a:fillRect/>
          </a:stretch>
        </p:blipFill>
        <p:spPr>
          <a:xfrm>
            <a:off x="1645920" y="1097280"/>
            <a:ext cx="1900052" cy="731520"/>
          </a:xfrm>
          <a:prstGeom prst="rect">
            <a:avLst/>
          </a:prstGeom>
        </p:spPr>
      </p:pic>
      <p:sp>
        <p:nvSpPr>
          <p:cNvPr id="5" name="TextBox 4"/>
          <p:cNvSpPr txBox="1"/>
          <p:nvPr/>
        </p:nvSpPr>
        <p:spPr>
          <a:xfrm>
            <a:off x="1645920" y="2743200"/>
            <a:ext cx="9144000" cy="731520"/>
          </a:xfrm>
          <a:prstGeom prst="rect">
            <a:avLst/>
          </a:prstGeom>
          <a:noFill/>
        </p:spPr>
        <p:txBody>
          <a:bodyPr wrap="square" anchor="t">
            <a:spAutoFit/>
          </a:bodyPr>
          <a:lstStyle/>
          <a:p>
            <a:pPr algn="l"/>
            <a:r>
              <a:rPr sz="2400" b="1" i="0">
                <a:solidFill>
                  <a:srgbClr val="E31837"/>
                </a:solidFill>
                <a:latin typeface="Arial"/>
              </a:rPr>
              <a:t>STRATEGIC CONSULTING</a:t>
            </a:r>
          </a:p>
        </p:txBody>
      </p:sp>
      <p:sp>
        <p:nvSpPr>
          <p:cNvPr id="6" name="Rectangle 5"/>
          <p:cNvSpPr/>
          <p:nvPr/>
        </p:nvSpPr>
        <p:spPr>
          <a:xfrm>
            <a:off x="1645920" y="3474720"/>
            <a:ext cx="7315200" cy="45720"/>
          </a:xfrm>
          <a:prstGeom prst="rect">
            <a:avLst/>
          </a:prstGeom>
          <a:solidFill>
            <a:srgbClr val="696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3840480"/>
            <a:ext cx="9144000" cy="548640"/>
          </a:xfrm>
          <a:prstGeom prst="rect">
            <a:avLst/>
          </a:prstGeom>
          <a:noFill/>
        </p:spPr>
        <p:txBody>
          <a:bodyPr wrap="square" anchor="t">
            <a:spAutoFit/>
          </a:bodyPr>
          <a:lstStyle/>
          <a:p>
            <a:pPr algn="l"/>
            <a:r>
              <a:rPr sz="2000" b="0" i="0">
                <a:solidFill>
                  <a:srgbClr val="FFFFFF"/>
                </a:solidFill>
                <a:latin typeface="Arial"/>
              </a:rPr>
              <a:t>SOLUTION PROPOSAL &amp; ROADMAP</a:t>
            </a:r>
          </a:p>
        </p:txBody>
      </p:sp>
      <p:sp>
        <p:nvSpPr>
          <p:cNvPr id="8" name="TextBox 7"/>
          <p:cNvSpPr txBox="1"/>
          <p:nvPr/>
        </p:nvSpPr>
        <p:spPr>
          <a:xfrm>
            <a:off x="1645920" y="4389120"/>
            <a:ext cx="9144000" cy="548640"/>
          </a:xfrm>
          <a:prstGeom prst="rect">
            <a:avLst/>
          </a:prstGeom>
          <a:noFill/>
        </p:spPr>
        <p:txBody>
          <a:bodyPr wrap="square" anchor="t">
            <a:spAutoFit/>
          </a:bodyPr>
          <a:lstStyle/>
          <a:p>
            <a:pPr algn="l"/>
            <a:r>
              <a:rPr sz="1600" b="0" i="0">
                <a:solidFill>
                  <a:srgbClr val="C8D2E6"/>
                </a:solidFill>
                <a:latin typeface="Arial"/>
              </a:rPr>
              <a:t>Prepared Exclusively For: HDFC</a:t>
            </a:r>
          </a:p>
        </p:txBody>
      </p:sp>
      <p:sp>
        <p:nvSpPr>
          <p:cNvPr id="9" name="TextBox 8"/>
          <p:cNvSpPr txBox="1"/>
          <p:nvPr/>
        </p:nvSpPr>
        <p:spPr>
          <a:xfrm>
            <a:off x="1645920" y="5486400"/>
            <a:ext cx="4572000" cy="457200"/>
          </a:xfrm>
          <a:prstGeom prst="rect">
            <a:avLst/>
          </a:prstGeom>
          <a:noFill/>
        </p:spPr>
        <p:txBody>
          <a:bodyPr wrap="square" anchor="t">
            <a:spAutoFit/>
          </a:bodyPr>
          <a:lstStyle/>
          <a:p>
            <a:pPr algn="l"/>
            <a:r>
              <a:rPr sz="1200" b="0" i="0">
                <a:solidFill>
                  <a:srgbClr val="696969"/>
                </a:solidFill>
                <a:latin typeface="Arial"/>
              </a:rPr>
              <a:t>Date: April 27, 2026</a:t>
            </a:r>
          </a:p>
        </p:txBody>
      </p:sp>
      <p:sp>
        <p:nvSpPr>
          <p:cNvPr id="10" name="TextBox 9"/>
          <p:cNvSpPr txBox="1"/>
          <p:nvPr/>
        </p:nvSpPr>
        <p:spPr>
          <a:xfrm>
            <a:off x="1645920" y="5852160"/>
            <a:ext cx="4572000" cy="457200"/>
          </a:xfrm>
          <a:prstGeom prst="rect">
            <a:avLst/>
          </a:prstGeom>
          <a:noFill/>
        </p:spPr>
        <p:txBody>
          <a:bodyPr wrap="square" anchor="t">
            <a:spAutoFit/>
          </a:bodyPr>
          <a:lstStyle/>
          <a:p>
            <a:pPr algn="l"/>
            <a:r>
              <a:rPr sz="1200" b="1" i="0">
                <a:solidFill>
                  <a:srgbClr val="E31837"/>
                </a:solidFill>
                <a:latin typeface="Arial"/>
              </a:rPr>
              <a:t>STRICTLY CONFIDENTIAL</a:t>
            </a:r>
          </a:p>
        </p:txBody>
      </p:sp>
      <p:sp>
        <p:nvSpPr>
          <p:cNvPr id="11" name="TextBox 10"/>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12" name="Rectangle 11"/>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2F5"/>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EXECUTIVE SUMMARY</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Strategic Highlights &amp; Value Proposition</a:t>
            </a:r>
          </a:p>
        </p:txBody>
      </p:sp>
      <p:sp>
        <p:nvSpPr>
          <p:cNvPr id="6" name="Rectangle 5"/>
          <p:cNvSpPr/>
          <p:nvPr/>
        </p:nvSpPr>
        <p:spPr>
          <a:xfrm>
            <a:off x="457200" y="1463040"/>
            <a:ext cx="320040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200400"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28800"/>
            <a:ext cx="3200400" cy="457200"/>
          </a:xfrm>
          <a:prstGeom prst="rect">
            <a:avLst/>
          </a:prstGeom>
          <a:noFill/>
        </p:spPr>
        <p:txBody>
          <a:bodyPr wrap="square" anchor="t">
            <a:spAutoFit/>
          </a:bodyPr>
          <a:lstStyle/>
          <a:p>
            <a:pPr algn="ctr"/>
            <a:r>
              <a:rPr sz="2400" b="1" i="0">
                <a:solidFill>
                  <a:srgbClr val="000F2D"/>
                </a:solidFill>
                <a:latin typeface="Arial"/>
              </a:rPr>
              <a:t>AI-DRIVEN</a:t>
            </a:r>
          </a:p>
        </p:txBody>
      </p:sp>
      <p:sp>
        <p:nvSpPr>
          <p:cNvPr id="9" name="TextBox 8"/>
          <p:cNvSpPr txBox="1"/>
          <p:nvPr/>
        </p:nvSpPr>
        <p:spPr>
          <a:xfrm>
            <a:off x="457200" y="2286000"/>
            <a:ext cx="3200400" cy="274320"/>
          </a:xfrm>
          <a:prstGeom prst="rect">
            <a:avLst/>
          </a:prstGeom>
          <a:noFill/>
        </p:spPr>
        <p:txBody>
          <a:bodyPr wrap="square" anchor="t">
            <a:spAutoFit/>
          </a:bodyPr>
          <a:lstStyle/>
          <a:p>
            <a:pPr algn="ctr"/>
            <a:r>
              <a:rPr sz="1200" b="0" i="0">
                <a:solidFill>
                  <a:srgbClr val="696969"/>
                </a:solidFill>
                <a:latin typeface="Arial"/>
              </a:rPr>
              <a:t>Methodology</a:t>
            </a:r>
          </a:p>
        </p:txBody>
      </p:sp>
      <p:sp>
        <p:nvSpPr>
          <p:cNvPr id="10" name="Rectangle 9"/>
          <p:cNvSpPr/>
          <p:nvPr/>
        </p:nvSpPr>
        <p:spPr>
          <a:xfrm>
            <a:off x="1371600" y="274320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926080"/>
            <a:ext cx="3200400" cy="457200"/>
          </a:xfrm>
          <a:prstGeom prst="rect">
            <a:avLst/>
          </a:prstGeom>
          <a:noFill/>
        </p:spPr>
        <p:txBody>
          <a:bodyPr wrap="square" anchor="t">
            <a:spAutoFit/>
          </a:bodyPr>
          <a:lstStyle/>
          <a:p>
            <a:pPr algn="ctr"/>
            <a:r>
              <a:rPr sz="2400" b="1" i="0">
                <a:solidFill>
                  <a:srgbClr val="000F2D"/>
                </a:solidFill>
                <a:latin typeface="Arial"/>
              </a:rPr>
              <a:t>100%</a:t>
            </a:r>
          </a:p>
        </p:txBody>
      </p:sp>
      <p:sp>
        <p:nvSpPr>
          <p:cNvPr id="12" name="TextBox 11"/>
          <p:cNvSpPr txBox="1"/>
          <p:nvPr/>
        </p:nvSpPr>
        <p:spPr>
          <a:xfrm>
            <a:off x="457200" y="3383280"/>
            <a:ext cx="3200400" cy="274320"/>
          </a:xfrm>
          <a:prstGeom prst="rect">
            <a:avLst/>
          </a:prstGeom>
          <a:noFill/>
        </p:spPr>
        <p:txBody>
          <a:bodyPr wrap="square" anchor="t">
            <a:spAutoFit/>
          </a:bodyPr>
          <a:lstStyle/>
          <a:p>
            <a:pPr algn="ctr"/>
            <a:r>
              <a:rPr sz="1200" b="0" i="0">
                <a:solidFill>
                  <a:srgbClr val="696969"/>
                </a:solidFill>
                <a:latin typeface="Arial"/>
              </a:rPr>
              <a:t>Requirements Met</a:t>
            </a:r>
          </a:p>
        </p:txBody>
      </p:sp>
      <p:sp>
        <p:nvSpPr>
          <p:cNvPr id="13" name="Rectangle 12"/>
          <p:cNvSpPr/>
          <p:nvPr/>
        </p:nvSpPr>
        <p:spPr>
          <a:xfrm>
            <a:off x="1371600" y="384048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023360"/>
            <a:ext cx="3200400" cy="457200"/>
          </a:xfrm>
          <a:prstGeom prst="rect">
            <a:avLst/>
          </a:prstGeom>
          <a:noFill/>
        </p:spPr>
        <p:txBody>
          <a:bodyPr wrap="square" anchor="t">
            <a:spAutoFit/>
          </a:bodyPr>
          <a:lstStyle/>
          <a:p>
            <a:pPr algn="ctr"/>
            <a:r>
              <a:rPr sz="2400" b="1" i="0">
                <a:solidFill>
                  <a:srgbClr val="000F2D"/>
                </a:solidFill>
                <a:latin typeface="Arial"/>
              </a:rPr>
              <a:t>SCALABLE</a:t>
            </a:r>
          </a:p>
        </p:txBody>
      </p:sp>
      <p:sp>
        <p:nvSpPr>
          <p:cNvPr id="15" name="TextBox 14"/>
          <p:cNvSpPr txBox="1"/>
          <p:nvPr/>
        </p:nvSpPr>
        <p:spPr>
          <a:xfrm>
            <a:off x="457200" y="4480560"/>
            <a:ext cx="3200400" cy="274320"/>
          </a:xfrm>
          <a:prstGeom prst="rect">
            <a:avLst/>
          </a:prstGeom>
          <a:noFill/>
        </p:spPr>
        <p:txBody>
          <a:bodyPr wrap="square" anchor="t">
            <a:spAutoFit/>
          </a:bodyPr>
          <a:lstStyle/>
          <a:p>
            <a:pPr algn="ctr"/>
            <a:r>
              <a:rPr sz="1200" b="0" i="0">
                <a:solidFill>
                  <a:srgbClr val="696969"/>
                </a:solidFill>
                <a:latin typeface="Arial"/>
              </a:rPr>
              <a:t>Architecture</a:t>
            </a:r>
          </a:p>
        </p:txBody>
      </p:sp>
      <p:sp>
        <p:nvSpPr>
          <p:cNvPr id="16" name="Rectangle 15"/>
          <p:cNvSpPr/>
          <p:nvPr/>
        </p:nvSpPr>
        <p:spPr>
          <a:xfrm>
            <a:off x="1371600" y="493776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120640"/>
            <a:ext cx="3200400" cy="457200"/>
          </a:xfrm>
          <a:prstGeom prst="rect">
            <a:avLst/>
          </a:prstGeom>
          <a:noFill/>
        </p:spPr>
        <p:txBody>
          <a:bodyPr wrap="square" anchor="t">
            <a:spAutoFit/>
          </a:bodyPr>
          <a:lstStyle/>
          <a:p>
            <a:pPr algn="ctr"/>
            <a:r>
              <a:rPr sz="2400" b="1" i="0">
                <a:solidFill>
                  <a:srgbClr val="000F2D"/>
                </a:solidFill>
                <a:latin typeface="Arial"/>
              </a:rPr>
              <a:t>OPTIMIZED</a:t>
            </a:r>
          </a:p>
        </p:txBody>
      </p:sp>
      <p:sp>
        <p:nvSpPr>
          <p:cNvPr id="18" name="TextBox 17"/>
          <p:cNvSpPr txBox="1"/>
          <p:nvPr/>
        </p:nvSpPr>
        <p:spPr>
          <a:xfrm>
            <a:off x="457200" y="5577840"/>
            <a:ext cx="3200400" cy="274320"/>
          </a:xfrm>
          <a:prstGeom prst="rect">
            <a:avLst/>
          </a:prstGeom>
          <a:noFill/>
        </p:spPr>
        <p:txBody>
          <a:bodyPr wrap="square" anchor="t">
            <a:spAutoFit/>
          </a:bodyPr>
          <a:lstStyle/>
          <a:p>
            <a:pPr algn="ctr"/>
            <a:r>
              <a:rPr sz="1200" b="0" i="0">
                <a:solidFill>
                  <a:srgbClr val="696969"/>
                </a:solidFill>
                <a:latin typeface="Arial"/>
              </a:rPr>
              <a:t>Commercials</a:t>
            </a:r>
          </a:p>
        </p:txBody>
      </p:sp>
      <p:sp>
        <p:nvSpPr>
          <p:cNvPr id="19" name="Rectangle 18"/>
          <p:cNvSpPr/>
          <p:nvPr/>
        </p:nvSpPr>
        <p:spPr>
          <a:xfrm>
            <a:off x="3931920" y="1463040"/>
            <a:ext cx="777240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31920" y="1463040"/>
            <a:ext cx="7772400" cy="9144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1828800"/>
            <a:ext cx="6858000" cy="457200"/>
          </a:xfrm>
          <a:prstGeom prst="rect">
            <a:avLst/>
          </a:prstGeom>
          <a:noFill/>
        </p:spPr>
        <p:txBody>
          <a:bodyPr wrap="square" anchor="t">
            <a:spAutoFit/>
          </a:bodyPr>
          <a:lstStyle/>
          <a:p>
            <a:pPr algn="l"/>
            <a:r>
              <a:rPr sz="1600" b="1" i="0">
                <a:solidFill>
                  <a:srgbClr val="000F2D"/>
                </a:solidFill>
                <a:latin typeface="Arial"/>
              </a:rPr>
              <a:t>KEY PROPOSAL INSIGHTS</a:t>
            </a:r>
          </a:p>
        </p:txBody>
      </p:sp>
      <p:sp>
        <p:nvSpPr>
          <p:cNvPr id="22" name="Rectangle 21"/>
          <p:cNvSpPr/>
          <p:nvPr/>
        </p:nvSpPr>
        <p:spPr>
          <a:xfrm>
            <a:off x="4389120" y="265176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2560320"/>
            <a:ext cx="6583680" cy="731520"/>
          </a:xfrm>
          <a:prstGeom prst="rect">
            <a:avLst/>
          </a:prstGeom>
          <a:noFill/>
        </p:spPr>
        <p:txBody>
          <a:bodyPr wrap="square" anchor="t">
            <a:spAutoFit/>
          </a:bodyPr>
          <a:lstStyle/>
          <a:p>
            <a:pPr algn="l"/>
            <a:r>
              <a:rPr sz="1400" b="0" i="0">
                <a:solidFill>
                  <a:srgbClr val="000F2D"/>
                </a:solidFill>
                <a:latin typeface="Arial"/>
              </a:rPr>
              <a:t>Tech Mahindra – Solution Proposal for HDFC Bank</a:t>
            </a:r>
          </a:p>
        </p:txBody>
      </p:sp>
      <p:sp>
        <p:nvSpPr>
          <p:cNvPr id="24" name="Rectangle 23"/>
          <p:cNvSpPr/>
          <p:nvPr/>
        </p:nvSpPr>
        <p:spPr>
          <a:xfrm>
            <a:off x="4389120" y="347472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3383279"/>
            <a:ext cx="6583680" cy="731520"/>
          </a:xfrm>
          <a:prstGeom prst="rect">
            <a:avLst/>
          </a:prstGeom>
          <a:noFill/>
        </p:spPr>
        <p:txBody>
          <a:bodyPr wrap="square" anchor="t">
            <a:spAutoFit/>
          </a:bodyPr>
          <a:lstStyle/>
          <a:p>
            <a:pPr algn="l"/>
            <a:r>
              <a:rPr sz="1400" b="0" i="0">
                <a:solidFill>
                  <a:srgbClr val="000F2D"/>
                </a:solidFill>
                <a:latin typeface="Arial"/>
              </a:rPr>
              <a:t>Executive Summary</a:t>
            </a:r>
          </a:p>
        </p:txBody>
      </p:sp>
      <p:sp>
        <p:nvSpPr>
          <p:cNvPr id="26" name="Rectangle 25"/>
          <p:cNvSpPr/>
          <p:nvPr/>
        </p:nvSpPr>
        <p:spPr>
          <a:xfrm>
            <a:off x="4389120" y="4297679"/>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206240"/>
            <a:ext cx="6583680" cy="731520"/>
          </a:xfrm>
          <a:prstGeom prst="rect">
            <a:avLst/>
          </a:prstGeom>
          <a:noFill/>
        </p:spPr>
        <p:txBody>
          <a:bodyPr wrap="square" anchor="t">
            <a:spAutoFit/>
          </a:bodyPr>
          <a:lstStyle/>
          <a:p>
            <a:pPr algn="l"/>
            <a:r>
              <a:rPr sz="1400" b="0" i="0">
                <a:solidFill>
                  <a:srgbClr val="000F2D"/>
                </a:solidFill>
                <a:latin typeface="Arial"/>
              </a:rPr>
              <a:t>HDFC Bank, India's largest private sector bank, seeks to modernize its core banking system to ensure scalability, high availability, and regulatory compliance. Our proposal outline</a:t>
            </a:r>
          </a:p>
        </p:txBody>
      </p:sp>
      <p:sp>
        <p:nvSpPr>
          <p:cNvPr id="28" name="Rectangle 27"/>
          <p:cNvSpPr/>
          <p:nvPr/>
        </p:nvSpPr>
        <p:spPr>
          <a:xfrm>
            <a:off x="4389120" y="512064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3440" y="5029200"/>
            <a:ext cx="6583680" cy="731520"/>
          </a:xfrm>
          <a:prstGeom prst="rect">
            <a:avLst/>
          </a:prstGeom>
          <a:noFill/>
        </p:spPr>
        <p:txBody>
          <a:bodyPr wrap="square" anchor="t">
            <a:spAutoFit/>
          </a:bodyPr>
          <a:lstStyle/>
          <a:p>
            <a:pPr algn="l"/>
            <a:r>
              <a:rPr sz="1400" b="0" i="0">
                <a:solidFill>
                  <a:srgbClr val="000F2D"/>
                </a:solidFill>
                <a:latin typeface="Arial"/>
              </a:rPr>
              <a:t>Our proposed solution is designed to address HDFC Bank's key requirements, including evaluating cloud-native core banking platforms, establishing a long-term strategic technology p</a:t>
            </a:r>
          </a:p>
        </p:txBody>
      </p:sp>
      <p:sp>
        <p:nvSpPr>
          <p:cNvPr id="30" name="TextBox 29"/>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31" name="TextBox 30"/>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a:t>
            </a:r>
          </a:p>
        </p:txBody>
      </p:sp>
      <p:sp>
        <p:nvSpPr>
          <p:cNvPr id="32" name="Rectangle 31"/>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01</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TECH MAHINDRA – SOLUTION PROPOSAL FOR HDFC BANK</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02</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1. EXECUTIVE SUMMARY</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1. EXECUTIVE SUMMARY</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HDFC Bank, India's largest private sector bank, seeks to modernize its core banking system to ensure scalability, high availability, and regulatory compliance. Our proposal outlines a comprehensive solution leveraging cloud-native core banking platfo</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Our proposed solution is designed to address HDFC Bank's key requirements, including evaluating cloud-native core banking platforms, establishing a long-term strategic technology partnership, and ensuring RBI regulatory compliance post-upgrade. Our t</a:t>
            </a:r>
          </a:p>
        </p:txBody>
      </p:sp>
      <p:sp>
        <p:nvSpPr>
          <p:cNvPr id="9" name="TextBox 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0" name="TextBox 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5</a:t>
            </a:r>
          </a:p>
        </p:txBody>
      </p:sp>
      <p:sp>
        <p:nvSpPr>
          <p:cNvPr id="11" name="Rectangle 1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03</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2. UNDERSTANDING YOUR CHALLENGE</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2. UNDERSTANDING YOUR CHALLENGE</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HDFC Bank faces significant challenges in its current core banking system, including scalability issues, high maintenance costs, and regulatory compliance risks. The bank's rapid growth and increasing customer base have put a strain on its existing s</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Our proposed solution addresses these challenges by leveraging cloud-native core banking platforms, strategic technology partnerships, and digital transformation. By modernizing its core banking system, HDFC Bank can expect improved scalability, redu</a:t>
            </a:r>
          </a:p>
        </p:txBody>
      </p:sp>
      <p:sp>
        <p:nvSpPr>
          <p:cNvPr id="9" name="TextBox 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0" name="TextBox 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7</a:t>
            </a:r>
          </a:p>
        </p:txBody>
      </p:sp>
      <p:sp>
        <p:nvSpPr>
          <p:cNvPr id="11" name="Rectangle 1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04</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3. OUR PROPOSED SOLUTION</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3. OUR PROPOSED SOLUTION</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proposed solution is designed to meet HDFC Bank's key requirements, including evaluating cloud-native core banking platforms, establishing a long-term strategic technology partnership, and ensurin</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Cloud-native core banking platform evaluation and selection</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Strategic technology partnership establishment</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RBI regulatory compliance post-upgrade</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Digital transformation to improve digital channel gaps</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Scalability to support 10M+ daily transactions during peak loads</a:t>
            </a:r>
          </a:p>
        </p:txBody>
      </p:sp>
      <p:sp>
        <p:nvSpPr>
          <p:cNvPr id="17" name="Rectangle 16"/>
          <p:cNvSpPr/>
          <p:nvPr/>
        </p:nvSpPr>
        <p:spPr>
          <a:xfrm>
            <a:off x="640080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560320"/>
            <a:ext cx="5029200" cy="822960"/>
          </a:xfrm>
          <a:prstGeom prst="rect">
            <a:avLst/>
          </a:prstGeom>
          <a:noFill/>
        </p:spPr>
        <p:txBody>
          <a:bodyPr wrap="square" anchor="t">
            <a:spAutoFit/>
          </a:bodyPr>
          <a:lstStyle/>
          <a:p>
            <a:pPr algn="l"/>
            <a:r>
              <a:rPr sz="1400" b="0" i="0">
                <a:solidFill>
                  <a:srgbClr val="000F2D"/>
                </a:solidFill>
                <a:latin typeface="Arial"/>
              </a:rPr>
              <a:t>99.999% system uptime SLA</a:t>
            </a:r>
          </a:p>
        </p:txBody>
      </p:sp>
      <p:sp>
        <p:nvSpPr>
          <p:cNvPr id="19" name="Rectangle 18"/>
          <p:cNvSpPr/>
          <p:nvPr/>
        </p:nvSpPr>
        <p:spPr>
          <a:xfrm>
            <a:off x="640080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474720"/>
            <a:ext cx="5029200" cy="822960"/>
          </a:xfrm>
          <a:prstGeom prst="rect">
            <a:avLst/>
          </a:prstGeom>
          <a:noFill/>
        </p:spPr>
        <p:txBody>
          <a:bodyPr wrap="square" anchor="t">
            <a:spAutoFit/>
          </a:bodyPr>
          <a:lstStyle/>
          <a:p>
            <a:pPr algn="l"/>
            <a:r>
              <a:rPr sz="1400" b="0" i="0">
                <a:solidFill>
                  <a:srgbClr val="000F2D"/>
                </a:solidFill>
                <a:latin typeface="Arial"/>
              </a:rPr>
              <a:t>Our team will work closely with HDFC Bank to understand their specific needs and develop a tailored solution that meets their requirements.</a:t>
            </a:r>
          </a:p>
        </p:txBody>
      </p:sp>
      <p:sp>
        <p:nvSpPr>
          <p:cNvPr id="21" name="TextBox 20"/>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22" name="TextBox 21"/>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9</a:t>
            </a:r>
          </a:p>
        </p:txBody>
      </p:sp>
      <p:sp>
        <p:nvSpPr>
          <p:cNvPr id="23" name="Rectangle 22"/>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05</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4. SOLUTION ARCHITECTURE</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ARCHITECTURE BLUEPRINT</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Target Operating Model &amp; Architecture Blueprint</a:t>
            </a:r>
          </a:p>
        </p:txBody>
      </p:sp>
      <p:sp>
        <p:nvSpPr>
          <p:cNvPr id="6" name="Rectangle 5"/>
          <p:cNvSpPr/>
          <p:nvPr/>
        </p:nvSpPr>
        <p:spPr>
          <a:xfrm>
            <a:off x="1371600" y="1371600"/>
            <a:ext cx="9418320" cy="4846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657600"/>
            <a:ext cx="9418320" cy="914400"/>
          </a:xfrm>
          <a:prstGeom prst="rect">
            <a:avLst/>
          </a:prstGeom>
          <a:noFill/>
        </p:spPr>
        <p:txBody>
          <a:bodyPr wrap="square" anchor="t">
            <a:spAutoFit/>
          </a:bodyPr>
          <a:lstStyle/>
          <a:p>
            <a:pPr algn="ctr"/>
            <a:r>
              <a:rPr sz="1800" b="1" i="0">
                <a:solidFill>
                  <a:srgbClr val="696969"/>
                </a:solidFill>
                <a:latin typeface="Arial"/>
              </a:rPr>
              <a:t>ARCHITECTURE SCHEMATIC UNAVAILABLE</a:t>
            </a:r>
          </a:p>
        </p:txBody>
      </p:sp>
      <p:sp>
        <p:nvSpPr>
          <p:cNvPr id="8" name="TextBox 7"/>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9" name="TextBox 8"/>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11</a:t>
            </a:r>
          </a:p>
        </p:txBody>
      </p:sp>
      <p:sp>
        <p:nvSpPr>
          <p:cNvPr id="10" name="Rectangle 9"/>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06</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5. TEAM STRUCTURE &amp; OPERATING MODEL</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5. TEAM STRUCTURE &amp; OPERATING MODEL</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team will consist of the following members:</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Solution Architect (2): Onshore</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Technical Lead (1): Nearshore</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Cloud Engineer (4): Offshore</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QA Engineer (2): Offshore</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DevOps Engineer (1): Nearshore</a:t>
            </a:r>
          </a:p>
        </p:txBody>
      </p:sp>
      <p:sp>
        <p:nvSpPr>
          <p:cNvPr id="17" name="Rectangle 16"/>
          <p:cNvSpPr/>
          <p:nvPr/>
        </p:nvSpPr>
        <p:spPr>
          <a:xfrm>
            <a:off x="640080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560320"/>
            <a:ext cx="5029200" cy="822960"/>
          </a:xfrm>
          <a:prstGeom prst="rect">
            <a:avLst/>
          </a:prstGeom>
          <a:noFill/>
        </p:spPr>
        <p:txBody>
          <a:bodyPr wrap="square" anchor="t">
            <a:spAutoFit/>
          </a:bodyPr>
          <a:lstStyle/>
          <a:p>
            <a:pPr algn="l"/>
            <a:r>
              <a:rPr sz="1400" b="0" i="0">
                <a:solidFill>
                  <a:srgbClr val="000F2D"/>
                </a:solidFill>
                <a:latin typeface="Arial"/>
              </a:rPr>
              <a:t>Business Analyst (1): Onshore</a:t>
            </a:r>
          </a:p>
        </p:txBody>
      </p:sp>
      <p:sp>
        <p:nvSpPr>
          <p:cNvPr id="19" name="Rectangle 18"/>
          <p:cNvSpPr/>
          <p:nvPr/>
        </p:nvSpPr>
        <p:spPr>
          <a:xfrm>
            <a:off x="640080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474720"/>
            <a:ext cx="5029200" cy="822960"/>
          </a:xfrm>
          <a:prstGeom prst="rect">
            <a:avLst/>
          </a:prstGeom>
          <a:noFill/>
        </p:spPr>
        <p:txBody>
          <a:bodyPr wrap="square" anchor="t">
            <a:spAutoFit/>
          </a:bodyPr>
          <a:lstStyle/>
          <a:p>
            <a:pPr algn="l"/>
            <a:r>
              <a:rPr sz="1400" b="0" i="0">
                <a:solidFill>
                  <a:srgbClr val="000F2D"/>
                </a:solidFill>
                <a:latin typeface="Arial"/>
              </a:rPr>
              <a:t>Project Manager (1): Onshore</a:t>
            </a:r>
          </a:p>
        </p:txBody>
      </p:sp>
      <p:sp>
        <p:nvSpPr>
          <p:cNvPr id="21" name="Rectangle 20"/>
          <p:cNvSpPr/>
          <p:nvPr/>
        </p:nvSpPr>
        <p:spPr>
          <a:xfrm>
            <a:off x="640080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389120"/>
            <a:ext cx="5029200" cy="822960"/>
          </a:xfrm>
          <a:prstGeom prst="rect">
            <a:avLst/>
          </a:prstGeom>
          <a:noFill/>
        </p:spPr>
        <p:txBody>
          <a:bodyPr wrap="square" anchor="t">
            <a:spAutoFit/>
          </a:bodyPr>
          <a:lstStyle/>
          <a:p>
            <a:pPr algn="l"/>
            <a:r>
              <a:rPr sz="1400" b="0" i="0">
                <a:solidFill>
                  <a:srgbClr val="000F2D"/>
                </a:solidFill>
                <a:latin typeface="Arial"/>
              </a:rPr>
              <a:t>AI/ML Engineer (1): Offshore</a:t>
            </a:r>
          </a:p>
        </p:txBody>
      </p:sp>
      <p:sp>
        <p:nvSpPr>
          <p:cNvPr id="23" name="Rectangle 22"/>
          <p:cNvSpPr/>
          <p:nvPr/>
        </p:nvSpPr>
        <p:spPr>
          <a:xfrm>
            <a:off x="640080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5303520"/>
            <a:ext cx="5029200" cy="822960"/>
          </a:xfrm>
          <a:prstGeom prst="rect">
            <a:avLst/>
          </a:prstGeom>
          <a:noFill/>
        </p:spPr>
        <p:txBody>
          <a:bodyPr wrap="square" anchor="t">
            <a:spAutoFit/>
          </a:bodyPr>
          <a:lstStyle/>
          <a:p>
            <a:pPr algn="l"/>
            <a:r>
              <a:rPr sz="1400" b="0" i="0">
                <a:solidFill>
                  <a:srgbClr val="000F2D"/>
                </a:solidFill>
                <a:latin typeface="Arial"/>
              </a:rPr>
              <a:t>API Developer (1): Nearshore</a:t>
            </a:r>
          </a:p>
        </p:txBody>
      </p:sp>
      <p:sp>
        <p:nvSpPr>
          <p:cNvPr id="25" name="TextBox 24"/>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26" name="TextBox 25"/>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13</a:t>
            </a:r>
          </a:p>
        </p:txBody>
      </p:sp>
      <p:sp>
        <p:nvSpPr>
          <p:cNvPr id="27" name="Rectangle 26"/>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5. TEAM STRUCTURE &amp; OPERATING MODEL</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Our team will operate under a hybrid model, with onshore and nearshore teams working closely together to ensure seamless communication and collaboration.</a:t>
            </a:r>
          </a:p>
        </p:txBody>
      </p:sp>
      <p:sp>
        <p:nvSpPr>
          <p:cNvPr id="7" name="TextBox 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8" name="TextBox 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14</a:t>
            </a:r>
          </a:p>
        </p:txBody>
      </p:sp>
      <p:sp>
        <p:nvSpPr>
          <p:cNvPr id="9" name="Rectangle 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07</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6. DELIVERY ROADMAP</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6. DELIVERY ROADMAP</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delivery roadmap will consist of the following phases:</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Phase 1: Cloud-Native Core Banking Platform Evaluation and Selection (Duration: 6 weeks)</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Evaluate cloud-native core banking platforms</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Select the most suitable platform for HDFC Bank's needs</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Phase 2: Strategic Technology Partnership Establishment (Duration: 8 weeks)</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Establish a long-term strategic technology partnership with the selected platform provider</a:t>
            </a:r>
          </a:p>
        </p:txBody>
      </p:sp>
      <p:sp>
        <p:nvSpPr>
          <p:cNvPr id="17" name="Rectangle 16"/>
          <p:cNvSpPr/>
          <p:nvPr/>
        </p:nvSpPr>
        <p:spPr>
          <a:xfrm>
            <a:off x="640080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560320"/>
            <a:ext cx="5029200" cy="822960"/>
          </a:xfrm>
          <a:prstGeom prst="rect">
            <a:avLst/>
          </a:prstGeom>
          <a:noFill/>
        </p:spPr>
        <p:txBody>
          <a:bodyPr wrap="square" anchor="t">
            <a:spAutoFit/>
          </a:bodyPr>
          <a:lstStyle/>
          <a:p>
            <a:pPr algn="l"/>
            <a:r>
              <a:rPr sz="1400" b="0" i="0">
                <a:solidFill>
                  <a:srgbClr val="000F2D"/>
                </a:solidFill>
                <a:latin typeface="Arial"/>
              </a:rPr>
              <a:t>Ensure RBI regulatory compliance post-upgrade</a:t>
            </a:r>
          </a:p>
        </p:txBody>
      </p:sp>
      <p:sp>
        <p:nvSpPr>
          <p:cNvPr id="19" name="Rectangle 18"/>
          <p:cNvSpPr/>
          <p:nvPr/>
        </p:nvSpPr>
        <p:spPr>
          <a:xfrm>
            <a:off x="640080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474720"/>
            <a:ext cx="5029200" cy="822960"/>
          </a:xfrm>
          <a:prstGeom prst="rect">
            <a:avLst/>
          </a:prstGeom>
          <a:noFill/>
        </p:spPr>
        <p:txBody>
          <a:bodyPr wrap="square" anchor="t">
            <a:spAutoFit/>
          </a:bodyPr>
          <a:lstStyle/>
          <a:p>
            <a:pPr algn="l"/>
            <a:r>
              <a:rPr sz="1400" b="0" i="0">
                <a:solidFill>
                  <a:srgbClr val="000F2D"/>
                </a:solidFill>
                <a:latin typeface="Arial"/>
              </a:rPr>
              <a:t>Phase 3: Digital Transformation (Duration: 12 weeks)</a:t>
            </a:r>
          </a:p>
        </p:txBody>
      </p:sp>
      <p:sp>
        <p:nvSpPr>
          <p:cNvPr id="21" name="Rectangle 20"/>
          <p:cNvSpPr/>
          <p:nvPr/>
        </p:nvSpPr>
        <p:spPr>
          <a:xfrm>
            <a:off x="640080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389120"/>
            <a:ext cx="5029200" cy="822960"/>
          </a:xfrm>
          <a:prstGeom prst="rect">
            <a:avLst/>
          </a:prstGeom>
          <a:noFill/>
        </p:spPr>
        <p:txBody>
          <a:bodyPr wrap="square" anchor="t">
            <a:spAutoFit/>
          </a:bodyPr>
          <a:lstStyle/>
          <a:p>
            <a:pPr algn="l"/>
            <a:r>
              <a:rPr sz="1400" b="0" i="0">
                <a:solidFill>
                  <a:srgbClr val="000F2D"/>
                </a:solidFill>
                <a:latin typeface="Arial"/>
              </a:rPr>
              <a:t>Implement digital transformation to improve digital channel gaps</a:t>
            </a:r>
          </a:p>
        </p:txBody>
      </p:sp>
      <p:sp>
        <p:nvSpPr>
          <p:cNvPr id="23" name="Rectangle 22"/>
          <p:cNvSpPr/>
          <p:nvPr/>
        </p:nvSpPr>
        <p:spPr>
          <a:xfrm>
            <a:off x="640080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5303520"/>
            <a:ext cx="5029200" cy="822960"/>
          </a:xfrm>
          <a:prstGeom prst="rect">
            <a:avLst/>
          </a:prstGeom>
          <a:noFill/>
        </p:spPr>
        <p:txBody>
          <a:bodyPr wrap="square" anchor="t">
            <a:spAutoFit/>
          </a:bodyPr>
          <a:lstStyle/>
          <a:p>
            <a:pPr algn="l"/>
            <a:r>
              <a:rPr sz="1400" b="0" i="0">
                <a:solidFill>
                  <a:srgbClr val="000F2D"/>
                </a:solidFill>
                <a:latin typeface="Arial"/>
              </a:rPr>
              <a:t>Ensure scalability to support 10M+ daily transactions during peak loads</a:t>
            </a:r>
          </a:p>
        </p:txBody>
      </p:sp>
      <p:sp>
        <p:nvSpPr>
          <p:cNvPr id="25" name="TextBox 24"/>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26" name="TextBox 25"/>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16</a:t>
            </a:r>
          </a:p>
        </p:txBody>
      </p:sp>
      <p:sp>
        <p:nvSpPr>
          <p:cNvPr id="27" name="Rectangle 26"/>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6. DELIVERY ROADMAP</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Phase 4: Implementation and Testing (Duration: 16 weeks)</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Implement the selected cloud-native core banking platform</a:t>
            </a:r>
          </a:p>
        </p:txBody>
      </p:sp>
      <p:sp>
        <p:nvSpPr>
          <p:cNvPr id="9" name="Rectangle 8"/>
          <p:cNvSpPr/>
          <p:nvPr/>
        </p:nvSpPr>
        <p:spPr>
          <a:xfrm>
            <a:off x="731520" y="321868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108960"/>
            <a:ext cx="10058400" cy="640080"/>
          </a:xfrm>
          <a:prstGeom prst="rect">
            <a:avLst/>
          </a:prstGeom>
          <a:noFill/>
        </p:spPr>
        <p:txBody>
          <a:bodyPr wrap="square" anchor="t">
            <a:spAutoFit/>
          </a:bodyPr>
          <a:lstStyle/>
          <a:p>
            <a:pPr algn="l"/>
            <a:r>
              <a:rPr sz="1600" b="0" i="0">
                <a:solidFill>
                  <a:srgbClr val="000F2D"/>
                </a:solidFill>
                <a:latin typeface="Arial"/>
              </a:rPr>
              <a:t>Conduct thorough testing to ensure 99.999% system uptime SLA</a:t>
            </a:r>
          </a:p>
        </p:txBody>
      </p:sp>
      <p:sp>
        <p:nvSpPr>
          <p:cNvPr id="11" name="TextBox 10"/>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2" name="TextBox 11"/>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17</a:t>
            </a:r>
          </a:p>
        </p:txBody>
      </p:sp>
      <p:sp>
        <p:nvSpPr>
          <p:cNvPr id="13" name="Rectangle 12"/>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08</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7. COMMERCIAL SUMMARY</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7. COMMERCIAL SUMMARY</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Commercial &amp; Operational Metrics</a:t>
            </a:r>
          </a:p>
        </p:txBody>
      </p:sp>
      <p:graphicFrame>
        <p:nvGraphicFramePr>
          <p:cNvPr id="6" name="Table 5"/>
          <p:cNvGraphicFramePr>
            <a:graphicFrameLocks noGrp="1"/>
          </p:cNvGraphicFramePr>
          <p:nvPr/>
        </p:nvGraphicFramePr>
        <p:xfrm>
          <a:off x="457200" y="1645920"/>
          <a:ext cx="11247120" cy="411480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411480">
                <a:tc>
                  <a:txBody>
                    <a:bodyPr/>
                    <a:lstStyle/>
                    <a:p>
                      <a:pPr algn="l"/>
                      <a:r>
                        <a:rPr sz="1000" b="1">
                          <a:solidFill>
                            <a:srgbClr val="FFFFFF"/>
                          </a:solidFill>
                          <a:latin typeface="Arial"/>
                        </a:rPr>
                        <a:t>Role</a:t>
                      </a:r>
                    </a:p>
                  </a:txBody>
                  <a:tcPr>
                    <a:solidFill>
                      <a:srgbClr val="000F2D"/>
                    </a:solidFill>
                  </a:tcPr>
                </a:tc>
                <a:tc>
                  <a:txBody>
                    <a:bodyPr/>
                    <a:lstStyle/>
                    <a:p>
                      <a:pPr algn="l"/>
                      <a:r>
                        <a:rPr sz="1000" b="1">
                          <a:solidFill>
                            <a:srgbClr val="FFFFFF"/>
                          </a:solidFill>
                          <a:latin typeface="Arial"/>
                        </a:rPr>
                        <a:t>Count</a:t>
                      </a:r>
                    </a:p>
                  </a:txBody>
                  <a:tcPr>
                    <a:solidFill>
                      <a:srgbClr val="000F2D"/>
                    </a:solidFill>
                  </a:tcPr>
                </a:tc>
                <a:tc>
                  <a:txBody>
                    <a:bodyPr/>
                    <a:lstStyle/>
                    <a:p>
                      <a:pPr algn="l"/>
                      <a:r>
                        <a:rPr sz="1000" b="1">
                          <a:solidFill>
                            <a:srgbClr val="FFFFFF"/>
                          </a:solidFill>
                          <a:latin typeface="Arial"/>
                        </a:rPr>
                        <a:t>Location</a:t>
                      </a:r>
                    </a:p>
                  </a:txBody>
                  <a:tcPr>
                    <a:solidFill>
                      <a:srgbClr val="000F2D"/>
                    </a:solidFill>
                  </a:tcPr>
                </a:tc>
                <a:tc>
                  <a:txBody>
                    <a:bodyPr/>
                    <a:lstStyle/>
                    <a:p>
                      <a:pPr algn="l"/>
                      <a:r>
                        <a:rPr sz="1000" b="1">
                          <a:solidFill>
                            <a:srgbClr val="FFFFFF"/>
                          </a:solidFill>
                          <a:latin typeface="Arial"/>
                        </a:rPr>
                        <a:t>Hrs/Month</a:t>
                      </a:r>
                    </a:p>
                  </a:txBody>
                  <a:tcPr>
                    <a:solidFill>
                      <a:srgbClr val="000F2D"/>
                    </a:solidFill>
                  </a:tcPr>
                </a:tc>
                <a:tc>
                  <a:txBody>
                    <a:bodyPr/>
                    <a:lstStyle/>
                    <a:p>
                      <a:pPr algn="l"/>
                      <a:r>
                        <a:rPr sz="1000" b="1">
                          <a:solidFill>
                            <a:srgbClr val="FFFFFF"/>
                          </a:solidFill>
                          <a:latin typeface="Arial"/>
                        </a:rPr>
                        <a:t>Rate/hr</a:t>
                      </a:r>
                    </a:p>
                  </a:txBody>
                  <a:tcPr>
                    <a:solidFill>
                      <a:srgbClr val="000F2D"/>
                    </a:solidFill>
                  </a:tcPr>
                </a:tc>
                <a:tc>
                  <a:txBody>
                    <a:bodyPr/>
                    <a:lstStyle/>
                    <a:p>
                      <a:pPr algn="l"/>
                      <a:r>
                        <a:rPr sz="1000" b="1">
                          <a:solidFill>
                            <a:srgbClr val="FFFFFF"/>
                          </a:solidFill>
                          <a:latin typeface="Arial"/>
                        </a:rPr>
                        <a:t>Monthly Cost</a:t>
                      </a:r>
                    </a:p>
                  </a:txBody>
                  <a:tcPr>
                    <a:solidFill>
                      <a:srgbClr val="000F2D"/>
                    </a:solidFill>
                  </a:tcPr>
                </a:tc>
              </a:tr>
              <a:tr h="411480">
                <a:tc>
                  <a:txBody>
                    <a:bodyPr/>
                    <a:lstStyle/>
                    <a:p>
                      <a:pPr algn="l"/>
                      <a:r>
                        <a:rPr sz="1000">
                          <a:solidFill>
                            <a:srgbClr val="000F2D"/>
                          </a:solidFill>
                          <a:latin typeface="Arial"/>
                        </a:rPr>
                        <a:t>Solution Architect</a:t>
                      </a:r>
                    </a:p>
                  </a:txBody>
                  <a:tcPr>
                    <a:solidFill>
                      <a:srgbClr val="FFFFFF"/>
                    </a:solidFill>
                  </a:tcPr>
                </a:tc>
                <a:tc>
                  <a:txBody>
                    <a:bodyPr/>
                    <a:lstStyle/>
                    <a:p>
                      <a:pPr algn="l"/>
                      <a:r>
                        <a:rPr sz="1000">
                          <a:solidFill>
                            <a:srgbClr val="000F2D"/>
                          </a:solidFill>
                          <a:latin typeface="Arial"/>
                        </a:rPr>
                        <a:t>2</a:t>
                      </a:r>
                    </a:p>
                  </a:txBody>
                  <a:tcPr>
                    <a:solidFill>
                      <a:srgbClr val="FFFFFF"/>
                    </a:solidFill>
                  </a:tcPr>
                </a:tc>
                <a:tc>
                  <a:txBody>
                    <a:bodyPr/>
                    <a:lstStyle/>
                    <a:p>
                      <a:pPr algn="l"/>
                      <a:r>
                        <a:rPr sz="1000">
                          <a:solidFill>
                            <a:srgbClr val="000F2D"/>
                          </a:solidFill>
                          <a:latin typeface="Arial"/>
                        </a:rPr>
                        <a:t>Onshore</a:t>
                      </a:r>
                    </a:p>
                  </a:txBody>
                  <a:tcPr>
                    <a:solidFill>
                      <a:srgbClr val="FFFFFF"/>
                    </a:solidFill>
                  </a:tcPr>
                </a:tc>
                <a:tc>
                  <a:txBody>
                    <a:bodyPr/>
                    <a:lstStyle/>
                    <a:p>
                      <a:pPr algn="l"/>
                      <a:r>
                        <a:rPr sz="1000">
                          <a:solidFill>
                            <a:srgbClr val="000F2D"/>
                          </a:solidFill>
                          <a:latin typeface="Arial"/>
                        </a:rPr>
                        <a:t>160</a:t>
                      </a:r>
                    </a:p>
                  </a:txBody>
                  <a:tcPr>
                    <a:solidFill>
                      <a:srgbClr val="FFFFFF"/>
                    </a:solidFill>
                  </a:tcPr>
                </a:tc>
                <a:tc>
                  <a:txBody>
                    <a:bodyPr/>
                    <a:lstStyle/>
                    <a:p>
                      <a:pPr algn="l"/>
                      <a:r>
                        <a:rPr sz="1000">
                          <a:solidFill>
                            <a:srgbClr val="000F2D"/>
                          </a:solidFill>
                          <a:latin typeface="Arial"/>
                        </a:rPr>
                        <a:t>$100</a:t>
                      </a:r>
                    </a:p>
                  </a:txBody>
                  <a:tcPr>
                    <a:solidFill>
                      <a:srgbClr val="FFFFFF"/>
                    </a:solidFill>
                  </a:tcPr>
                </a:tc>
                <a:tc>
                  <a:txBody>
                    <a:bodyPr/>
                    <a:lstStyle/>
                    <a:p>
                      <a:pPr algn="l"/>
                      <a:r>
                        <a:rPr sz="1000">
                          <a:solidFill>
                            <a:srgbClr val="000F2D"/>
                          </a:solidFill>
                          <a:latin typeface="Arial"/>
                        </a:rPr>
                        <a:t>$16,000</a:t>
                      </a:r>
                    </a:p>
                  </a:txBody>
                  <a:tcPr>
                    <a:solidFill>
                      <a:srgbClr val="FFFFFF"/>
                    </a:solidFill>
                  </a:tcPr>
                </a:tc>
              </a:tr>
              <a:tr h="411480">
                <a:tc>
                  <a:txBody>
                    <a:bodyPr/>
                    <a:lstStyle/>
                    <a:p>
                      <a:pPr algn="l"/>
                      <a:r>
                        <a:rPr sz="1000">
                          <a:solidFill>
                            <a:srgbClr val="000F2D"/>
                          </a:solidFill>
                          <a:latin typeface="Arial"/>
                        </a:rPr>
                        <a:t>Technical Lead</a:t>
                      </a:r>
                    </a:p>
                  </a:txBody>
                  <a:tcPr>
                    <a:solidFill>
                      <a:srgbClr val="F0F2F5"/>
                    </a:solidFill>
                  </a:tcPr>
                </a:tc>
                <a:tc>
                  <a:txBody>
                    <a:bodyPr/>
                    <a:lstStyle/>
                    <a:p>
                      <a:pPr algn="l"/>
                      <a:r>
                        <a:rPr sz="1000">
                          <a:solidFill>
                            <a:srgbClr val="000F2D"/>
                          </a:solidFill>
                          <a:latin typeface="Arial"/>
                        </a:rPr>
                        <a:t>1</a:t>
                      </a:r>
                    </a:p>
                  </a:txBody>
                  <a:tcPr>
                    <a:solidFill>
                      <a:srgbClr val="F0F2F5"/>
                    </a:solidFill>
                  </a:tcPr>
                </a:tc>
                <a:tc>
                  <a:txBody>
                    <a:bodyPr/>
                    <a:lstStyle/>
                    <a:p>
                      <a:pPr algn="l"/>
                      <a:r>
                        <a:rPr sz="1000">
                          <a:solidFill>
                            <a:srgbClr val="000F2D"/>
                          </a:solidFill>
                          <a:latin typeface="Arial"/>
                        </a:rPr>
                        <a:t>Nearshore</a:t>
                      </a:r>
                    </a:p>
                  </a:txBody>
                  <a:tcPr>
                    <a:solidFill>
                      <a:srgbClr val="F0F2F5"/>
                    </a:solidFill>
                  </a:tcPr>
                </a:tc>
                <a:tc>
                  <a:txBody>
                    <a:bodyPr/>
                    <a:lstStyle/>
                    <a:p>
                      <a:pPr algn="l"/>
                      <a:r>
                        <a:rPr sz="1000">
                          <a:solidFill>
                            <a:srgbClr val="000F2D"/>
                          </a:solidFill>
                          <a:latin typeface="Arial"/>
                        </a:rPr>
                        <a:t>120</a:t>
                      </a:r>
                    </a:p>
                  </a:txBody>
                  <a:tcPr>
                    <a:solidFill>
                      <a:srgbClr val="F0F2F5"/>
                    </a:solidFill>
                  </a:tcPr>
                </a:tc>
                <a:tc>
                  <a:txBody>
                    <a:bodyPr/>
                    <a:lstStyle/>
                    <a:p>
                      <a:pPr algn="l"/>
                      <a:r>
                        <a:rPr sz="1000">
                          <a:solidFill>
                            <a:srgbClr val="000F2D"/>
                          </a:solidFill>
                          <a:latin typeface="Arial"/>
                        </a:rPr>
                        <a:t>$55</a:t>
                      </a:r>
                    </a:p>
                  </a:txBody>
                  <a:tcPr>
                    <a:solidFill>
                      <a:srgbClr val="F0F2F5"/>
                    </a:solidFill>
                  </a:tcPr>
                </a:tc>
                <a:tc>
                  <a:txBody>
                    <a:bodyPr/>
                    <a:lstStyle/>
                    <a:p>
                      <a:pPr algn="l"/>
                      <a:r>
                        <a:rPr sz="1000">
                          <a:solidFill>
                            <a:srgbClr val="000F2D"/>
                          </a:solidFill>
                          <a:latin typeface="Arial"/>
                        </a:rPr>
                        <a:t>$6,600</a:t>
                      </a:r>
                    </a:p>
                  </a:txBody>
                  <a:tcPr>
                    <a:solidFill>
                      <a:srgbClr val="F0F2F5"/>
                    </a:solidFill>
                  </a:tcPr>
                </a:tc>
              </a:tr>
              <a:tr h="411480">
                <a:tc>
                  <a:txBody>
                    <a:bodyPr/>
                    <a:lstStyle/>
                    <a:p>
                      <a:pPr algn="l"/>
                      <a:r>
                        <a:rPr sz="1000">
                          <a:solidFill>
                            <a:srgbClr val="000F2D"/>
                          </a:solidFill>
                          <a:latin typeface="Arial"/>
                        </a:rPr>
                        <a:t>Cloud Engineer</a:t>
                      </a:r>
                    </a:p>
                  </a:txBody>
                  <a:tcPr>
                    <a:solidFill>
                      <a:srgbClr val="FFFFFF"/>
                    </a:solidFill>
                  </a:tcPr>
                </a:tc>
                <a:tc>
                  <a:txBody>
                    <a:bodyPr/>
                    <a:lstStyle/>
                    <a:p>
                      <a:pPr algn="l"/>
                      <a:r>
                        <a:rPr sz="1000">
                          <a:solidFill>
                            <a:srgbClr val="000F2D"/>
                          </a:solidFill>
                          <a:latin typeface="Arial"/>
                        </a:rPr>
                        <a:t>4</a:t>
                      </a:r>
                    </a:p>
                  </a:txBody>
                  <a:tcPr>
                    <a:solidFill>
                      <a:srgbClr val="FFFFFF"/>
                    </a:solidFill>
                  </a:tcPr>
                </a:tc>
                <a:tc>
                  <a:txBody>
                    <a:bodyPr/>
                    <a:lstStyle/>
                    <a:p>
                      <a:pPr algn="l"/>
                      <a:r>
                        <a:rPr sz="1000">
                          <a:solidFill>
                            <a:srgbClr val="000F2D"/>
                          </a:solidFill>
                          <a:latin typeface="Arial"/>
                        </a:rPr>
                        <a:t>Offshore</a:t>
                      </a:r>
                    </a:p>
                  </a:txBody>
                  <a:tcPr>
                    <a:solidFill>
                      <a:srgbClr val="FFFFFF"/>
                    </a:solidFill>
                  </a:tcPr>
                </a:tc>
                <a:tc>
                  <a:txBody>
                    <a:bodyPr/>
                    <a:lstStyle/>
                    <a:p>
                      <a:pPr algn="l"/>
                      <a:r>
                        <a:rPr sz="1000">
                          <a:solidFill>
                            <a:srgbClr val="000F2D"/>
                          </a:solidFill>
                          <a:latin typeface="Arial"/>
                        </a:rPr>
                        <a:t>240</a:t>
                      </a:r>
                    </a:p>
                  </a:txBody>
                  <a:tcPr>
                    <a:solidFill>
                      <a:srgbClr val="FFFFFF"/>
                    </a:solidFill>
                  </a:tcPr>
                </a:tc>
                <a:tc>
                  <a:txBody>
                    <a:bodyPr/>
                    <a:lstStyle/>
                    <a:p>
                      <a:pPr algn="l"/>
                      <a:r>
                        <a:rPr sz="1000">
                          <a:solidFill>
                            <a:srgbClr val="000F2D"/>
                          </a:solidFill>
                          <a:latin typeface="Arial"/>
                        </a:rPr>
                        <a:t>$30</a:t>
                      </a:r>
                    </a:p>
                  </a:txBody>
                  <a:tcPr>
                    <a:solidFill>
                      <a:srgbClr val="FFFFFF"/>
                    </a:solidFill>
                  </a:tcPr>
                </a:tc>
                <a:tc>
                  <a:txBody>
                    <a:bodyPr/>
                    <a:lstStyle/>
                    <a:p>
                      <a:pPr algn="l"/>
                      <a:r>
                        <a:rPr sz="1000">
                          <a:solidFill>
                            <a:srgbClr val="000F2D"/>
                          </a:solidFill>
                          <a:latin typeface="Arial"/>
                        </a:rPr>
                        <a:t>$14,400</a:t>
                      </a:r>
                    </a:p>
                  </a:txBody>
                  <a:tcPr>
                    <a:solidFill>
                      <a:srgbClr val="FFFFFF"/>
                    </a:solidFill>
                  </a:tcPr>
                </a:tc>
              </a:tr>
              <a:tr h="411480">
                <a:tc>
                  <a:txBody>
                    <a:bodyPr/>
                    <a:lstStyle/>
                    <a:p>
                      <a:pPr algn="l"/>
                      <a:r>
                        <a:rPr sz="1000">
                          <a:solidFill>
                            <a:srgbClr val="000F2D"/>
                          </a:solidFill>
                          <a:latin typeface="Arial"/>
                        </a:rPr>
                        <a:t>QA Engineer</a:t>
                      </a:r>
                    </a:p>
                  </a:txBody>
                  <a:tcPr>
                    <a:solidFill>
                      <a:srgbClr val="F0F2F5"/>
                    </a:solidFill>
                  </a:tcPr>
                </a:tc>
                <a:tc>
                  <a:txBody>
                    <a:bodyPr/>
                    <a:lstStyle/>
                    <a:p>
                      <a:pPr algn="l"/>
                      <a:r>
                        <a:rPr sz="1000">
                          <a:solidFill>
                            <a:srgbClr val="000F2D"/>
                          </a:solidFill>
                          <a:latin typeface="Arial"/>
                        </a:rPr>
                        <a:t>2</a:t>
                      </a:r>
                    </a:p>
                  </a:txBody>
                  <a:tcPr>
                    <a:solidFill>
                      <a:srgbClr val="F0F2F5"/>
                    </a:solidFill>
                  </a:tcPr>
                </a:tc>
                <a:tc>
                  <a:txBody>
                    <a:bodyPr/>
                    <a:lstStyle/>
                    <a:p>
                      <a:pPr algn="l"/>
                      <a:r>
                        <a:rPr sz="1000">
                          <a:solidFill>
                            <a:srgbClr val="000F2D"/>
                          </a:solidFill>
                          <a:latin typeface="Arial"/>
                        </a:rPr>
                        <a:t>Offshore</a:t>
                      </a:r>
                    </a:p>
                  </a:txBody>
                  <a:tcPr>
                    <a:solidFill>
                      <a:srgbClr val="F0F2F5"/>
                    </a:solidFill>
                  </a:tcPr>
                </a:tc>
                <a:tc>
                  <a:txBody>
                    <a:bodyPr/>
                    <a:lstStyle/>
                    <a:p>
                      <a:pPr algn="l"/>
                      <a:r>
                        <a:rPr sz="1000">
                          <a:solidFill>
                            <a:srgbClr val="000F2D"/>
                          </a:solidFill>
                          <a:latin typeface="Arial"/>
                        </a:rPr>
                        <a:t>160</a:t>
                      </a:r>
                    </a:p>
                  </a:txBody>
                  <a:tcPr>
                    <a:solidFill>
                      <a:srgbClr val="F0F2F5"/>
                    </a:solidFill>
                  </a:tcPr>
                </a:tc>
                <a:tc>
                  <a:txBody>
                    <a:bodyPr/>
                    <a:lstStyle/>
                    <a:p>
                      <a:pPr algn="l"/>
                      <a:r>
                        <a:rPr sz="1000">
                          <a:solidFill>
                            <a:srgbClr val="000F2D"/>
                          </a:solidFill>
                          <a:latin typeface="Arial"/>
                        </a:rPr>
                        <a:t>$28</a:t>
                      </a:r>
                    </a:p>
                  </a:txBody>
                  <a:tcPr>
                    <a:solidFill>
                      <a:srgbClr val="F0F2F5"/>
                    </a:solidFill>
                  </a:tcPr>
                </a:tc>
                <a:tc>
                  <a:txBody>
                    <a:bodyPr/>
                    <a:lstStyle/>
                    <a:p>
                      <a:pPr algn="l"/>
                      <a:r>
                        <a:rPr sz="1000">
                          <a:solidFill>
                            <a:srgbClr val="000F2D"/>
                          </a:solidFill>
                          <a:latin typeface="Arial"/>
                        </a:rPr>
                        <a:t>$4,480</a:t>
                      </a:r>
                    </a:p>
                  </a:txBody>
                  <a:tcPr>
                    <a:solidFill>
                      <a:srgbClr val="F0F2F5"/>
                    </a:solidFill>
                  </a:tcPr>
                </a:tc>
              </a:tr>
              <a:tr h="411480">
                <a:tc>
                  <a:txBody>
                    <a:bodyPr/>
                    <a:lstStyle/>
                    <a:p>
                      <a:pPr algn="l"/>
                      <a:r>
                        <a:rPr sz="1000">
                          <a:solidFill>
                            <a:srgbClr val="000F2D"/>
                          </a:solidFill>
                          <a:latin typeface="Arial"/>
                        </a:rPr>
                        <a:t>DevOps Engineer</a:t>
                      </a:r>
                    </a:p>
                  </a:txBody>
                  <a:tcPr>
                    <a:solidFill>
                      <a:srgbClr val="FFFFFF"/>
                    </a:solidFill>
                  </a:tcPr>
                </a:tc>
                <a:tc>
                  <a:txBody>
                    <a:bodyPr/>
                    <a:lstStyle/>
                    <a:p>
                      <a:pPr algn="l"/>
                      <a:r>
                        <a:rPr sz="1000">
                          <a:solidFill>
                            <a:srgbClr val="000F2D"/>
                          </a:solidFill>
                          <a:latin typeface="Arial"/>
                        </a:rPr>
                        <a:t>1</a:t>
                      </a:r>
                    </a:p>
                  </a:txBody>
                  <a:tcPr>
                    <a:solidFill>
                      <a:srgbClr val="FFFFFF"/>
                    </a:solidFill>
                  </a:tcPr>
                </a:tc>
                <a:tc>
                  <a:txBody>
                    <a:bodyPr/>
                    <a:lstStyle/>
                    <a:p>
                      <a:pPr algn="l"/>
                      <a:r>
                        <a:rPr sz="1000">
                          <a:solidFill>
                            <a:srgbClr val="000F2D"/>
                          </a:solidFill>
                          <a:latin typeface="Arial"/>
                        </a:rPr>
                        <a:t>Nearshore</a:t>
                      </a:r>
                    </a:p>
                  </a:txBody>
                  <a:tcPr>
                    <a:solidFill>
                      <a:srgbClr val="FFFFFF"/>
                    </a:solidFill>
                  </a:tcPr>
                </a:tc>
                <a:tc>
                  <a:txBody>
                    <a:bodyPr/>
                    <a:lstStyle/>
                    <a:p>
                      <a:pPr algn="l"/>
                      <a:r>
                        <a:rPr sz="1000">
                          <a:solidFill>
                            <a:srgbClr val="000F2D"/>
                          </a:solidFill>
                          <a:latin typeface="Arial"/>
                        </a:rPr>
                        <a:t>80</a:t>
                      </a:r>
                    </a:p>
                  </a:txBody>
                  <a:tcPr>
                    <a:solidFill>
                      <a:srgbClr val="FFFFFF"/>
                    </a:solidFill>
                  </a:tcPr>
                </a:tc>
                <a:tc>
                  <a:txBody>
                    <a:bodyPr/>
                    <a:lstStyle/>
                    <a:p>
                      <a:pPr algn="l"/>
                      <a:r>
                        <a:rPr sz="1000">
                          <a:solidFill>
                            <a:srgbClr val="000F2D"/>
                          </a:solidFill>
                          <a:latin typeface="Arial"/>
                        </a:rPr>
                        <a:t>$50</a:t>
                      </a:r>
                    </a:p>
                  </a:txBody>
                  <a:tcPr>
                    <a:solidFill>
                      <a:srgbClr val="FFFFFF"/>
                    </a:solidFill>
                  </a:tcPr>
                </a:tc>
                <a:tc>
                  <a:txBody>
                    <a:bodyPr/>
                    <a:lstStyle/>
                    <a:p>
                      <a:pPr algn="l"/>
                      <a:r>
                        <a:rPr sz="1000">
                          <a:solidFill>
                            <a:srgbClr val="000F2D"/>
                          </a:solidFill>
                          <a:latin typeface="Arial"/>
                        </a:rPr>
                        <a:t>$4,000</a:t>
                      </a:r>
                    </a:p>
                  </a:txBody>
                  <a:tcPr>
                    <a:solidFill>
                      <a:srgbClr val="FFFFFF"/>
                    </a:solidFill>
                  </a:tcPr>
                </a:tc>
              </a:tr>
              <a:tr h="411480">
                <a:tc>
                  <a:txBody>
                    <a:bodyPr/>
                    <a:lstStyle/>
                    <a:p>
                      <a:pPr algn="l"/>
                      <a:r>
                        <a:rPr sz="1000">
                          <a:solidFill>
                            <a:srgbClr val="000F2D"/>
                          </a:solidFill>
                          <a:latin typeface="Arial"/>
                        </a:rPr>
                        <a:t>Business Analyst</a:t>
                      </a:r>
                    </a:p>
                  </a:txBody>
                  <a:tcPr>
                    <a:solidFill>
                      <a:srgbClr val="F0F2F5"/>
                    </a:solidFill>
                  </a:tcPr>
                </a:tc>
                <a:tc>
                  <a:txBody>
                    <a:bodyPr/>
                    <a:lstStyle/>
                    <a:p>
                      <a:pPr algn="l"/>
                      <a:r>
                        <a:rPr sz="1000">
                          <a:solidFill>
                            <a:srgbClr val="000F2D"/>
                          </a:solidFill>
                          <a:latin typeface="Arial"/>
                        </a:rPr>
                        <a:t>1</a:t>
                      </a:r>
                    </a:p>
                  </a:txBody>
                  <a:tcPr>
                    <a:solidFill>
                      <a:srgbClr val="F0F2F5"/>
                    </a:solidFill>
                  </a:tcPr>
                </a:tc>
                <a:tc>
                  <a:txBody>
                    <a:bodyPr/>
                    <a:lstStyle/>
                    <a:p>
                      <a:pPr algn="l"/>
                      <a:r>
                        <a:rPr sz="1000">
                          <a:solidFill>
                            <a:srgbClr val="000F2D"/>
                          </a:solidFill>
                          <a:latin typeface="Arial"/>
                        </a:rPr>
                        <a:t>Onshore</a:t>
                      </a:r>
                    </a:p>
                  </a:txBody>
                  <a:tcPr>
                    <a:solidFill>
                      <a:srgbClr val="F0F2F5"/>
                    </a:solidFill>
                  </a:tcPr>
                </a:tc>
                <a:tc>
                  <a:txBody>
                    <a:bodyPr/>
                    <a:lstStyle/>
                    <a:p>
                      <a:pPr algn="l"/>
                      <a:r>
                        <a:rPr sz="1000">
                          <a:solidFill>
                            <a:srgbClr val="000F2D"/>
                          </a:solidFill>
                          <a:latin typeface="Arial"/>
                        </a:rPr>
                        <a:t>80</a:t>
                      </a:r>
                    </a:p>
                  </a:txBody>
                  <a:tcPr>
                    <a:solidFill>
                      <a:srgbClr val="F0F2F5"/>
                    </a:solidFill>
                  </a:tcPr>
                </a:tc>
                <a:tc>
                  <a:txBody>
                    <a:bodyPr/>
                    <a:lstStyle/>
                    <a:p>
                      <a:pPr algn="l"/>
                      <a:r>
                        <a:rPr sz="1000">
                          <a:solidFill>
                            <a:srgbClr val="000F2D"/>
                          </a:solidFill>
                          <a:latin typeface="Arial"/>
                        </a:rPr>
                        <a:t>$90</a:t>
                      </a:r>
                    </a:p>
                  </a:txBody>
                  <a:tcPr>
                    <a:solidFill>
                      <a:srgbClr val="F0F2F5"/>
                    </a:solidFill>
                  </a:tcPr>
                </a:tc>
                <a:tc>
                  <a:txBody>
                    <a:bodyPr/>
                    <a:lstStyle/>
                    <a:p>
                      <a:pPr algn="l"/>
                      <a:r>
                        <a:rPr sz="1000">
                          <a:solidFill>
                            <a:srgbClr val="000F2D"/>
                          </a:solidFill>
                          <a:latin typeface="Arial"/>
                        </a:rPr>
                        <a:t>$7,200</a:t>
                      </a:r>
                    </a:p>
                  </a:txBody>
                  <a:tcPr>
                    <a:solidFill>
                      <a:srgbClr val="F0F2F5"/>
                    </a:solidFill>
                  </a:tcPr>
                </a:tc>
              </a:tr>
              <a:tr h="411480">
                <a:tc>
                  <a:txBody>
                    <a:bodyPr/>
                    <a:lstStyle/>
                    <a:p>
                      <a:pPr algn="l"/>
                      <a:r>
                        <a:rPr sz="1000">
                          <a:solidFill>
                            <a:srgbClr val="000F2D"/>
                          </a:solidFill>
                          <a:latin typeface="Arial"/>
                        </a:rPr>
                        <a:t>Project Manager</a:t>
                      </a:r>
                    </a:p>
                  </a:txBody>
                  <a:tcPr>
                    <a:solidFill>
                      <a:srgbClr val="FFFFFF"/>
                    </a:solidFill>
                  </a:tcPr>
                </a:tc>
                <a:tc>
                  <a:txBody>
                    <a:bodyPr/>
                    <a:lstStyle/>
                    <a:p>
                      <a:pPr algn="l"/>
                      <a:r>
                        <a:rPr sz="1000">
                          <a:solidFill>
                            <a:srgbClr val="000F2D"/>
                          </a:solidFill>
                          <a:latin typeface="Arial"/>
                        </a:rPr>
                        <a:t>1</a:t>
                      </a:r>
                    </a:p>
                  </a:txBody>
                  <a:tcPr>
                    <a:solidFill>
                      <a:srgbClr val="FFFFFF"/>
                    </a:solidFill>
                  </a:tcPr>
                </a:tc>
                <a:tc>
                  <a:txBody>
                    <a:bodyPr/>
                    <a:lstStyle/>
                    <a:p>
                      <a:pPr algn="l"/>
                      <a:r>
                        <a:rPr sz="1000">
                          <a:solidFill>
                            <a:srgbClr val="000F2D"/>
                          </a:solidFill>
                          <a:latin typeface="Arial"/>
                        </a:rPr>
                        <a:t>Onshore</a:t>
                      </a:r>
                    </a:p>
                  </a:txBody>
                  <a:tcPr>
                    <a:solidFill>
                      <a:srgbClr val="FFFFFF"/>
                    </a:solidFill>
                  </a:tcPr>
                </a:tc>
                <a:tc>
                  <a:txBody>
                    <a:bodyPr/>
                    <a:lstStyle/>
                    <a:p>
                      <a:pPr algn="l"/>
                      <a:r>
                        <a:rPr sz="1000">
                          <a:solidFill>
                            <a:srgbClr val="000F2D"/>
                          </a:solidFill>
                          <a:latin typeface="Arial"/>
                        </a:rPr>
                        <a:t>80</a:t>
                      </a:r>
                    </a:p>
                  </a:txBody>
                  <a:tcPr>
                    <a:solidFill>
                      <a:srgbClr val="FFFFFF"/>
                    </a:solidFill>
                  </a:tcPr>
                </a:tc>
                <a:tc>
                  <a:txBody>
                    <a:bodyPr/>
                    <a:lstStyle/>
                    <a:p>
                      <a:pPr algn="l"/>
                      <a:r>
                        <a:rPr sz="1000">
                          <a:solidFill>
                            <a:srgbClr val="000F2D"/>
                          </a:solidFill>
                          <a:latin typeface="Arial"/>
                        </a:rPr>
                        <a:t>$110</a:t>
                      </a:r>
                    </a:p>
                  </a:txBody>
                  <a:tcPr>
                    <a:solidFill>
                      <a:srgbClr val="FFFFFF"/>
                    </a:solidFill>
                  </a:tcPr>
                </a:tc>
                <a:tc>
                  <a:txBody>
                    <a:bodyPr/>
                    <a:lstStyle/>
                    <a:p>
                      <a:pPr algn="l"/>
                      <a:r>
                        <a:rPr sz="1000">
                          <a:solidFill>
                            <a:srgbClr val="000F2D"/>
                          </a:solidFill>
                          <a:latin typeface="Arial"/>
                        </a:rPr>
                        <a:t>$8,800</a:t>
                      </a:r>
                    </a:p>
                  </a:txBody>
                  <a:tcPr>
                    <a:solidFill>
                      <a:srgbClr val="FFFFFF"/>
                    </a:solidFill>
                  </a:tcPr>
                </a:tc>
              </a:tr>
              <a:tr h="411480">
                <a:tc>
                  <a:txBody>
                    <a:bodyPr/>
                    <a:lstStyle/>
                    <a:p>
                      <a:pPr algn="l"/>
                      <a:r>
                        <a:rPr sz="1000">
                          <a:solidFill>
                            <a:srgbClr val="000F2D"/>
                          </a:solidFill>
                          <a:latin typeface="Arial"/>
                        </a:rPr>
                        <a:t>AI/ML Engineer</a:t>
                      </a:r>
                    </a:p>
                  </a:txBody>
                  <a:tcPr>
                    <a:solidFill>
                      <a:srgbClr val="F0F2F5"/>
                    </a:solidFill>
                  </a:tcPr>
                </a:tc>
                <a:tc>
                  <a:txBody>
                    <a:bodyPr/>
                    <a:lstStyle/>
                    <a:p>
                      <a:pPr algn="l"/>
                      <a:r>
                        <a:rPr sz="1000">
                          <a:solidFill>
                            <a:srgbClr val="000F2D"/>
                          </a:solidFill>
                          <a:latin typeface="Arial"/>
                        </a:rPr>
                        <a:t>1</a:t>
                      </a:r>
                    </a:p>
                  </a:txBody>
                  <a:tcPr>
                    <a:solidFill>
                      <a:srgbClr val="F0F2F5"/>
                    </a:solidFill>
                  </a:tcPr>
                </a:tc>
                <a:tc>
                  <a:txBody>
                    <a:bodyPr/>
                    <a:lstStyle/>
                    <a:p>
                      <a:pPr algn="l"/>
                      <a:r>
                        <a:rPr sz="1000">
                          <a:solidFill>
                            <a:srgbClr val="000F2D"/>
                          </a:solidFill>
                          <a:latin typeface="Arial"/>
                        </a:rPr>
                        <a:t>Offshore</a:t>
                      </a:r>
                    </a:p>
                  </a:txBody>
                  <a:tcPr>
                    <a:solidFill>
                      <a:srgbClr val="F0F2F5"/>
                    </a:solidFill>
                  </a:tcPr>
                </a:tc>
                <a:tc>
                  <a:txBody>
                    <a:bodyPr/>
                    <a:lstStyle/>
                    <a:p>
                      <a:pPr algn="l"/>
                      <a:r>
                        <a:rPr sz="1000">
                          <a:solidFill>
                            <a:srgbClr val="000F2D"/>
                          </a:solidFill>
                          <a:latin typeface="Arial"/>
                        </a:rPr>
                        <a:t>80</a:t>
                      </a:r>
                    </a:p>
                  </a:txBody>
                  <a:tcPr>
                    <a:solidFill>
                      <a:srgbClr val="F0F2F5"/>
                    </a:solidFill>
                  </a:tcPr>
                </a:tc>
                <a:tc>
                  <a:txBody>
                    <a:bodyPr/>
                    <a:lstStyle/>
                    <a:p>
                      <a:pPr algn="l"/>
                      <a:r>
                        <a:rPr sz="1000">
                          <a:solidFill>
                            <a:srgbClr val="000F2D"/>
                          </a:solidFill>
                          <a:latin typeface="Arial"/>
                        </a:rPr>
                        <a:t>$32</a:t>
                      </a:r>
                    </a:p>
                  </a:txBody>
                  <a:tcPr>
                    <a:solidFill>
                      <a:srgbClr val="F0F2F5"/>
                    </a:solidFill>
                  </a:tcPr>
                </a:tc>
                <a:tc>
                  <a:txBody>
                    <a:bodyPr/>
                    <a:lstStyle/>
                    <a:p>
                      <a:pPr algn="l"/>
                      <a:r>
                        <a:rPr sz="1000">
                          <a:solidFill>
                            <a:srgbClr val="000F2D"/>
                          </a:solidFill>
                          <a:latin typeface="Arial"/>
                        </a:rPr>
                        <a:t>$2,560</a:t>
                      </a:r>
                    </a:p>
                  </a:txBody>
                  <a:tcPr>
                    <a:solidFill>
                      <a:srgbClr val="F0F2F5"/>
                    </a:solidFill>
                  </a:tcPr>
                </a:tc>
              </a:tr>
              <a:tr h="411480">
                <a:tc>
                  <a:txBody>
                    <a:bodyPr/>
                    <a:lstStyle/>
                    <a:p>
                      <a:pPr algn="l"/>
                      <a:r>
                        <a:rPr sz="1000">
                          <a:solidFill>
                            <a:srgbClr val="000F2D"/>
                          </a:solidFill>
                          <a:latin typeface="Arial"/>
                        </a:rPr>
                        <a:t>API Developer</a:t>
                      </a:r>
                    </a:p>
                  </a:txBody>
                  <a:tcPr>
                    <a:solidFill>
                      <a:srgbClr val="FFFFFF"/>
                    </a:solidFill>
                  </a:tcPr>
                </a:tc>
                <a:tc>
                  <a:txBody>
                    <a:bodyPr/>
                    <a:lstStyle/>
                    <a:p>
                      <a:pPr algn="l"/>
                      <a:r>
                        <a:rPr sz="1000">
                          <a:solidFill>
                            <a:srgbClr val="000F2D"/>
                          </a:solidFill>
                          <a:latin typeface="Arial"/>
                        </a:rPr>
                        <a:t>1</a:t>
                      </a:r>
                    </a:p>
                  </a:txBody>
                  <a:tcPr>
                    <a:solidFill>
                      <a:srgbClr val="FFFFFF"/>
                    </a:solidFill>
                  </a:tcPr>
                </a:tc>
                <a:tc>
                  <a:txBody>
                    <a:bodyPr/>
                    <a:lstStyle/>
                    <a:p>
                      <a:pPr algn="l"/>
                      <a:r>
                        <a:rPr sz="1000">
                          <a:solidFill>
                            <a:srgbClr val="000F2D"/>
                          </a:solidFill>
                          <a:latin typeface="Arial"/>
                        </a:rPr>
                        <a:t>Nearshore</a:t>
                      </a:r>
                    </a:p>
                  </a:txBody>
                  <a:tcPr>
                    <a:solidFill>
                      <a:srgbClr val="FFFFFF"/>
                    </a:solidFill>
                  </a:tcPr>
                </a:tc>
                <a:tc>
                  <a:txBody>
                    <a:bodyPr/>
                    <a:lstStyle/>
                    <a:p>
                      <a:pPr algn="l"/>
                      <a:r>
                        <a:rPr sz="1000">
                          <a:solidFill>
                            <a:srgbClr val="000F2D"/>
                          </a:solidFill>
                          <a:latin typeface="Arial"/>
                        </a:rPr>
                        <a:t>80</a:t>
                      </a:r>
                    </a:p>
                  </a:txBody>
                  <a:tcPr>
                    <a:solidFill>
                      <a:srgbClr val="FFFFFF"/>
                    </a:solidFill>
                  </a:tcPr>
                </a:tc>
                <a:tc>
                  <a:txBody>
                    <a:bodyPr/>
                    <a:lstStyle/>
                    <a:p>
                      <a:pPr algn="l"/>
                      <a:r>
                        <a:rPr sz="1000">
                          <a:solidFill>
                            <a:srgbClr val="000F2D"/>
                          </a:solidFill>
                          <a:latin typeface="Arial"/>
                        </a:rPr>
                        <a:t>$45</a:t>
                      </a:r>
                    </a:p>
                  </a:txBody>
                  <a:tcPr>
                    <a:solidFill>
                      <a:srgbClr val="FFFFFF"/>
                    </a:solidFill>
                  </a:tcPr>
                </a:tc>
                <a:tc>
                  <a:txBody>
                    <a:bodyPr/>
                    <a:lstStyle/>
                    <a:p>
                      <a:pPr algn="l"/>
                      <a:r>
                        <a:rPr sz="1000">
                          <a:solidFill>
                            <a:srgbClr val="000F2D"/>
                          </a:solidFill>
                          <a:latin typeface="Arial"/>
                        </a:rPr>
                        <a:t>$3,600</a:t>
                      </a:r>
                    </a:p>
                  </a:txBody>
                  <a:tcPr>
                    <a:solidFill>
                      <a:srgbClr val="FFFFFF"/>
                    </a:solidFill>
                  </a:tcPr>
                </a:tc>
              </a:tr>
            </a:tbl>
          </a:graphicData>
        </a:graphic>
      </p:graphicFrame>
      <p:sp>
        <p:nvSpPr>
          <p:cNvPr id="7" name="TextBox 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8" name="TextBox 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19</a:t>
            </a:r>
          </a:p>
        </p:txBody>
      </p:sp>
      <p:sp>
        <p:nvSpPr>
          <p:cNvPr id="9" name="Rectangle 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7. COMMERCIAL SUMMARY</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Our commercial model is based on a rate card, which outlines the costs associated with each team member. The rate card is as follows:</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The total cost of the project will be approximately $2.5 million, spread across the four phases.</a:t>
            </a:r>
          </a:p>
        </p:txBody>
      </p:sp>
      <p:sp>
        <p:nvSpPr>
          <p:cNvPr id="9" name="TextBox 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0" name="TextBox 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20</a:t>
            </a:r>
          </a:p>
        </p:txBody>
      </p:sp>
      <p:sp>
        <p:nvSpPr>
          <p:cNvPr id="11" name="Rectangle 1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09</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8. WHY TECH MAHINDRA?</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8. WHY TECH MAHINDRA?</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Tech Mahindra is a leading provider of digital transformation and business re-engineering services. Our team of experts has extensive experience in cloud-native core banking platforms, strategic techn</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Our differentiators include:</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Expertise in cloud-native core banking platforms</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Strong partnerships with leading technology providers</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Proven track record of delivering successful projects</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Comprehensive understanding of RBI regulatory requirements</a:t>
            </a:r>
          </a:p>
        </p:txBody>
      </p:sp>
      <p:sp>
        <p:nvSpPr>
          <p:cNvPr id="17" name="TextBox 1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8" name="TextBox 1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22</a:t>
            </a:r>
          </a:p>
        </p:txBody>
      </p:sp>
      <p:sp>
        <p:nvSpPr>
          <p:cNvPr id="19" name="Rectangle 1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10</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9. NEXT STEPS</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9. NEXT STEPS</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We propose the following next steps:</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Conduct a thorough needs assessment to understand HDFC Bank's specific requirements.</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Develop a detailed project plan and timeline.</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Establish a project governance structure to ensure seamless communication and collaboration.</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Begin the cloud-native core banking platform evaluation and selection process.</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We believe that our proposed solution meets HDFC Bank's key requirements and will deliver the desired outcomes. We look forward to the opportunity to work with HDFC Bank and deliver a successful proje</a:t>
            </a:r>
          </a:p>
        </p:txBody>
      </p:sp>
      <p:sp>
        <p:nvSpPr>
          <p:cNvPr id="17" name="TextBox 1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8" name="TextBox 1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24</a:t>
            </a:r>
          </a:p>
        </p:txBody>
      </p:sp>
      <p:sp>
        <p:nvSpPr>
          <p:cNvPr id="19" name="Rectangle 1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057400"/>
            <a:ext cx="12188952" cy="27432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697480"/>
            <a:ext cx="12188952" cy="914400"/>
          </a:xfrm>
          <a:prstGeom prst="rect">
            <a:avLst/>
          </a:prstGeom>
          <a:noFill/>
        </p:spPr>
        <p:txBody>
          <a:bodyPr wrap="square" anchor="t">
            <a:spAutoFit/>
          </a:bodyPr>
          <a:lstStyle/>
          <a:p>
            <a:pPr algn="ctr"/>
            <a:r>
              <a:rPr sz="6400" b="1" i="0">
                <a:solidFill>
                  <a:srgbClr val="FFFFFF"/>
                </a:solidFill>
                <a:latin typeface="Arial"/>
              </a:rPr>
              <a:t>THANK YOU</a:t>
            </a:r>
          </a:p>
        </p:txBody>
      </p:sp>
      <p:sp>
        <p:nvSpPr>
          <p:cNvPr id="4" name="TextBox 3"/>
          <p:cNvSpPr txBox="1"/>
          <p:nvPr/>
        </p:nvSpPr>
        <p:spPr>
          <a:xfrm>
            <a:off x="0" y="3703320"/>
            <a:ext cx="12188952" cy="457200"/>
          </a:xfrm>
          <a:prstGeom prst="rect">
            <a:avLst/>
          </a:prstGeom>
          <a:noFill/>
        </p:spPr>
        <p:txBody>
          <a:bodyPr wrap="square" anchor="t">
            <a:spAutoFit/>
          </a:bodyPr>
          <a:lstStyle/>
          <a:p>
            <a:pPr algn="ctr"/>
            <a:r>
              <a:rPr sz="2000" b="0" i="0">
                <a:solidFill>
                  <a:srgbClr val="FFFFFF"/>
                </a:solidFill>
                <a:latin typeface="Arial"/>
              </a:rPr>
              <a:t>We look forward to a successful partnership.</a:t>
            </a:r>
          </a:p>
        </p:txBody>
      </p:sp>
      <p:sp>
        <p:nvSpPr>
          <p:cNvPr id="5" name="TextBox 4"/>
          <p:cNvSpPr txBox="1"/>
          <p:nvPr/>
        </p:nvSpPr>
        <p:spPr>
          <a:xfrm>
            <a:off x="0" y="5943600"/>
            <a:ext cx="12188952" cy="457200"/>
          </a:xfrm>
          <a:prstGeom prst="rect">
            <a:avLst/>
          </a:prstGeom>
          <a:noFill/>
        </p:spPr>
        <p:txBody>
          <a:bodyPr wrap="square" anchor="t">
            <a:spAutoFit/>
          </a:bodyPr>
          <a:lstStyle/>
          <a:p>
            <a:pPr algn="ctr"/>
            <a:r>
              <a:rPr sz="1400" b="1" i="0">
                <a:solidFill>
                  <a:srgbClr val="C8D2E6"/>
                </a:solidFill>
                <a:latin typeface="Arial"/>
              </a:rPr>
              <a:t>TECH MAHINDRA STRATEGIC CONSULTING</a:t>
            </a:r>
          </a:p>
        </p:txBody>
      </p:sp>
      <p:sp>
        <p:nvSpPr>
          <p:cNvPr id="6" name="TextBox 5"/>
          <p:cNvSpPr txBox="1"/>
          <p:nvPr/>
        </p:nvSpPr>
        <p:spPr>
          <a:xfrm>
            <a:off x="0" y="6400800"/>
            <a:ext cx="12188952" cy="457200"/>
          </a:xfrm>
          <a:prstGeom prst="rect">
            <a:avLst/>
          </a:prstGeom>
          <a:noFill/>
        </p:spPr>
        <p:txBody>
          <a:bodyPr wrap="square" anchor="t">
            <a:spAutoFit/>
          </a:bodyPr>
          <a:lstStyle/>
          <a:p>
            <a:pPr algn="ctr"/>
            <a:r>
              <a:rPr sz="1000" b="0" i="0">
                <a:solidFill>
                  <a:srgbClr val="696969"/>
                </a:solidFill>
                <a:latin typeface="Arial"/>
              </a:rPr>
              <a:t>confidential | proprietary | strictly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