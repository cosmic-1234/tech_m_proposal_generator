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82880" cy="6858000"/>
          </a:xfrm>
          <a:prstGeom prst="rect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 Black"/>
              </a:rPr>
              <a:t>TECH MAHINDRA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31837"/>
                </a:solidFill>
                <a:latin typeface="Arial"/>
              </a:rPr>
              <a:t>STRATEGIC CONSULTING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3474720"/>
            <a:ext cx="7315200" cy="45720"/>
          </a:xfrm>
          <a:prstGeom prst="rect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38404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SOLUTION PROPOSAL &amp;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3891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Prepared Exclusively For: AlphaCorp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5486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96969"/>
                </a:solidFill>
                <a:latin typeface="Arial"/>
              </a:rPr>
              <a:t>Date: April 27,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58521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31837"/>
                </a:solidFill>
                <a:latin typeface="Arial"/>
              </a:rPr>
              <a:t>STRICTLY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74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C8D2E6"/>
                </a:solidFill>
                <a:latin typeface="Arial"/>
              </a:rPr>
              <a:t>Strategic Highlights &amp; Value Proposition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2004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200400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000F2D"/>
                </a:solidFill>
                <a:latin typeface="Arial"/>
              </a:rPr>
              <a:t>AI-DRIVEN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96969"/>
                </a:solidFill>
                <a:latin typeface="Arial"/>
              </a:rPr>
              <a:t>Methodology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743200"/>
            <a:ext cx="1371600" cy="182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000F2D"/>
                </a:solidFill>
                <a:latin typeface="Arial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96969"/>
                </a:solidFill>
                <a:latin typeface="Arial"/>
              </a:rPr>
              <a:t>Requirements Met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840480"/>
            <a:ext cx="1371600" cy="182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000F2D"/>
                </a:solidFill>
                <a:latin typeface="Arial"/>
              </a:rPr>
              <a:t>SCALABLE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96969"/>
                </a:solidFill>
                <a:latin typeface="Arial"/>
              </a:rPr>
              <a:t>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937760"/>
            <a:ext cx="1371600" cy="182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1206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000F2D"/>
                </a:solidFill>
                <a:latin typeface="Arial"/>
              </a:rPr>
              <a:t>OPTIMIZED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778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96969"/>
                </a:solidFill>
                <a:latin typeface="Arial"/>
              </a:rPr>
              <a:t>Commercials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1463040"/>
            <a:ext cx="77724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31920" y="1463040"/>
            <a:ext cx="7772400" cy="9144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82880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00F2D"/>
                </a:solidFill>
                <a:latin typeface="Arial"/>
              </a:rPr>
              <a:t>KEY PROPOSAL INSIGHTS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651760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2560320"/>
            <a:ext cx="6583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Tech Mahindra – Strategic Proposal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474720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383279"/>
            <a:ext cx="6583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Executive Summary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297679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4206240"/>
            <a:ext cx="6583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We will drive growth.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5120640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5029200"/>
            <a:ext cx="6583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000F2D"/>
                </a:solidFill>
                <a:latin typeface="Arial"/>
              </a:rPr>
              <a:t>Architecture Blueprint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1828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TECH MAHINDRA – STRATEGIC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1828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We will drive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1828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ARCHITECTURE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ARCHITECTURE BLUEPRINT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5564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`mermaid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8716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flowchart TD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1868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A[Client] --&gt; B[TechM Platform]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50208"/>
            <a:ext cx="137160" cy="1371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F2D"/>
                </a:solidFill>
                <a:latin typeface="Arial"/>
              </a:rPr>
              <a:t>`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88952" cy="18288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COMMERCIALS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0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COMMERCIALS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74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C8D2E6"/>
                </a:solidFill>
                <a:latin typeface="Arial"/>
              </a:rPr>
              <a:t>Commercial &amp; Operational Metrics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>
                    <a:solidFill>
                      <a:srgbClr val="000F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Rate</a:t>
                      </a:r>
                    </a:p>
                  </a:txBody>
                  <a:tcPr>
                    <a:solidFill>
                      <a:srgbClr val="000F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00F2D"/>
                          </a:solidFill>
                          <a:latin typeface="Arial"/>
                        </a:rPr>
                        <a:t>/hr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i="0">
                <a:solidFill>
                  <a:srgbClr val="696969"/>
                </a:solidFill>
                <a:latin typeface="Arial"/>
              </a:rPr>
              <a:t>TECH MAHINDRA CONSULTING | HIGHLY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696969"/>
                </a:solidFill>
                <a:latin typeface="Arial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57400"/>
            <a:ext cx="12188952" cy="274320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697480"/>
            <a:ext cx="121889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Arial"/>
              </a:rPr>
              <a:t>We look forward to a successful partnership.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943600"/>
            <a:ext cx="12188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C8D2E6"/>
                </a:solidFill>
                <a:latin typeface="Arial"/>
              </a:rPr>
              <a:t>TECH MAHINDRA STRATEGIC CONSULTING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96969"/>
                </a:solidFill>
                <a:latin typeface="Arial"/>
              </a:rPr>
              <a:t>confidential | proprietary | strictly not for distribution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