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578"/>
        </a:solidFill>
        <a:effectLst/>
      </p:bgPr>
    </p:bg>
    <p:spTree>
      <p:nvGrpSpPr>
        <p:cNvPr id="1" name=""/>
        <p:cNvGrpSpPr/>
        <p:nvPr/>
      </p:nvGrpSpPr>
      <p:grpSpPr/>
      <p:sp>
        <p:nvSpPr>
          <p:cNvPr id="2" name="Rectangle 1"/>
          <p:cNvSpPr/>
          <p:nvPr/>
        </p:nvSpPr>
        <p:spPr>
          <a:xfrm>
            <a:off x="0" y="5120640"/>
            <a:ext cx="12188952" cy="9144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47120" cy="1097280"/>
          </a:xfrm>
          <a:prstGeom prst="rect">
            <a:avLst/>
          </a:prstGeom>
          <a:noFill/>
        </p:spPr>
        <p:txBody>
          <a:bodyPr wrap="square">
            <a:spAutoFit/>
          </a:bodyPr>
          <a:lstStyle/>
          <a:p>
            <a:pPr algn="ctr"/>
            <a:r>
              <a:rPr sz="4600" b="1">
                <a:solidFill>
                  <a:srgbClr val="FFFFFF"/>
                </a:solidFill>
                <a:latin typeface="Calibri Light"/>
              </a:rPr>
              <a:t>TECH MAHINDRA</a:t>
            </a:r>
          </a:p>
        </p:txBody>
      </p:sp>
      <p:sp>
        <p:nvSpPr>
          <p:cNvPr id="5" name="TextBox 4"/>
          <p:cNvSpPr txBox="1"/>
          <p:nvPr/>
        </p:nvSpPr>
        <p:spPr>
          <a:xfrm>
            <a:off x="457200" y="2377440"/>
            <a:ext cx="11247120" cy="731520"/>
          </a:xfrm>
          <a:prstGeom prst="rect">
            <a:avLst/>
          </a:prstGeom>
          <a:noFill/>
        </p:spPr>
        <p:txBody>
          <a:bodyPr wrap="square">
            <a:spAutoFit/>
          </a:bodyPr>
          <a:lstStyle/>
          <a:p>
            <a:pPr algn="ctr"/>
            <a:r>
              <a:rPr sz="2400" b="0">
                <a:solidFill>
                  <a:srgbClr val="CCDDFF"/>
                </a:solidFill>
                <a:latin typeface="Calibri Light"/>
              </a:rPr>
              <a:t>Solution Proposal</a:t>
            </a:r>
          </a:p>
        </p:txBody>
      </p:sp>
      <p:sp>
        <p:nvSpPr>
          <p:cNvPr id="6" name="TextBox 5"/>
          <p:cNvSpPr txBox="1"/>
          <p:nvPr/>
        </p:nvSpPr>
        <p:spPr>
          <a:xfrm>
            <a:off x="457200" y="3200400"/>
            <a:ext cx="11247120" cy="548640"/>
          </a:xfrm>
          <a:prstGeom prst="rect">
            <a:avLst/>
          </a:prstGeom>
          <a:noFill/>
        </p:spPr>
        <p:txBody>
          <a:bodyPr wrap="square">
            <a:spAutoFit/>
          </a:bodyPr>
          <a:lstStyle/>
          <a:p>
            <a:pPr algn="ctr"/>
            <a:r>
              <a:rPr sz="1800" b="0">
                <a:solidFill>
                  <a:srgbClr val="AACCFF"/>
                </a:solidFill>
                <a:latin typeface="Calibri Light"/>
              </a:rPr>
              <a:t>Prepared for: Client</a:t>
            </a:r>
          </a:p>
        </p:txBody>
      </p:sp>
      <p:sp>
        <p:nvSpPr>
          <p:cNvPr id="7" name="TextBox 6"/>
          <p:cNvSpPr txBox="1"/>
          <p:nvPr/>
        </p:nvSpPr>
        <p:spPr>
          <a:xfrm>
            <a:off x="457200" y="3931920"/>
            <a:ext cx="11247120" cy="457200"/>
          </a:xfrm>
          <a:prstGeom prst="rect">
            <a:avLst/>
          </a:prstGeom>
          <a:noFill/>
        </p:spPr>
        <p:txBody>
          <a:bodyPr wrap="square">
            <a:spAutoFit/>
          </a:bodyPr>
          <a:lstStyle/>
          <a:p>
            <a:pPr algn="ctr"/>
            <a:r>
              <a:rPr sz="1400" b="0">
                <a:solidFill>
                  <a:srgbClr val="8899AA"/>
                </a:solidFill>
                <a:latin typeface="Calibri Light"/>
              </a:rPr>
              <a:t>April 2026</a:t>
            </a:r>
          </a:p>
        </p:txBody>
      </p:sp>
      <p:sp>
        <p:nvSpPr>
          <p:cNvPr id="8" name="TextBox 7"/>
          <p:cNvSpPr txBox="1"/>
          <p:nvPr/>
        </p:nvSpPr>
        <p:spPr>
          <a:xfrm>
            <a:off x="457200" y="6309360"/>
            <a:ext cx="11247120" cy="365760"/>
          </a:xfrm>
          <a:prstGeom prst="rect">
            <a:avLst/>
          </a:prstGeom>
          <a:noFill/>
        </p:spPr>
        <p:txBody>
          <a:bodyPr wrap="square">
            <a:spAutoFit/>
          </a:bodyPr>
          <a:lstStyle/>
          <a:p>
            <a:pPr algn="ctr"/>
            <a:r>
              <a:rPr sz="1000" b="0">
                <a:solidFill>
                  <a:srgbClr val="667788"/>
                </a:solidFill>
                <a:latin typeface="Calibri Light"/>
              </a:rPr>
              <a:t>CONFIDENTIAL | www.techmahindra.com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5486400" cy="822960"/>
          </a:xfrm>
          <a:prstGeom prst="rect">
            <a:avLst/>
          </a:prstGeom>
          <a:noFill/>
        </p:spPr>
        <p:txBody>
          <a:bodyPr wrap="square">
            <a:spAutoFit/>
          </a:bodyPr>
          <a:lstStyle/>
          <a:p>
            <a:pPr algn="l"/>
            <a:r>
              <a:rPr sz="3000" b="1">
                <a:solidFill>
                  <a:srgbClr val="FFFFFF"/>
                </a:solidFill>
                <a:latin typeface="Calibri Light"/>
              </a:rPr>
              <a:t>Agenda</a:t>
            </a:r>
          </a:p>
        </p:txBody>
      </p:sp>
      <p:sp>
        <p:nvSpPr>
          <p:cNvPr id="5" name="TextBox 4"/>
          <p:cNvSpPr txBox="1"/>
          <p:nvPr/>
        </p:nvSpPr>
        <p:spPr>
          <a:xfrm>
            <a:off x="365760" y="1280160"/>
            <a:ext cx="11430000" cy="5212080"/>
          </a:xfrm>
          <a:prstGeom prst="rect">
            <a:avLst/>
          </a:prstGeom>
          <a:noFill/>
        </p:spPr>
        <p:txBody>
          <a:bodyPr wrap="square">
            <a:spAutoFit/>
          </a:bodyPr>
          <a:lstStyle/>
          <a:p>
            <a:pPr algn="l"/>
            <a:r>
              <a:rPr sz="1600" b="0">
                <a:solidFill>
                  <a:srgbClr val="222244"/>
                </a:solidFill>
                <a:latin typeface="Calibri Light"/>
              </a:rPr>
              <a:t>  1.  Tech Mahindra – Solution Proposal for HDFC Bank Limited
  2.  1. Executive Summary
  3.  2. Understanding Your Challenge
  4.  3. Our Proposed Solution
  5.  4. Solution Architecture
  6.  5. Team Structure &amp; Operating Model
  7.  6. Delivery Roadmap
  8.  7. Commercial Summary
  9.  8. Why Tech Mahindra?
  10.  9.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1. Executive Summary</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We are pleased to submit our proposal for HDFC Bank Limited's Core Banking System (CBS) Modernization Initiative. Our team at Tech Mahindra has a proven track record of delivering successful core banking system modernization projects, and we are confident that our solution will meet HDFC Bank's requirements. Our proposed solution is a cloud-native, scalable, and highly available core banking platform that ensures RBI regulatory compliance and achieves a 99.999% system uptime SLA. We believe that our solution will provide HDFC Bank with improved scalability and reliability, enhanced regulatory compliance, increased system uptime and availability, support for high transaction volumes during peak loads, and a long-term strategic technology partnership.
  •  Our team has a deep understanding of the banking industry and has worked with several leading banks in the past. We have a strong expertise in cloud-native core banking platforms, and our solution is designed to support 10M+ daily transactions during peak loads and provide a transaction processing speed (TPS) beyond 600K TPS. We are committed to delivering a high-quality solution that meets HDFC Bank's requirements and exceeds its expectations.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2. Understanding Your Challenge</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HDFC Bank Limited is one of the largest private sector banks in India, with over 88 million customers and a balance sheet size exceeding ₹35 trillion. The bank operates a large network of 8,700+ branches and 21,000+ ATMs across the country. As a leading bank in India, HDFC Bank is subject to stringent regulatory requirements, including those set by the Reserve Bank of India (RBI). The bank's core banking system is a critical component of its operations, and any downtime or system failure can have significant consequences.
  •  In recent years, HDFC Bank has experienced several system failures and downtime, which have impacted its customers and reputation. The bank has therefore decided to modernize its core banking system to ensure improved scalability, reliability, and regulatory compliance. The modernization initiative aims to achieve a 99.999% system uptime SLA, support 10M+ daily transactions during peak loads, and provide a transaction processing speed (TPS) beyond 600K TPS.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3. Our Proposed Solution</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Our proposed solution for HDFC Bank's Core Banking System (CBS) Modernization Initiative is a cloud-native, scalable, and highly available core banking platform that ensures RBI regulatory compliance and achieves a 99.999% system uptime SLA. The solution will support 10M+ daily transactions during peak loads and provide a transaction processing speed (TPS) beyond 600K TPS.
  •  The solution will be built using a cloud-native architecture, leveraging the latest technologies and best practices in the industry. The solution will be designed to be highly available, scalable, and secure, with built-in redundancy and failover mechanisms to ensure minimal downtime. The solution will also be designed to meet RBI regulatory requirements, including those related to data security, customer data protection, and system audit trails.
  •  The solution will be delivered using a phased approach, with each phase building on the previous one. The phases will include:
  •  Phase 1: Requirements gathering and solution design
  •  Phase 2: Solution development and testing
  •  Phase 3: Solution deployment and integration
  •  Phase 4: Solution testing and validation
  •  Phase 5: Solution go-live and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4. Solution Architecture</a:t>
            </a:r>
          </a:p>
        </p:txBody>
      </p:sp>
      <p:sp>
        <p:nvSpPr>
          <p:cNvPr id="4" name="TextBox 3"/>
          <p:cNvSpPr txBox="1"/>
          <p:nvPr/>
        </p:nvSpPr>
        <p:spPr>
          <a:xfrm>
            <a:off x="457200" y="1234440"/>
            <a:ext cx="11247120" cy="4572000"/>
          </a:xfrm>
          <a:prstGeom prst="rect">
            <a:avLst/>
          </a:prstGeom>
          <a:noFill/>
        </p:spPr>
        <p:txBody>
          <a:bodyPr wrap="square">
            <a:spAutoFit/>
          </a:bodyPr>
          <a:lstStyle/>
          <a:p>
            <a:pPr algn="l"/>
            <a:r>
              <a:rPr sz="1000" b="0">
                <a:solidFill>
                  <a:srgbClr val="222222"/>
                </a:solidFill>
                <a:latin typeface="Courier New"/>
              </a:rPr>
              <a:t>graph LR
    A[Cloud Provider] --&gt;|API|&gt; B[Cloud-Native Core Banking Platform]
    B --&gt;|Database|&gt; C[Database Server]
    B --&gt;|Message Queue|&gt; D[Message Queue Server]
    B --&gt;|API Gateway|&gt; E[API Gateway]
    B --&gt;|Security|&gt; F[Security Server]
    C --&gt;|Data|&gt; G[Data Storage]
    D --&gt;|Message|&gt; H[Message Queue]
    E --&gt;|API|&gt; I[Client Application]
    F --&gt;|Security|&gt; J[Security]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5. Team Structure &amp; Operating Model</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Our team will consist of the following members:
  •  Solution Architect: 2 members, onshore
  •  Cloud Engineer: 4 members, offshore
  •  Core Banking Specialist: 3 members, nearshore
  •  Integration Specialist: 2 members, offshore
  •  Analytics &amp; AI Specialist: 1 member, onshore
  •  Security Specialist: 1 member, onshore
  •  Project Manager: 1 member, onshore
  •  QA Engineer: 2 members, offshore
  •  Reporting &amp; Dashboards Specialist: 1 member, nearshore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6. Delivery Roadmap</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The delivery roadmap for the project will consist of the following phases:
  •  Phase 1: Requirements gathering and solution design (4 weeks)
  •  Phase 2: Solution development and testing (16 weeks)
  •  Phase 3: Solution deployment and integration (8 weeks)
  •  Phase 4: Solution testing and validation (4 weeks)
  •  Phase 5: Solution go-live and support (4 weeks)
  •  The project will be delivered using a phased approach, with each phase building on the previous one. The phases will be delivered in a sequential manner, with each phase completing before the next one begins.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7. Commercial Summary</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The total cost of the project will be ₹1,43,28,000 (approximately $1.9 million USD). The cost will be broken down into the following components:
  •  Solution Architect: ₹2,80,000 (approximately $37,000 USD) per month for 2 members
  •  Cloud Engineer: ₹1,44,000 (approximately $19,000 USD) per month for 4 members
  •  Core Banking Specialist: ₹1,10,000 (approximately $14,000 USD) per month for 3 members
  •  Integration Specialist: ₹56,000 (approximately $7,000 USD) per month for 2 members
  •  Analytics &amp; AI Specialist: ₹80,000 (approximately $10,000 USD) per month for 1 member
  •  Security Specialist: ₹80,000 (approximately $10,000 USD) per month for 1 member
  •  Project Manager: ₹1,44,000 (approximately $19,000 USD) per month for 1 member
  •  QA Engineer: ₹40,000 (approximately $5,000 USD) per month for 2 members
  •  Reporting &amp; Dashboards Specialist: ₹40,000 (approximately $5,000 USD) per month for 1 member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8. Why Tech Mahindra?</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Tech Mahindra is a leading provider of digital transformation and business re-engineering services and solutions. We have a strong expertise in cloud-native core banking platforms and have worked with several leading banks in the past. Our team has a deep understanding of the banking industry and has a proven track record of delivering successful core banking system modernization projects.
  •  We have the following differentiators that set us apart from our competitors:
  •  Cloud-Native Expertise: We have a strong expertise in cloud-native core banking platforms and have worked with several leading banks in the past.
  •  Proven Track Record: We have a proven track record of delivering successful core banking system modernization projects.
  •  Strong Industry Knowledge: We have a deep understanding of the banking industry and its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9. Next Steps</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We believe that our solution will meet HDFC Bank's requirements and exceed its expectations. We are committed to delivering a high-quality solution that meets HDFC Bank's requirements and exceeds its expectations.
  •  The next steps will be:
  •  Requirements Gathering: We will conduct a thorough requirements gathering exercise to understand HDFC Bank's requirements and preferences.
  •  Solution Design: We will design a solution that meets HDFC Bank's requirements and preferences.
  •  Solution Development: We will develop the solution using a cloud-native architecture and the latest technologies and best practices in the industry.
  •  Solution Testing: We will test the solution to ensure that it meets HDFC Bank's requirements and preferences.
  •  Solution Deployment: We will deploy the solution in a phased manner, with each phase building on the previous one.
  •  Solution Go-Live: We will go live with the solution and provide support and maintenance services to HDFC Bank.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578"/>
        </a:solidFill>
        <a:effectLst/>
      </p:bgPr>
    </p:bg>
    <p:spTree>
      <p:nvGrpSpPr>
        <p:cNvPr id="1" name=""/>
        <p:cNvGrpSpPr/>
        <p:nvPr/>
      </p:nvGrpSpPr>
      <p:grpSpPr/>
      <p:sp>
        <p:nvSpPr>
          <p:cNvPr id="2" name="Rectangle 1"/>
          <p:cNvSpPr/>
          <p:nvPr/>
        </p:nvSpPr>
        <p:spPr>
          <a:xfrm>
            <a:off x="0" y="5029200"/>
            <a:ext cx="12188952" cy="9144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645920"/>
            <a:ext cx="12188952" cy="1280160"/>
          </a:xfrm>
          <a:prstGeom prst="rect">
            <a:avLst/>
          </a:prstGeom>
          <a:noFill/>
        </p:spPr>
        <p:txBody>
          <a:bodyPr wrap="square">
            <a:spAutoFit/>
          </a:bodyPr>
          <a:lstStyle/>
          <a:p>
            <a:pPr algn="ctr"/>
            <a:r>
              <a:rPr sz="5200" b="1">
                <a:solidFill>
                  <a:srgbClr val="FFFFFF"/>
                </a:solidFill>
                <a:latin typeface="Calibri Light"/>
              </a:rPr>
              <a:t>Thank You</a:t>
            </a:r>
          </a:p>
        </p:txBody>
      </p:sp>
      <p:sp>
        <p:nvSpPr>
          <p:cNvPr id="5" name="TextBox 4"/>
          <p:cNvSpPr txBox="1"/>
          <p:nvPr/>
        </p:nvSpPr>
        <p:spPr>
          <a:xfrm>
            <a:off x="0" y="3108960"/>
            <a:ext cx="12188952" cy="640080"/>
          </a:xfrm>
          <a:prstGeom prst="rect">
            <a:avLst/>
          </a:prstGeom>
          <a:noFill/>
        </p:spPr>
        <p:txBody>
          <a:bodyPr wrap="square">
            <a:spAutoFit/>
          </a:bodyPr>
          <a:lstStyle/>
          <a:p>
            <a:pPr algn="ctr"/>
            <a:r>
              <a:rPr sz="2000" b="0">
                <a:solidFill>
                  <a:srgbClr val="CCDDFF"/>
                </a:solidFill>
                <a:latin typeface="Calibri Light"/>
              </a:rPr>
              <a:t>Tech Mahindra – Run Different</a:t>
            </a:r>
          </a:p>
        </p:txBody>
      </p:sp>
      <p:sp>
        <p:nvSpPr>
          <p:cNvPr id="6" name="TextBox 5"/>
          <p:cNvSpPr txBox="1"/>
          <p:nvPr/>
        </p:nvSpPr>
        <p:spPr>
          <a:xfrm>
            <a:off x="0" y="3931920"/>
            <a:ext cx="12188952" cy="457200"/>
          </a:xfrm>
          <a:prstGeom prst="rect">
            <a:avLst/>
          </a:prstGeom>
          <a:noFill/>
        </p:spPr>
        <p:txBody>
          <a:bodyPr wrap="square">
            <a:spAutoFit/>
          </a:bodyPr>
          <a:lstStyle/>
          <a:p>
            <a:pPr algn="ctr"/>
            <a:r>
              <a:rPr sz="1300" b="0">
                <a:solidFill>
                  <a:srgbClr val="8899BB"/>
                </a:solidFill>
                <a:latin typeface="Calibri Light"/>
              </a:rPr>
              <a:t>www.techmahindra.com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