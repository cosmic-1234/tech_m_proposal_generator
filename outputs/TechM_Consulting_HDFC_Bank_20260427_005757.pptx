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82880" cy="6858000"/>
          </a:xfrm>
          <a:prstGeom prst="rect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chm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097280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0" y="27432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31837"/>
                </a:solidFill>
                <a:latin typeface="Arial"/>
              </a:rPr>
              <a:t>STRATEGIC CONSULTING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3474720"/>
            <a:ext cx="7315200" cy="45720"/>
          </a:xfrm>
          <a:prstGeom prst="rect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38404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SOLUTION PROPOSAL &amp;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3891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Prepared Exclusively For: HDFC 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5486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96969"/>
                </a:solidFill>
                <a:latin typeface="Arial"/>
              </a:rPr>
              <a:t>Date: April 27,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58521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31837"/>
                </a:solidFill>
                <a:latin typeface="Arial"/>
              </a:rPr>
              <a:t>STRICTLY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74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C8D2E6"/>
                </a:solidFill>
                <a:latin typeface="Arial"/>
              </a:rPr>
              <a:t>Strategic Highlights &amp; Value Proposition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2004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200400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000F2D"/>
                </a:solidFill>
                <a:latin typeface="Arial"/>
              </a:rPr>
              <a:t>AI-DRIVEN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96969"/>
                </a:solidFill>
                <a:latin typeface="Arial"/>
              </a:rPr>
              <a:t>Methodology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743200"/>
            <a:ext cx="1371600" cy="182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000F2D"/>
                </a:solidFill>
                <a:latin typeface="Arial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96969"/>
                </a:solidFill>
                <a:latin typeface="Arial"/>
              </a:rPr>
              <a:t>Requirements Met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840480"/>
            <a:ext cx="1371600" cy="182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000F2D"/>
                </a:solidFill>
                <a:latin typeface="Arial"/>
              </a:rPr>
              <a:t>SCALABLE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96969"/>
                </a:solidFill>
                <a:latin typeface="Arial"/>
              </a:rPr>
              <a:t>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937760"/>
            <a:ext cx="1371600" cy="182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1206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000F2D"/>
                </a:solidFill>
                <a:latin typeface="Arial"/>
              </a:rPr>
              <a:t>OPTIMIZED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778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96969"/>
                </a:solidFill>
                <a:latin typeface="Arial"/>
              </a:rPr>
              <a:t>Commercials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1463040"/>
            <a:ext cx="77724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31920" y="1463040"/>
            <a:ext cx="7772400" cy="9144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82880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00F2D"/>
                </a:solidFill>
                <a:latin typeface="Arial"/>
              </a:rPr>
              <a:t>KEY PROPOSAL INSIGHTS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651760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2560320"/>
            <a:ext cx="6583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Tech Mahindra – Solution Proposal for HDFC Bank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3474720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3383279"/>
            <a:ext cx="6583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Executive Summary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4297679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4206240"/>
            <a:ext cx="6583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We are pleased to submit this proposal for HDFC Bank's cloud-native core banking platform modernization project. Our team at Tech Mahindra has extensive experience in delivering la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5120640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5029200"/>
            <a:ext cx="6583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Our proposed solution leverages Amazon Web Services (AWS) as the cloud provider and Temenos T24 or similar cloud-native core banking platform to ensure scalability, digital channel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96969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696969"/>
                </a:solidFill>
                <a:latin typeface="Arial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88952" cy="18288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TECH MAHINDRA – SOLUTION PROPOSAL FOR HDFC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88952" cy="18288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1.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1. 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556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We are pleased to submit this proposal for HDFC Bank's cloud-native core banking platform modernization project. Our team at Tech Mahindra has extensive experience in delivering large-scale banking transformation projects, and we are confident that 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8716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Our proposed solution leverages Amazon Web Services (AWS) as the cloud provider and Temenos T24 or similar cloud-native core banking platform to ensure scalability, digital channel gaps, and RBI regulatory compliance. We will establish a long-term st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1868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Our team will work closely with HDFC Bank to design, develop, test, and deploy the new core banking system, ensuring a 99.999% system uptime SLA. We will also provide ongoing support and maintenance to ensure the continued success of the project.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96969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696969"/>
                </a:solidFill>
                <a:latin typeface="Arial"/>
              </a:rP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88952" cy="18288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2. UNDERSTANDING YOUR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2. UNDERSTANDING YOUR CHALLENGE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556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HDFC Bank is one of India's largest private sector banks, serving over 88 million customers through 8,700+ branches and 21,000+ ATMs. As a systemically important financial institution, HDFC Bank is su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700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The key challenges facing HDFC Bank include: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844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Evaluating cloud-native core banking platforms that meet RBI regulatory requirements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4988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Establishing a long-term strategic technology partnership to ensure a smooth transition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4132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Ensuring scalability and digital channel gaps to deliver a seamless customer experience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7556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6459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Achieving a 99.999% system uptime SLA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96969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696969"/>
                </a:solidFill>
                <a:latin typeface="Arial"/>
              </a:rPr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88952" cy="18288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3. OUR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3. OUR PROPOSED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556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Our proposed solution addresses HDFC Bank's key challenges by: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700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Evaluating cloud-native core banking platforms that meet RBI regulatory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844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Establishing a long-term strategic technology partnership to ensure a smooth transition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4988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Ensuring scalability and digital channel gaps to deliver a seamless customer experience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4132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Achieving a 99.999% system uptime SLA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7556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6459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Our solution will leverage Amazon Web Services (AWS) as the cloud provider and Temenos T24 or similar cloud-native core banking platform to ensure scalability, digital channel gaps, and RBI regulatory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96969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696969"/>
                </a:solidFill>
                <a:latin typeface="Arial"/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88952" cy="18288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4. 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ARCHITECTURE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74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C8D2E6"/>
                </a:solidFill>
                <a:latin typeface="Arial"/>
              </a:rPr>
              <a:t>Target Operating Model &amp; Architecture Blueprint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9418320" cy="48463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696969"/>
                </a:solidFill>
                <a:latin typeface="Arial"/>
              </a:rPr>
              <a:t>ARCHITECTURE SCHEMATIC UNAVAILABLE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96969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696969"/>
                </a:solidFill>
                <a:latin typeface="Arial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88952" cy="18288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5. TEAM STRUCTURE &amp;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5. TEAM STRUCTURE &amp; OPERATING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556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Our team will consist of the following members: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8716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Solution Architect: 1 onshore (India) member with 160 hours/month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1868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Technical Lead: 1 onshore (India) member with 160 hours/month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5020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DevOps Engineer: 2 offshore members with 160 hours/month each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8172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5720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Our operating model will be a hybrid onshore/offshore model, with the Solution Architect and Technical Lead based in India and the DevOps Engineers based offshore.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96969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696969"/>
                </a:solidFill>
                <a:latin typeface="Arial"/>
              </a:rPr>
              <a:t>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88952" cy="18288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6. DELIVERY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6. DELIVERY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556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Our delivery roadmap will consist of the following phases: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8716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Phase 1: Solution Design (2 months)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1868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Phase 2: Development (6 months)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5020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Phase 3: Testing &amp; Deployment (2 months)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8172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5720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Our team will work closely with HDFC Bank to ensure a smooth transition and minimize business disruption.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96969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696969"/>
                </a:solidFill>
                <a:latin typeface="Arial"/>
              </a:rPr>
              <a:t>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88952" cy="18288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7. COMMERCIAL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7. COMMERCIAL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74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C8D2E6"/>
                </a:solidFill>
                <a:latin typeface="Arial"/>
              </a:rPr>
              <a:t>Commercial &amp; Operational Metrics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>
                    <a:solidFill>
                      <a:srgbClr val="000F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Count</a:t>
                      </a:r>
                    </a:p>
                  </a:txBody>
                  <a:tcPr>
                    <a:solidFill>
                      <a:srgbClr val="000F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Location</a:t>
                      </a:r>
                    </a:p>
                  </a:txBody>
                  <a:tcPr>
                    <a:solidFill>
                      <a:srgbClr val="000F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Hrs/Month</a:t>
                      </a:r>
                    </a:p>
                  </a:txBody>
                  <a:tcPr>
                    <a:solidFill>
                      <a:srgbClr val="000F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Rate/hr</a:t>
                      </a:r>
                    </a:p>
                  </a:txBody>
                  <a:tcPr>
                    <a:solidFill>
                      <a:srgbClr val="000F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Monthly Cost</a:t>
                      </a:r>
                    </a:p>
                  </a:txBody>
                  <a:tcPr>
                    <a:solidFill>
                      <a:srgbClr val="000F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Solution 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Onshore (India)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$100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$16,000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Technical Lead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Onshore (India)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$100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$16,000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DevOps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Offshore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$30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$9,600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**Total**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**$41,600**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96969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696969"/>
                </a:solidFill>
                <a:latin typeface="Arial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7. COMMERCIAL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74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C8D2E6"/>
                </a:solidFill>
                <a:latin typeface="Arial"/>
              </a:rPr>
              <a:t>Commercial &amp; Operational Metrics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>
                    <a:solidFill>
                      <a:srgbClr val="000F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Duration</a:t>
                      </a:r>
                    </a:p>
                  </a:txBody>
                  <a:tcPr>
                    <a:solidFill>
                      <a:srgbClr val="000F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Team Size</a:t>
                      </a:r>
                    </a:p>
                  </a:txBody>
                  <a:tcPr>
                    <a:solidFill>
                      <a:srgbClr val="000F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Total Cost</a:t>
                      </a:r>
                    </a:p>
                  </a:txBody>
                  <a:tcPr>
                    <a:solidFill>
                      <a:srgbClr val="000F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Phase 1: Solution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2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$124,800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Phase 2: Development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6 months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$311,200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Phase 3: Testing &amp;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2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$124,800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**Total**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**$560,800**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96969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696969"/>
                </a:solidFill>
                <a:latin typeface="Arial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7. COMMERCIAL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556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Our commercial model is based on a rate card, with the following rates: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8716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Our total cost for the project will be $560,800, broken down into the following phases: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96969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696969"/>
                </a:solidFill>
                <a:latin typeface="Arial"/>
              </a:rPr>
              <a:t>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88952" cy="18288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8. WHY TECH MAHINDRA?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8. WHY TECH MAHINDRA?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556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We believe that our solution will address HDFC Bank's key challenges and deliver a seamless customer experience. Our team has extensive experience in delivering large-scale banking transformation projects, and we are confident that our solution will 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8716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Our differentiators include: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1868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Our team's extensive experience in delivering large-scale banking transformation projects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5020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Our ability to establish a long-term strategic technology partnership with HDFC Bank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8172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5720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Our commitment to ensuring RBI regulatory compliance and a 99.999% system uptime SLA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96969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696969"/>
                </a:solidFill>
                <a:latin typeface="Arial"/>
              </a:rPr>
              <a:t>21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88952" cy="18288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9.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9.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556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We believe that our solution will address HDFC Bank's key challenges and deliver a seamless customer experience. We would like to propose the following next steps: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8716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Conduct a detailed requirements analysis to ensure that our solution meets HDFC Bank's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1868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Establish a project team to work closely with HDFC Bank to design, develop, test, and deploy the new core banking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5020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Develop a detailed project plan and timeline to ensure a smooth transition and minimize business disruption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8172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5720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We look forward to the opportunity to work with HDFC Bank and deliver a successful project.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96969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696969"/>
                </a:solidFill>
                <a:latin typeface="Arial"/>
              </a:rPr>
              <a:t>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57400"/>
            <a:ext cx="12188952" cy="27432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697480"/>
            <a:ext cx="121889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03320"/>
            <a:ext cx="121889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Arial"/>
              </a:rPr>
              <a:t>We look forward to a successful partnership.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943600"/>
            <a:ext cx="121889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C8D2E6"/>
                </a:solidFill>
                <a:latin typeface="Arial"/>
              </a:rPr>
              <a:t>TECH MAHINDRA STRATEGIC CONSULTING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696969"/>
                </a:solidFill>
                <a:latin typeface="Arial"/>
              </a:rPr>
              <a:t>confidential | proprietary | strictly not for distribution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