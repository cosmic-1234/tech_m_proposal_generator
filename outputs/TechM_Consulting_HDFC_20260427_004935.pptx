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82880" cy="685800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chm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097280"/>
            <a:ext cx="1900052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2743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31837"/>
                </a:solidFill>
                <a:latin typeface="Arial"/>
              </a:rPr>
              <a:t>STRATEGIC CONSULTING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3474720"/>
            <a:ext cx="7315200" cy="4572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840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SOLUTION PROPOSAL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3891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Prepared Exclusively For: HDFC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486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96969"/>
                </a:solidFill>
                <a:latin typeface="Arial"/>
              </a:rPr>
              <a:t>Date: April 27,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852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31837"/>
                </a:solidFill>
                <a:latin typeface="Arial"/>
              </a:rPr>
              <a:t>STRICTLY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8D2E6"/>
                </a:solidFill>
                <a:latin typeface="Arial"/>
              </a:rPr>
              <a:t>Strategic Highlights &amp; Value Proposition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2004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200400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F2D"/>
                </a:solidFill>
                <a:latin typeface="Arial"/>
              </a:rPr>
              <a:t>AI-DRIVEN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Methodology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13716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F2D"/>
                </a:solidFill>
                <a:latin typeface="Arial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Requirements Met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840480"/>
            <a:ext cx="13716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F2D"/>
                </a:solidFill>
                <a:latin typeface="Arial"/>
              </a:rPr>
              <a:t>SCALABLE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937760"/>
            <a:ext cx="13716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F2D"/>
                </a:solidFill>
                <a:latin typeface="Arial"/>
              </a:rPr>
              <a:t>OPTIMIZED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Commercials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463040"/>
            <a:ext cx="77724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1463040"/>
            <a:ext cx="7772400" cy="9144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82880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0F2D"/>
                </a:solidFill>
                <a:latin typeface="Arial"/>
              </a:rPr>
              <a:t>KEY PROPOSAL INSIGHTS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651760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56032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Tech Mahindra – Solution Proposal for HDFC Bank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474720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383279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Executive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297679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20624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We are pleased to submit this proposal for HDFC Bank's Core Banking System (CBS) modernization project. Our team at Tech Mahindra has a proven track record of delivering successful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5120640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502920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Our proposed solution is designed to meet HDFC Bank's key requirements, including: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TECH MAHINDRA – SOLUTION PROPOSAL FOR HDFC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1.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1. 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We are pleased to submit this proposal for HDFC Bank's Core Banking System (CBS) modernization project. Our team at Tech Mahindra has a proven track record of delivering successful digital transformat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700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Our proposed solution is designed to meet HDFC Bank's key requirements, including: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844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Core Banking System (CBS) modernization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988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Cloud-native core banking platforms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132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Establishment of a long-term strategic technology partnership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Ensuring RBI regulatory compliance post-upgrade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6700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5603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We believe that our solution will provide HDFC Bank with a scalable, secure, and reliable core banking system that meets the needs of its growing customer base.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2. UNDERSTANDING YOUR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2. UNDERSTANDING YOUR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HDFC Bank is one of India's largest private sector banks, serving over 88 million customers across 8,700+ branches and 21,000+ ATMs. With a balance sheet size exceeding ₹35 trillion and a market capit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700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The key challenges that HDFC Bank faces include: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844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Inability to support growing customer base and increasing transaction volumes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988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Limited scalability and flexibility to adapt to changing business needs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132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Compliance with RBI regulatory requirements for core banking systems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High maintenance costs and downtime due to legacy system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3. OUR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3. OUR 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Our proposed solution for HDFC Bank's Core Banking System (CBS) modernization project is designed to address the key challenges and requirements outlined above. The solution consists of the following 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700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Cloud-native core banking platform evaluation: We will evaluate and recommend a cloud-native core banking platform that meets HDFC Bank's requirements for scalability, security, and reliability.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844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Establishment of a long-term strategic technology partnership: We will establish a long-term strategic technology partnership with HDFC Bank to ensure that the core banking system is aligned with the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988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Ensuring RBI regulatory compliance: We will ensure that the core banking system is compliant with RBI regulatory requirements for core banking 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132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Improved system uptime and reliability: We will design and implement a solution that ensures 99.999% system uptime and reliability.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Enhanced scalability: We will design and implement a solution that is scalable to support HDFC Bank's growing customer base and increasing transaction volumes.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4.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ARCHITECTURE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8D2E6"/>
                </a:solidFill>
                <a:latin typeface="Arial"/>
              </a:rPr>
              <a:t>Target Operating Model &amp; Architecture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18320" cy="4846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696969"/>
                </a:solidFill>
                <a:latin typeface="Arial"/>
              </a:rPr>
              <a:t>ARCHITECTURE SCHEMATIC UNAVAILABLE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5. TEAM STRUCTURE &amp;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5. TEAM STRUCTURE &amp;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Our team will consist of the following members: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700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Solution Architect: 1 person, onshore, 160 hours/month, $100/hour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844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Cloud Engineer: 2 people, offshore, 240 hours/month, $30/hour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988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Core Banking Specialist: 1 person, nearshore, 200 hours/month, $55/hour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132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DevOps Engineer: 1 person, offshore, 200 hours/month, $28/hour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Security Specialist: 1 person, onshore, 160 hours/month, $90/hour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6700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5603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API Gateway Specialist: 1 person, offshore, 160 hours/month, $32/hour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5844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4747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Data Storage Specialist: 1 person, nearshore, 160 hours/month, $50/hour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4988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3891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Project Manager: 1 person, onshore, 160 hours/month, $110/hour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4132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53035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Quality Assurance Engineer: 2 people, offshore, 240 hours/month, $25/hour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5. TEAM STRUCTURE &amp;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operating model will be a hybrid model, with a combination of onshore, nearshore, and offshore resources.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6. DELIVERY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6. DELIVERY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Our delivery roadmap will consist of the following phases: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700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Phase 1: Requirements gathering and solution design (4 weeks)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844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Phase 2: Cloud-native core banking platform evaluation and selection (6 weeks)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988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Phase 3: Core banking system implementation (16 weeks)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132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Phase 4: Testing and quality assurance (8 weeks)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Phase 5: Deployment and go-live (4 weeks)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7. COMMERCIAL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7. COMMERCIAL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8D2E6"/>
                </a:solidFill>
                <a:latin typeface="Arial"/>
              </a:rPr>
              <a:t>Commercial &amp; Operational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Location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Hrs/Month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Rate/hr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Monthly Cost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Solution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Onshore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Cloud Engineer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Offshore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$30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$14,400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Core Banking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Nearshore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$11,000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DevOps Engineer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Offshore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$28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$5,600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Security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Onshore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$14,400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API Gateway Specialist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Offshore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$32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$5,120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Data Storage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Nearshore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Project Manager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Onshore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$110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$17,600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Quality Assurance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Offshore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F2D"/>
                          </a:solidFill>
                          <a:latin typeface="Arial"/>
                        </a:rPr>
                        <a:t>$12,000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7. COMMERCIAL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Our total cost of ownership for the project will be $2.5 million, broken down as follows: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8. WHY TECH MAHINDRA?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8. WHY TECH MAHINDRA?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We believe that our solution will provide HDFC Bank with a scalable, secure, and reliable core banking system that meets the needs of its growing customer base. Our team has a proven track record of delivering successful digital transformation projec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8716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Proven track record of delivering successful digital transformation projects for leading financial institutions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1868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Expertise in cloud-native core banking platforms and RBI regulatory compliance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5020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Ability to provide a scalable and secure core banking system that meets the needs of HDFC Bank's growing customer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8172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Strong partnership with HDFC Bank to ensure that the core banking system is aligned with the bank's business objectives and is able to adapt to changing business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9.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9.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We propose the following next steps: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700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Schedule a meeting with HDFC Bank's project team to discuss the proposal in 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844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Provide a detailed project plan and timeline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988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Conduct a proof-of-concept (POC) to demonstrate the feasibility of the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132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Finalize the contract and begin the project 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45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We believe that our solution will provide HDFC Bank with a scalable, secure, and reliable core banking system that meets the needs of its growing customer base. We look forward to the opportunity to 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57400"/>
            <a:ext cx="12188952" cy="27432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97480"/>
            <a:ext cx="121889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rial"/>
              </a:rPr>
              <a:t>We look forward to a successful partnership.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8D2E6"/>
                </a:solidFill>
                <a:latin typeface="Arial"/>
              </a:rPr>
              <a:t>TECH MAHINDRA STRATEGIC 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96969"/>
                </a:solidFill>
                <a:latin typeface="Arial"/>
              </a:rPr>
              <a:t>confidential | proprietary | strictly not for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