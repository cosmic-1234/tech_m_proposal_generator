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0"/>
            <a:ext cx="731520" cy="68580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0"/>
            <a:ext cx="182880" cy="6858000"/>
          </a:xfrm>
          <a:prstGeom prst="rect">
            <a:avLst/>
          </a:prstGeom>
          <a:solidFill>
            <a:srgbClr val="696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echm_logo.jpg"/>
          <p:cNvPicPr>
            <a:picLocks noChangeAspect="1"/>
          </p:cNvPicPr>
          <p:nvPr/>
        </p:nvPicPr>
        <p:blipFill>
          <a:blip r:embed="rId2"/>
          <a:stretch>
            <a:fillRect/>
          </a:stretch>
        </p:blipFill>
        <p:spPr>
          <a:xfrm>
            <a:off x="1645920" y="1097280"/>
            <a:ext cx="1900052" cy="731520"/>
          </a:xfrm>
          <a:prstGeom prst="rect">
            <a:avLst/>
          </a:prstGeom>
        </p:spPr>
      </p:pic>
      <p:sp>
        <p:nvSpPr>
          <p:cNvPr id="5" name="TextBox 4"/>
          <p:cNvSpPr txBox="1"/>
          <p:nvPr/>
        </p:nvSpPr>
        <p:spPr>
          <a:xfrm>
            <a:off x="1645920" y="2743200"/>
            <a:ext cx="9144000" cy="731520"/>
          </a:xfrm>
          <a:prstGeom prst="rect">
            <a:avLst/>
          </a:prstGeom>
          <a:noFill/>
        </p:spPr>
        <p:txBody>
          <a:bodyPr wrap="square" anchor="t">
            <a:spAutoFit/>
          </a:bodyPr>
          <a:lstStyle/>
          <a:p>
            <a:pPr algn="l"/>
            <a:r>
              <a:rPr sz="2400" b="1" i="0">
                <a:solidFill>
                  <a:srgbClr val="E31837"/>
                </a:solidFill>
                <a:latin typeface="Arial"/>
              </a:rPr>
              <a:t>STRATEGIC CONSULTING</a:t>
            </a:r>
          </a:p>
        </p:txBody>
      </p:sp>
      <p:sp>
        <p:nvSpPr>
          <p:cNvPr id="6" name="Rectangle 5"/>
          <p:cNvSpPr/>
          <p:nvPr/>
        </p:nvSpPr>
        <p:spPr>
          <a:xfrm>
            <a:off x="1645920" y="3474720"/>
            <a:ext cx="7315200" cy="45720"/>
          </a:xfrm>
          <a:prstGeom prst="rect">
            <a:avLst/>
          </a:prstGeom>
          <a:solidFill>
            <a:srgbClr val="696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3840480"/>
            <a:ext cx="9144000" cy="548640"/>
          </a:xfrm>
          <a:prstGeom prst="rect">
            <a:avLst/>
          </a:prstGeom>
          <a:noFill/>
        </p:spPr>
        <p:txBody>
          <a:bodyPr wrap="square" anchor="t">
            <a:spAutoFit/>
          </a:bodyPr>
          <a:lstStyle/>
          <a:p>
            <a:pPr algn="l"/>
            <a:r>
              <a:rPr sz="2000" b="0" i="0">
                <a:solidFill>
                  <a:srgbClr val="FFFFFF"/>
                </a:solidFill>
                <a:latin typeface="Arial"/>
              </a:rPr>
              <a:t>SOLUTION PROPOSAL &amp; ROADMAP</a:t>
            </a:r>
          </a:p>
        </p:txBody>
      </p:sp>
      <p:sp>
        <p:nvSpPr>
          <p:cNvPr id="8" name="TextBox 7"/>
          <p:cNvSpPr txBox="1"/>
          <p:nvPr/>
        </p:nvSpPr>
        <p:spPr>
          <a:xfrm>
            <a:off x="1645920" y="4389120"/>
            <a:ext cx="9144000" cy="548640"/>
          </a:xfrm>
          <a:prstGeom prst="rect">
            <a:avLst/>
          </a:prstGeom>
          <a:noFill/>
        </p:spPr>
        <p:txBody>
          <a:bodyPr wrap="square" anchor="t">
            <a:spAutoFit/>
          </a:bodyPr>
          <a:lstStyle/>
          <a:p>
            <a:pPr algn="l"/>
            <a:r>
              <a:rPr sz="1600" b="0" i="0">
                <a:solidFill>
                  <a:srgbClr val="C8D2E6"/>
                </a:solidFill>
                <a:latin typeface="Arial"/>
              </a:rPr>
              <a:t>Prepared Exclusively For: HDFC</a:t>
            </a:r>
          </a:p>
        </p:txBody>
      </p:sp>
      <p:sp>
        <p:nvSpPr>
          <p:cNvPr id="9" name="TextBox 8"/>
          <p:cNvSpPr txBox="1"/>
          <p:nvPr/>
        </p:nvSpPr>
        <p:spPr>
          <a:xfrm>
            <a:off x="1645920" y="5486400"/>
            <a:ext cx="4572000" cy="457200"/>
          </a:xfrm>
          <a:prstGeom prst="rect">
            <a:avLst/>
          </a:prstGeom>
          <a:noFill/>
        </p:spPr>
        <p:txBody>
          <a:bodyPr wrap="square" anchor="t">
            <a:spAutoFit/>
          </a:bodyPr>
          <a:lstStyle/>
          <a:p>
            <a:pPr algn="l"/>
            <a:r>
              <a:rPr sz="1200" b="0" i="0">
                <a:solidFill>
                  <a:srgbClr val="696969"/>
                </a:solidFill>
                <a:latin typeface="Arial"/>
              </a:rPr>
              <a:t>Date: April 27, 2026</a:t>
            </a:r>
          </a:p>
        </p:txBody>
      </p:sp>
      <p:sp>
        <p:nvSpPr>
          <p:cNvPr id="10" name="TextBox 9"/>
          <p:cNvSpPr txBox="1"/>
          <p:nvPr/>
        </p:nvSpPr>
        <p:spPr>
          <a:xfrm>
            <a:off x="1645920" y="5852160"/>
            <a:ext cx="4572000" cy="457200"/>
          </a:xfrm>
          <a:prstGeom prst="rect">
            <a:avLst/>
          </a:prstGeom>
          <a:noFill/>
        </p:spPr>
        <p:txBody>
          <a:bodyPr wrap="square" anchor="t">
            <a:spAutoFit/>
          </a:bodyPr>
          <a:lstStyle/>
          <a:p>
            <a:pPr algn="l"/>
            <a:r>
              <a:rPr sz="1200" b="1" i="0">
                <a:solidFill>
                  <a:srgbClr val="E31837"/>
                </a:solidFill>
                <a:latin typeface="Arial"/>
              </a:rPr>
              <a:t>STRICTLY CONFIDENTIAL</a:t>
            </a:r>
          </a:p>
        </p:txBody>
      </p:sp>
      <p:sp>
        <p:nvSpPr>
          <p:cNvPr id="11" name="TextBox 10"/>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12" name="Rectangle 11"/>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2F5"/>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EXECUTIVE SUMMARY</a:t>
            </a:r>
          </a:p>
        </p:txBody>
      </p:sp>
      <p:sp>
        <p:nvSpPr>
          <p:cNvPr id="5" name="TextBox 4"/>
          <p:cNvSpPr txBox="1"/>
          <p:nvPr/>
        </p:nvSpPr>
        <p:spPr>
          <a:xfrm>
            <a:off x="457200" y="685800"/>
            <a:ext cx="11274552" cy="365760"/>
          </a:xfrm>
          <a:prstGeom prst="rect">
            <a:avLst/>
          </a:prstGeom>
          <a:noFill/>
        </p:spPr>
        <p:txBody>
          <a:bodyPr wrap="square" anchor="t">
            <a:spAutoFit/>
          </a:bodyPr>
          <a:lstStyle/>
          <a:p>
            <a:pPr algn="l"/>
            <a:r>
              <a:rPr sz="1200" b="0" i="1">
                <a:solidFill>
                  <a:srgbClr val="C8D2E6"/>
                </a:solidFill>
                <a:latin typeface="Arial"/>
              </a:rPr>
              <a:t>Strategic Highlights &amp; Value Proposition</a:t>
            </a:r>
          </a:p>
        </p:txBody>
      </p:sp>
      <p:sp>
        <p:nvSpPr>
          <p:cNvPr id="6" name="Rectangle 5"/>
          <p:cNvSpPr/>
          <p:nvPr/>
        </p:nvSpPr>
        <p:spPr>
          <a:xfrm>
            <a:off x="457200" y="1463040"/>
            <a:ext cx="320040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200400"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28800"/>
            <a:ext cx="3200400" cy="457200"/>
          </a:xfrm>
          <a:prstGeom prst="rect">
            <a:avLst/>
          </a:prstGeom>
          <a:noFill/>
        </p:spPr>
        <p:txBody>
          <a:bodyPr wrap="square" anchor="t">
            <a:spAutoFit/>
          </a:bodyPr>
          <a:lstStyle/>
          <a:p>
            <a:pPr algn="ctr"/>
            <a:r>
              <a:rPr sz="2400" b="1" i="0">
                <a:solidFill>
                  <a:srgbClr val="000F2D"/>
                </a:solidFill>
                <a:latin typeface="Arial"/>
              </a:rPr>
              <a:t>AI-DRIVEN</a:t>
            </a:r>
          </a:p>
        </p:txBody>
      </p:sp>
      <p:sp>
        <p:nvSpPr>
          <p:cNvPr id="9" name="TextBox 8"/>
          <p:cNvSpPr txBox="1"/>
          <p:nvPr/>
        </p:nvSpPr>
        <p:spPr>
          <a:xfrm>
            <a:off x="457200" y="2286000"/>
            <a:ext cx="3200400" cy="274320"/>
          </a:xfrm>
          <a:prstGeom prst="rect">
            <a:avLst/>
          </a:prstGeom>
          <a:noFill/>
        </p:spPr>
        <p:txBody>
          <a:bodyPr wrap="square" anchor="t">
            <a:spAutoFit/>
          </a:bodyPr>
          <a:lstStyle/>
          <a:p>
            <a:pPr algn="ctr"/>
            <a:r>
              <a:rPr sz="1200" b="0" i="0">
                <a:solidFill>
                  <a:srgbClr val="696969"/>
                </a:solidFill>
                <a:latin typeface="Arial"/>
              </a:rPr>
              <a:t>Methodology</a:t>
            </a:r>
          </a:p>
        </p:txBody>
      </p:sp>
      <p:sp>
        <p:nvSpPr>
          <p:cNvPr id="10" name="Rectangle 9"/>
          <p:cNvSpPr/>
          <p:nvPr/>
        </p:nvSpPr>
        <p:spPr>
          <a:xfrm>
            <a:off x="1371600" y="2743200"/>
            <a:ext cx="137160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926080"/>
            <a:ext cx="3200400" cy="457200"/>
          </a:xfrm>
          <a:prstGeom prst="rect">
            <a:avLst/>
          </a:prstGeom>
          <a:noFill/>
        </p:spPr>
        <p:txBody>
          <a:bodyPr wrap="square" anchor="t">
            <a:spAutoFit/>
          </a:bodyPr>
          <a:lstStyle/>
          <a:p>
            <a:pPr algn="ctr"/>
            <a:r>
              <a:rPr sz="2400" b="1" i="0">
                <a:solidFill>
                  <a:srgbClr val="000F2D"/>
                </a:solidFill>
                <a:latin typeface="Arial"/>
              </a:rPr>
              <a:t>100%</a:t>
            </a:r>
          </a:p>
        </p:txBody>
      </p:sp>
      <p:sp>
        <p:nvSpPr>
          <p:cNvPr id="12" name="TextBox 11"/>
          <p:cNvSpPr txBox="1"/>
          <p:nvPr/>
        </p:nvSpPr>
        <p:spPr>
          <a:xfrm>
            <a:off x="457200" y="3383280"/>
            <a:ext cx="3200400" cy="274320"/>
          </a:xfrm>
          <a:prstGeom prst="rect">
            <a:avLst/>
          </a:prstGeom>
          <a:noFill/>
        </p:spPr>
        <p:txBody>
          <a:bodyPr wrap="square" anchor="t">
            <a:spAutoFit/>
          </a:bodyPr>
          <a:lstStyle/>
          <a:p>
            <a:pPr algn="ctr"/>
            <a:r>
              <a:rPr sz="1200" b="0" i="0">
                <a:solidFill>
                  <a:srgbClr val="696969"/>
                </a:solidFill>
                <a:latin typeface="Arial"/>
              </a:rPr>
              <a:t>Requirements Met</a:t>
            </a:r>
          </a:p>
        </p:txBody>
      </p:sp>
      <p:sp>
        <p:nvSpPr>
          <p:cNvPr id="13" name="Rectangle 12"/>
          <p:cNvSpPr/>
          <p:nvPr/>
        </p:nvSpPr>
        <p:spPr>
          <a:xfrm>
            <a:off x="1371600" y="3840480"/>
            <a:ext cx="137160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023360"/>
            <a:ext cx="3200400" cy="457200"/>
          </a:xfrm>
          <a:prstGeom prst="rect">
            <a:avLst/>
          </a:prstGeom>
          <a:noFill/>
        </p:spPr>
        <p:txBody>
          <a:bodyPr wrap="square" anchor="t">
            <a:spAutoFit/>
          </a:bodyPr>
          <a:lstStyle/>
          <a:p>
            <a:pPr algn="ctr"/>
            <a:r>
              <a:rPr sz="2400" b="1" i="0">
                <a:solidFill>
                  <a:srgbClr val="000F2D"/>
                </a:solidFill>
                <a:latin typeface="Arial"/>
              </a:rPr>
              <a:t>SCALABLE</a:t>
            </a:r>
          </a:p>
        </p:txBody>
      </p:sp>
      <p:sp>
        <p:nvSpPr>
          <p:cNvPr id="15" name="TextBox 14"/>
          <p:cNvSpPr txBox="1"/>
          <p:nvPr/>
        </p:nvSpPr>
        <p:spPr>
          <a:xfrm>
            <a:off x="457200" y="4480560"/>
            <a:ext cx="3200400" cy="274320"/>
          </a:xfrm>
          <a:prstGeom prst="rect">
            <a:avLst/>
          </a:prstGeom>
          <a:noFill/>
        </p:spPr>
        <p:txBody>
          <a:bodyPr wrap="square" anchor="t">
            <a:spAutoFit/>
          </a:bodyPr>
          <a:lstStyle/>
          <a:p>
            <a:pPr algn="ctr"/>
            <a:r>
              <a:rPr sz="1200" b="0" i="0">
                <a:solidFill>
                  <a:srgbClr val="696969"/>
                </a:solidFill>
                <a:latin typeface="Arial"/>
              </a:rPr>
              <a:t>Architecture</a:t>
            </a:r>
          </a:p>
        </p:txBody>
      </p:sp>
      <p:sp>
        <p:nvSpPr>
          <p:cNvPr id="16" name="Rectangle 15"/>
          <p:cNvSpPr/>
          <p:nvPr/>
        </p:nvSpPr>
        <p:spPr>
          <a:xfrm>
            <a:off x="1371600" y="4937760"/>
            <a:ext cx="137160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5120640"/>
            <a:ext cx="3200400" cy="457200"/>
          </a:xfrm>
          <a:prstGeom prst="rect">
            <a:avLst/>
          </a:prstGeom>
          <a:noFill/>
        </p:spPr>
        <p:txBody>
          <a:bodyPr wrap="square" anchor="t">
            <a:spAutoFit/>
          </a:bodyPr>
          <a:lstStyle/>
          <a:p>
            <a:pPr algn="ctr"/>
            <a:r>
              <a:rPr sz="2400" b="1" i="0">
                <a:solidFill>
                  <a:srgbClr val="000F2D"/>
                </a:solidFill>
                <a:latin typeface="Arial"/>
              </a:rPr>
              <a:t>OPTIMIZED</a:t>
            </a:r>
          </a:p>
        </p:txBody>
      </p:sp>
      <p:sp>
        <p:nvSpPr>
          <p:cNvPr id="18" name="TextBox 17"/>
          <p:cNvSpPr txBox="1"/>
          <p:nvPr/>
        </p:nvSpPr>
        <p:spPr>
          <a:xfrm>
            <a:off x="457200" y="5577840"/>
            <a:ext cx="3200400" cy="274320"/>
          </a:xfrm>
          <a:prstGeom prst="rect">
            <a:avLst/>
          </a:prstGeom>
          <a:noFill/>
        </p:spPr>
        <p:txBody>
          <a:bodyPr wrap="square" anchor="t">
            <a:spAutoFit/>
          </a:bodyPr>
          <a:lstStyle/>
          <a:p>
            <a:pPr algn="ctr"/>
            <a:r>
              <a:rPr sz="1200" b="0" i="0">
                <a:solidFill>
                  <a:srgbClr val="696969"/>
                </a:solidFill>
                <a:latin typeface="Arial"/>
              </a:rPr>
              <a:t>Commercials</a:t>
            </a:r>
          </a:p>
        </p:txBody>
      </p:sp>
      <p:sp>
        <p:nvSpPr>
          <p:cNvPr id="19" name="Rectangle 18"/>
          <p:cNvSpPr/>
          <p:nvPr/>
        </p:nvSpPr>
        <p:spPr>
          <a:xfrm>
            <a:off x="3931920" y="1463040"/>
            <a:ext cx="777240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31920" y="1463040"/>
            <a:ext cx="7772400" cy="9144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0" y="1828800"/>
            <a:ext cx="6858000" cy="457200"/>
          </a:xfrm>
          <a:prstGeom prst="rect">
            <a:avLst/>
          </a:prstGeom>
          <a:noFill/>
        </p:spPr>
        <p:txBody>
          <a:bodyPr wrap="square" anchor="t">
            <a:spAutoFit/>
          </a:bodyPr>
          <a:lstStyle/>
          <a:p>
            <a:pPr algn="l"/>
            <a:r>
              <a:rPr sz="1600" b="1" i="0">
                <a:solidFill>
                  <a:srgbClr val="000F2D"/>
                </a:solidFill>
                <a:latin typeface="Arial"/>
              </a:rPr>
              <a:t>KEY PROPOSAL INSIGHTS</a:t>
            </a:r>
          </a:p>
        </p:txBody>
      </p:sp>
      <p:sp>
        <p:nvSpPr>
          <p:cNvPr id="22" name="Rectangle 21"/>
          <p:cNvSpPr/>
          <p:nvPr/>
        </p:nvSpPr>
        <p:spPr>
          <a:xfrm>
            <a:off x="4389120" y="2651760"/>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2560320"/>
            <a:ext cx="6583680" cy="731520"/>
          </a:xfrm>
          <a:prstGeom prst="rect">
            <a:avLst/>
          </a:prstGeom>
          <a:noFill/>
        </p:spPr>
        <p:txBody>
          <a:bodyPr wrap="square" anchor="t">
            <a:spAutoFit/>
          </a:bodyPr>
          <a:lstStyle/>
          <a:p>
            <a:pPr algn="l"/>
            <a:r>
              <a:rPr sz="1400" b="0" i="0">
                <a:solidFill>
                  <a:srgbClr val="000F2D"/>
                </a:solidFill>
                <a:latin typeface="Arial"/>
              </a:rPr>
              <a:t>Tech Mahindra – Solution Proposal for HDFC Bank Limited</a:t>
            </a:r>
          </a:p>
        </p:txBody>
      </p:sp>
      <p:sp>
        <p:nvSpPr>
          <p:cNvPr id="24" name="Rectangle 23"/>
          <p:cNvSpPr/>
          <p:nvPr/>
        </p:nvSpPr>
        <p:spPr>
          <a:xfrm>
            <a:off x="4389120" y="3474720"/>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3383279"/>
            <a:ext cx="6583680" cy="731520"/>
          </a:xfrm>
          <a:prstGeom prst="rect">
            <a:avLst/>
          </a:prstGeom>
          <a:noFill/>
        </p:spPr>
        <p:txBody>
          <a:bodyPr wrap="square" anchor="t">
            <a:spAutoFit/>
          </a:bodyPr>
          <a:lstStyle/>
          <a:p>
            <a:pPr algn="l"/>
            <a:r>
              <a:rPr sz="1400" b="0" i="0">
                <a:solidFill>
                  <a:srgbClr val="000F2D"/>
                </a:solidFill>
                <a:latin typeface="Arial"/>
              </a:rPr>
              <a:t>Executive Summary</a:t>
            </a:r>
          </a:p>
        </p:txBody>
      </p:sp>
      <p:sp>
        <p:nvSpPr>
          <p:cNvPr id="26" name="Rectangle 25"/>
          <p:cNvSpPr/>
          <p:nvPr/>
        </p:nvSpPr>
        <p:spPr>
          <a:xfrm>
            <a:off x="4389120" y="4297679"/>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4206240"/>
            <a:ext cx="6583680" cy="731520"/>
          </a:xfrm>
          <a:prstGeom prst="rect">
            <a:avLst/>
          </a:prstGeom>
          <a:noFill/>
        </p:spPr>
        <p:txBody>
          <a:bodyPr wrap="square" anchor="t">
            <a:spAutoFit/>
          </a:bodyPr>
          <a:lstStyle/>
          <a:p>
            <a:pPr algn="l"/>
            <a:r>
              <a:rPr sz="1400" b="0" i="0">
                <a:solidFill>
                  <a:srgbClr val="000F2D"/>
                </a:solidFill>
                <a:latin typeface="Arial"/>
              </a:rPr>
              <a:t>We are pleased to submit this proposal to HDFC Bank Limited for the modernization of its core banking system to a cloud-native platform. Our team of experts has carefully analyzed </a:t>
            </a:r>
          </a:p>
        </p:txBody>
      </p:sp>
      <p:sp>
        <p:nvSpPr>
          <p:cNvPr id="28" name="Rectangle 27"/>
          <p:cNvSpPr/>
          <p:nvPr/>
        </p:nvSpPr>
        <p:spPr>
          <a:xfrm>
            <a:off x="4389120" y="5120640"/>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3440" y="5029200"/>
            <a:ext cx="6583680" cy="731520"/>
          </a:xfrm>
          <a:prstGeom prst="rect">
            <a:avLst/>
          </a:prstGeom>
          <a:noFill/>
        </p:spPr>
        <p:txBody>
          <a:bodyPr wrap="square" anchor="t">
            <a:spAutoFit/>
          </a:bodyPr>
          <a:lstStyle/>
          <a:p>
            <a:pPr algn="l"/>
            <a:r>
              <a:rPr sz="1400" b="0" i="0">
                <a:solidFill>
                  <a:srgbClr val="000F2D"/>
                </a:solidFill>
                <a:latin typeface="Arial"/>
              </a:rPr>
              <a:t>Our team has extensive experience in implementing cloud-native core banking platforms, and we are confident that our solution will meet the client's requirements. We propose a phas</a:t>
            </a:r>
          </a:p>
        </p:txBody>
      </p:sp>
      <p:sp>
        <p:nvSpPr>
          <p:cNvPr id="30" name="TextBox 29"/>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31" name="TextBox 30"/>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2</a:t>
            </a:r>
          </a:p>
        </p:txBody>
      </p:sp>
      <p:sp>
        <p:nvSpPr>
          <p:cNvPr id="32" name="Rectangle 31"/>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01</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TECH MAHINDRA – SOLUTION PROPOSAL FOR HDFC BANK LIMITED</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02</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1. EXECUTIVE SUMMARY</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1. EXECUTIVE SUMMARY</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We are pleased to submit this proposal to HDFC Bank Limited for the modernization of its core banking system to a cloud-native platform. Our team of experts has carefully analyzed the client's requirements and developed a comprehensive solution that </a:t>
            </a:r>
          </a:p>
        </p:txBody>
      </p:sp>
      <p:sp>
        <p:nvSpPr>
          <p:cNvPr id="7" name="Rectangle 6"/>
          <p:cNvSpPr/>
          <p:nvPr/>
        </p:nvSpPr>
        <p:spPr>
          <a:xfrm>
            <a:off x="731520" y="248716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640080"/>
          </a:xfrm>
          <a:prstGeom prst="rect">
            <a:avLst/>
          </a:prstGeom>
          <a:noFill/>
        </p:spPr>
        <p:txBody>
          <a:bodyPr wrap="square" anchor="t">
            <a:spAutoFit/>
          </a:bodyPr>
          <a:lstStyle/>
          <a:p>
            <a:pPr algn="l"/>
            <a:r>
              <a:rPr sz="1600" b="0" i="0">
                <a:solidFill>
                  <a:srgbClr val="000F2D"/>
                </a:solidFill>
                <a:latin typeface="Arial"/>
              </a:rPr>
              <a:t>Our team has extensive experience in implementing cloud-native core banking platforms, and we are confident that our solution will meet the client's requirements. We propose a phased approach to the implementation, ensuring minimal disruption to the </a:t>
            </a:r>
          </a:p>
        </p:txBody>
      </p:sp>
      <p:sp>
        <p:nvSpPr>
          <p:cNvPr id="9" name="TextBox 8"/>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0" name="TextBox 9"/>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5</a:t>
            </a:r>
          </a:p>
        </p:txBody>
      </p:sp>
      <p:sp>
        <p:nvSpPr>
          <p:cNvPr id="11" name="Rectangle 10"/>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03</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2. UNDERSTANDING YOUR CHALLENGE</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2. UNDERSTANDING YOUR CHALLENGE</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HDFC Bank Limited is one of the largest private sector banks in India, with over 88 million customers and a balance sheet size exceeding ₹35 trillion. The bank operates a vast network of 8,700+ branches and 21,000+ ATMs, making it a complex and dynam</a:t>
            </a:r>
          </a:p>
        </p:txBody>
      </p:sp>
      <p:sp>
        <p:nvSpPr>
          <p:cNvPr id="7" name="Rectangle 6"/>
          <p:cNvSpPr/>
          <p:nvPr/>
        </p:nvSpPr>
        <p:spPr>
          <a:xfrm>
            <a:off x="731520" y="248716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640080"/>
          </a:xfrm>
          <a:prstGeom prst="rect">
            <a:avLst/>
          </a:prstGeom>
          <a:noFill/>
        </p:spPr>
        <p:txBody>
          <a:bodyPr wrap="square" anchor="t">
            <a:spAutoFit/>
          </a:bodyPr>
          <a:lstStyle/>
          <a:p>
            <a:pPr algn="l"/>
            <a:r>
              <a:rPr sz="1600" b="0" i="0">
                <a:solidFill>
                  <a:srgbClr val="000F2D"/>
                </a:solidFill>
                <a:latin typeface="Arial"/>
              </a:rPr>
              <a:t>The bank's current core banking system is outdated and no longer meets the evolving needs of the business. The system is prone to downtime, and the bank is struggling to meet the stringent regulatory requirements of the Reserve Bank of India (RBI). T</a:t>
            </a:r>
          </a:p>
        </p:txBody>
      </p:sp>
      <p:sp>
        <p:nvSpPr>
          <p:cNvPr id="9" name="TextBox 8"/>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0" name="TextBox 9"/>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7</a:t>
            </a:r>
          </a:p>
        </p:txBody>
      </p:sp>
      <p:sp>
        <p:nvSpPr>
          <p:cNvPr id="11" name="Rectangle 10"/>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04</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3. OUR PROPOSED SOLUTION</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3. OUR PROPOSED SOLUTION</a:t>
            </a:r>
          </a:p>
        </p:txBody>
      </p:sp>
      <p:sp>
        <p:nvSpPr>
          <p:cNvPr id="5" name="Rectangle 4"/>
          <p:cNvSpPr/>
          <p:nvPr/>
        </p:nvSpPr>
        <p:spPr>
          <a:xfrm>
            <a:off x="54864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5029200" cy="822960"/>
          </a:xfrm>
          <a:prstGeom prst="rect">
            <a:avLst/>
          </a:prstGeom>
          <a:noFill/>
        </p:spPr>
        <p:txBody>
          <a:bodyPr wrap="square" anchor="t">
            <a:spAutoFit/>
          </a:bodyPr>
          <a:lstStyle/>
          <a:p>
            <a:pPr algn="l"/>
            <a:r>
              <a:rPr sz="1400" b="0" i="0">
                <a:solidFill>
                  <a:srgbClr val="000F2D"/>
                </a:solidFill>
                <a:latin typeface="Arial"/>
              </a:rPr>
              <a:t>Our proposed solution is a cloud-native core banking platform that leverages the latest technologies to provide a scalable, secure, and highly available system. The solution will be built on Amazon We</a:t>
            </a:r>
          </a:p>
        </p:txBody>
      </p:sp>
      <p:sp>
        <p:nvSpPr>
          <p:cNvPr id="7" name="Rectangle 6"/>
          <p:cNvSpPr/>
          <p:nvPr/>
        </p:nvSpPr>
        <p:spPr>
          <a:xfrm>
            <a:off x="54864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60320"/>
            <a:ext cx="5029200" cy="822960"/>
          </a:xfrm>
          <a:prstGeom prst="rect">
            <a:avLst/>
          </a:prstGeom>
          <a:noFill/>
        </p:spPr>
        <p:txBody>
          <a:bodyPr wrap="square" anchor="t">
            <a:spAutoFit/>
          </a:bodyPr>
          <a:lstStyle/>
          <a:p>
            <a:pPr algn="l"/>
            <a:r>
              <a:rPr sz="1400" b="0" i="0">
                <a:solidFill>
                  <a:srgbClr val="000F2D"/>
                </a:solidFill>
                <a:latin typeface="Arial"/>
              </a:rPr>
              <a:t>The proposed solution will include the following key components:</a:t>
            </a:r>
          </a:p>
        </p:txBody>
      </p:sp>
      <p:sp>
        <p:nvSpPr>
          <p:cNvPr id="9" name="Rectangle 8"/>
          <p:cNvSpPr/>
          <p:nvPr/>
        </p:nvSpPr>
        <p:spPr>
          <a:xfrm>
            <a:off x="54864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74720"/>
            <a:ext cx="5029200" cy="822960"/>
          </a:xfrm>
          <a:prstGeom prst="rect">
            <a:avLst/>
          </a:prstGeom>
          <a:noFill/>
        </p:spPr>
        <p:txBody>
          <a:bodyPr wrap="square" anchor="t">
            <a:spAutoFit/>
          </a:bodyPr>
          <a:lstStyle/>
          <a:p>
            <a:pPr algn="l"/>
            <a:r>
              <a:rPr sz="1400" b="0" i="0">
                <a:solidFill>
                  <a:srgbClr val="000F2D"/>
                </a:solidFill>
                <a:latin typeface="Arial"/>
              </a:rPr>
              <a:t>Cloud-native core banking platform</a:t>
            </a:r>
          </a:p>
        </p:txBody>
      </p:sp>
      <p:sp>
        <p:nvSpPr>
          <p:cNvPr id="11" name="Rectangle 10"/>
          <p:cNvSpPr/>
          <p:nvPr/>
        </p:nvSpPr>
        <p:spPr>
          <a:xfrm>
            <a:off x="54864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5029200" cy="822960"/>
          </a:xfrm>
          <a:prstGeom prst="rect">
            <a:avLst/>
          </a:prstGeom>
          <a:noFill/>
        </p:spPr>
        <p:txBody>
          <a:bodyPr wrap="square" anchor="t">
            <a:spAutoFit/>
          </a:bodyPr>
          <a:lstStyle/>
          <a:p>
            <a:pPr algn="l"/>
            <a:r>
              <a:rPr sz="1400" b="0" i="0">
                <a:solidFill>
                  <a:srgbClr val="000F2D"/>
                </a:solidFill>
                <a:latin typeface="Arial"/>
              </a:rPr>
              <a:t>Integration with existing systems and applications</a:t>
            </a:r>
          </a:p>
        </p:txBody>
      </p:sp>
      <p:sp>
        <p:nvSpPr>
          <p:cNvPr id="13" name="Rectangle 12"/>
          <p:cNvSpPr/>
          <p:nvPr/>
        </p:nvSpPr>
        <p:spPr>
          <a:xfrm>
            <a:off x="54864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303520"/>
            <a:ext cx="5029200" cy="822960"/>
          </a:xfrm>
          <a:prstGeom prst="rect">
            <a:avLst/>
          </a:prstGeom>
          <a:noFill/>
        </p:spPr>
        <p:txBody>
          <a:bodyPr wrap="square" anchor="t">
            <a:spAutoFit/>
          </a:bodyPr>
          <a:lstStyle/>
          <a:p>
            <a:pPr algn="l"/>
            <a:r>
              <a:rPr sz="1400" b="0" i="0">
                <a:solidFill>
                  <a:srgbClr val="000F2D"/>
                </a:solidFill>
                <a:latin typeface="Arial"/>
              </a:rPr>
              <a:t>Regulatory compliance with RBI requirements</a:t>
            </a:r>
          </a:p>
        </p:txBody>
      </p:sp>
      <p:sp>
        <p:nvSpPr>
          <p:cNvPr id="15" name="Rectangle 14"/>
          <p:cNvSpPr/>
          <p:nvPr/>
        </p:nvSpPr>
        <p:spPr>
          <a:xfrm>
            <a:off x="640080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645920"/>
            <a:ext cx="5029200" cy="822960"/>
          </a:xfrm>
          <a:prstGeom prst="rect">
            <a:avLst/>
          </a:prstGeom>
          <a:noFill/>
        </p:spPr>
        <p:txBody>
          <a:bodyPr wrap="square" anchor="t">
            <a:spAutoFit/>
          </a:bodyPr>
          <a:lstStyle/>
          <a:p>
            <a:pPr algn="l"/>
            <a:r>
              <a:rPr sz="1400" b="0" i="0">
                <a:solidFill>
                  <a:srgbClr val="000F2D"/>
                </a:solidFill>
                <a:latin typeface="Arial"/>
              </a:rPr>
              <a:t>High system uptime and transaction processing speed</a:t>
            </a:r>
          </a:p>
        </p:txBody>
      </p:sp>
      <p:sp>
        <p:nvSpPr>
          <p:cNvPr id="17" name="Rectangle 16"/>
          <p:cNvSpPr/>
          <p:nvPr/>
        </p:nvSpPr>
        <p:spPr>
          <a:xfrm>
            <a:off x="640080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2560320"/>
            <a:ext cx="5029200" cy="822960"/>
          </a:xfrm>
          <a:prstGeom prst="rect">
            <a:avLst/>
          </a:prstGeom>
          <a:noFill/>
        </p:spPr>
        <p:txBody>
          <a:bodyPr wrap="square" anchor="t">
            <a:spAutoFit/>
          </a:bodyPr>
          <a:lstStyle/>
          <a:p>
            <a:pPr algn="l"/>
            <a:r>
              <a:rPr sz="1400" b="0" i="0">
                <a:solidFill>
                  <a:srgbClr val="000F2D"/>
                </a:solidFill>
                <a:latin typeface="Arial"/>
              </a:rPr>
              <a:t>Scalability and flexibility to meet evolving business needs</a:t>
            </a:r>
          </a:p>
        </p:txBody>
      </p:sp>
      <p:sp>
        <p:nvSpPr>
          <p:cNvPr id="19" name="TextBox 18"/>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20" name="TextBox 19"/>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9</a:t>
            </a:r>
          </a:p>
        </p:txBody>
      </p:sp>
      <p:sp>
        <p:nvSpPr>
          <p:cNvPr id="21" name="Rectangle 20"/>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05</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4. SOLUTION ARCHITECTURE</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ARCHITECTURE BLUEPRINT</a:t>
            </a:r>
          </a:p>
        </p:txBody>
      </p:sp>
      <p:sp>
        <p:nvSpPr>
          <p:cNvPr id="5" name="TextBox 4"/>
          <p:cNvSpPr txBox="1"/>
          <p:nvPr/>
        </p:nvSpPr>
        <p:spPr>
          <a:xfrm>
            <a:off x="457200" y="685800"/>
            <a:ext cx="11274552" cy="365760"/>
          </a:xfrm>
          <a:prstGeom prst="rect">
            <a:avLst/>
          </a:prstGeom>
          <a:noFill/>
        </p:spPr>
        <p:txBody>
          <a:bodyPr wrap="square" anchor="t">
            <a:spAutoFit/>
          </a:bodyPr>
          <a:lstStyle/>
          <a:p>
            <a:pPr algn="l"/>
            <a:r>
              <a:rPr sz="1200" b="0" i="1">
                <a:solidFill>
                  <a:srgbClr val="C8D2E6"/>
                </a:solidFill>
                <a:latin typeface="Arial"/>
              </a:rPr>
              <a:t>Target Operating Model &amp; Architecture Blueprint</a:t>
            </a:r>
          </a:p>
        </p:txBody>
      </p:sp>
      <p:sp>
        <p:nvSpPr>
          <p:cNvPr id="6" name="Rectangle 5"/>
          <p:cNvSpPr/>
          <p:nvPr/>
        </p:nvSpPr>
        <p:spPr>
          <a:xfrm>
            <a:off x="1371600" y="1371600"/>
            <a:ext cx="9418320" cy="4846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657600"/>
            <a:ext cx="9418320" cy="914400"/>
          </a:xfrm>
          <a:prstGeom prst="rect">
            <a:avLst/>
          </a:prstGeom>
          <a:noFill/>
        </p:spPr>
        <p:txBody>
          <a:bodyPr wrap="square" anchor="t">
            <a:spAutoFit/>
          </a:bodyPr>
          <a:lstStyle/>
          <a:p>
            <a:pPr algn="ctr"/>
            <a:r>
              <a:rPr sz="1800" b="1" i="0">
                <a:solidFill>
                  <a:srgbClr val="696969"/>
                </a:solidFill>
                <a:latin typeface="Arial"/>
              </a:rPr>
              <a:t>ARCHITECTURE SCHEMATIC UNAVAILABLE</a:t>
            </a:r>
          </a:p>
        </p:txBody>
      </p:sp>
      <p:sp>
        <p:nvSpPr>
          <p:cNvPr id="8" name="TextBox 7"/>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9" name="TextBox 8"/>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11</a:t>
            </a:r>
          </a:p>
        </p:txBody>
      </p:sp>
      <p:sp>
        <p:nvSpPr>
          <p:cNvPr id="10" name="Rectangle 9"/>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06</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5. TEAM STRUCTURE &amp; OPERATING MODEL</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5. TEAM STRUCTURE &amp; OPERATING MODEL</a:t>
            </a:r>
          </a:p>
        </p:txBody>
      </p:sp>
      <p:sp>
        <p:nvSpPr>
          <p:cNvPr id="5" name="Rectangle 4"/>
          <p:cNvSpPr/>
          <p:nvPr/>
        </p:nvSpPr>
        <p:spPr>
          <a:xfrm>
            <a:off x="54864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5029200" cy="822960"/>
          </a:xfrm>
          <a:prstGeom prst="rect">
            <a:avLst/>
          </a:prstGeom>
          <a:noFill/>
        </p:spPr>
        <p:txBody>
          <a:bodyPr wrap="square" anchor="t">
            <a:spAutoFit/>
          </a:bodyPr>
          <a:lstStyle/>
          <a:p>
            <a:pPr algn="l"/>
            <a:r>
              <a:rPr sz="1400" b="0" i="0">
                <a:solidFill>
                  <a:srgbClr val="000F2D"/>
                </a:solidFill>
                <a:latin typeface="Arial"/>
              </a:rPr>
              <a:t>Our team will consist of the following members:</a:t>
            </a:r>
          </a:p>
        </p:txBody>
      </p:sp>
      <p:sp>
        <p:nvSpPr>
          <p:cNvPr id="7" name="Rectangle 6"/>
          <p:cNvSpPr/>
          <p:nvPr/>
        </p:nvSpPr>
        <p:spPr>
          <a:xfrm>
            <a:off x="54864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60320"/>
            <a:ext cx="5029200" cy="822960"/>
          </a:xfrm>
          <a:prstGeom prst="rect">
            <a:avLst/>
          </a:prstGeom>
          <a:noFill/>
        </p:spPr>
        <p:txBody>
          <a:bodyPr wrap="square" anchor="t">
            <a:spAutoFit/>
          </a:bodyPr>
          <a:lstStyle/>
          <a:p>
            <a:pPr algn="l"/>
            <a:r>
              <a:rPr sz="1400" b="0" i="0">
                <a:solidFill>
                  <a:srgbClr val="000F2D"/>
                </a:solidFill>
                <a:latin typeface="Arial"/>
              </a:rPr>
              <a:t>Cloud Architect (2): Responsible for designing and implementing the cloud-native core banking platform</a:t>
            </a:r>
          </a:p>
        </p:txBody>
      </p:sp>
      <p:sp>
        <p:nvSpPr>
          <p:cNvPr id="9" name="Rectangle 8"/>
          <p:cNvSpPr/>
          <p:nvPr/>
        </p:nvSpPr>
        <p:spPr>
          <a:xfrm>
            <a:off x="54864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74720"/>
            <a:ext cx="5029200" cy="822960"/>
          </a:xfrm>
          <a:prstGeom prst="rect">
            <a:avLst/>
          </a:prstGeom>
          <a:noFill/>
        </p:spPr>
        <p:txBody>
          <a:bodyPr wrap="square" anchor="t">
            <a:spAutoFit/>
          </a:bodyPr>
          <a:lstStyle/>
          <a:p>
            <a:pPr algn="l"/>
            <a:r>
              <a:rPr sz="1400" b="0" i="0">
                <a:solidFill>
                  <a:srgbClr val="000F2D"/>
                </a:solidFill>
                <a:latin typeface="Arial"/>
              </a:rPr>
              <a:t>Cloud Engineer (4): Responsible for implementing and testing the cloud infrastructure</a:t>
            </a:r>
          </a:p>
        </p:txBody>
      </p:sp>
      <p:sp>
        <p:nvSpPr>
          <p:cNvPr id="11" name="Rectangle 10"/>
          <p:cNvSpPr/>
          <p:nvPr/>
        </p:nvSpPr>
        <p:spPr>
          <a:xfrm>
            <a:off x="54864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5029200" cy="822960"/>
          </a:xfrm>
          <a:prstGeom prst="rect">
            <a:avLst/>
          </a:prstGeom>
          <a:noFill/>
        </p:spPr>
        <p:txBody>
          <a:bodyPr wrap="square" anchor="t">
            <a:spAutoFit/>
          </a:bodyPr>
          <a:lstStyle/>
          <a:p>
            <a:pPr algn="l"/>
            <a:r>
              <a:rPr sz="1400" b="0" i="0">
                <a:solidFill>
                  <a:srgbClr val="000F2D"/>
                </a:solidFill>
                <a:latin typeface="Arial"/>
              </a:rPr>
              <a:t>Core Banking Specialist (2): Responsible for integrating the new system with existing systems and applications</a:t>
            </a:r>
          </a:p>
        </p:txBody>
      </p:sp>
      <p:sp>
        <p:nvSpPr>
          <p:cNvPr id="13" name="Rectangle 12"/>
          <p:cNvSpPr/>
          <p:nvPr/>
        </p:nvSpPr>
        <p:spPr>
          <a:xfrm>
            <a:off x="54864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303520"/>
            <a:ext cx="5029200" cy="822960"/>
          </a:xfrm>
          <a:prstGeom prst="rect">
            <a:avLst/>
          </a:prstGeom>
          <a:noFill/>
        </p:spPr>
        <p:txBody>
          <a:bodyPr wrap="square" anchor="t">
            <a:spAutoFit/>
          </a:bodyPr>
          <a:lstStyle/>
          <a:p>
            <a:pPr algn="l"/>
            <a:r>
              <a:rPr sz="1400" b="0" i="0">
                <a:solidFill>
                  <a:srgbClr val="000F2D"/>
                </a:solidFill>
                <a:latin typeface="Arial"/>
              </a:rPr>
              <a:t>Integration Specialist (2): Responsible for integrating the new system with existing systems and applications</a:t>
            </a:r>
          </a:p>
        </p:txBody>
      </p:sp>
      <p:sp>
        <p:nvSpPr>
          <p:cNvPr id="15" name="Rectangle 14"/>
          <p:cNvSpPr/>
          <p:nvPr/>
        </p:nvSpPr>
        <p:spPr>
          <a:xfrm>
            <a:off x="640080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645920"/>
            <a:ext cx="5029200" cy="822960"/>
          </a:xfrm>
          <a:prstGeom prst="rect">
            <a:avLst/>
          </a:prstGeom>
          <a:noFill/>
        </p:spPr>
        <p:txBody>
          <a:bodyPr wrap="square" anchor="t">
            <a:spAutoFit/>
          </a:bodyPr>
          <a:lstStyle/>
          <a:p>
            <a:pPr algn="l"/>
            <a:r>
              <a:rPr sz="1400" b="0" i="0">
                <a:solidFill>
                  <a:srgbClr val="000F2D"/>
                </a:solidFill>
                <a:latin typeface="Arial"/>
              </a:rPr>
              <a:t>DevOps Engineer (1): Responsible for ensuring the smooth operation of the system</a:t>
            </a:r>
          </a:p>
        </p:txBody>
      </p:sp>
      <p:sp>
        <p:nvSpPr>
          <p:cNvPr id="17" name="Rectangle 16"/>
          <p:cNvSpPr/>
          <p:nvPr/>
        </p:nvSpPr>
        <p:spPr>
          <a:xfrm>
            <a:off x="640080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2560320"/>
            <a:ext cx="5029200" cy="822960"/>
          </a:xfrm>
          <a:prstGeom prst="rect">
            <a:avLst/>
          </a:prstGeom>
          <a:noFill/>
        </p:spPr>
        <p:txBody>
          <a:bodyPr wrap="square" anchor="t">
            <a:spAutoFit/>
          </a:bodyPr>
          <a:lstStyle/>
          <a:p>
            <a:pPr algn="l"/>
            <a:r>
              <a:rPr sz="1400" b="0" i="0">
                <a:solidFill>
                  <a:srgbClr val="000F2D"/>
                </a:solidFill>
                <a:latin typeface="Arial"/>
              </a:rPr>
              <a:t>Data Scientist (1): Responsible for analyzing data and providing business insights</a:t>
            </a:r>
          </a:p>
        </p:txBody>
      </p:sp>
      <p:sp>
        <p:nvSpPr>
          <p:cNvPr id="19" name="Rectangle 18"/>
          <p:cNvSpPr/>
          <p:nvPr/>
        </p:nvSpPr>
        <p:spPr>
          <a:xfrm>
            <a:off x="640080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3474720"/>
            <a:ext cx="5029200" cy="822960"/>
          </a:xfrm>
          <a:prstGeom prst="rect">
            <a:avLst/>
          </a:prstGeom>
          <a:noFill/>
        </p:spPr>
        <p:txBody>
          <a:bodyPr wrap="square" anchor="t">
            <a:spAutoFit/>
          </a:bodyPr>
          <a:lstStyle/>
          <a:p>
            <a:pPr algn="l"/>
            <a:r>
              <a:rPr sz="1400" b="0" i="0">
                <a:solidFill>
                  <a:srgbClr val="000F2D"/>
                </a:solidFill>
                <a:latin typeface="Arial"/>
              </a:rPr>
              <a:t>Project Manager (1): Responsible for managing the project and ensuring timely delivery</a:t>
            </a:r>
          </a:p>
        </p:txBody>
      </p:sp>
      <p:sp>
        <p:nvSpPr>
          <p:cNvPr id="21" name="Rectangle 20"/>
          <p:cNvSpPr/>
          <p:nvPr/>
        </p:nvSpPr>
        <p:spPr>
          <a:xfrm>
            <a:off x="640080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4389120"/>
            <a:ext cx="5029200" cy="822960"/>
          </a:xfrm>
          <a:prstGeom prst="rect">
            <a:avLst/>
          </a:prstGeom>
          <a:noFill/>
        </p:spPr>
        <p:txBody>
          <a:bodyPr wrap="square" anchor="t">
            <a:spAutoFit/>
          </a:bodyPr>
          <a:lstStyle/>
          <a:p>
            <a:pPr algn="l"/>
            <a:r>
              <a:rPr sz="1400" b="0" i="0">
                <a:solidFill>
                  <a:srgbClr val="000F2D"/>
                </a:solidFill>
                <a:latin typeface="Arial"/>
              </a:rPr>
              <a:t>QA Engineer (1): Responsible for testing the system and ensuring quality</a:t>
            </a:r>
          </a:p>
        </p:txBody>
      </p:sp>
      <p:sp>
        <p:nvSpPr>
          <p:cNvPr id="23" name="Rectangle 22"/>
          <p:cNvSpPr/>
          <p:nvPr/>
        </p:nvSpPr>
        <p:spPr>
          <a:xfrm>
            <a:off x="640080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5303520"/>
            <a:ext cx="5029200" cy="822960"/>
          </a:xfrm>
          <a:prstGeom prst="rect">
            <a:avLst/>
          </a:prstGeom>
          <a:noFill/>
        </p:spPr>
        <p:txBody>
          <a:bodyPr wrap="square" anchor="t">
            <a:spAutoFit/>
          </a:bodyPr>
          <a:lstStyle/>
          <a:p>
            <a:pPr algn="l"/>
            <a:r>
              <a:rPr sz="1400" b="0" i="0">
                <a:solidFill>
                  <a:srgbClr val="000F2D"/>
                </a:solidFill>
                <a:latin typeface="Arial"/>
              </a:rPr>
              <a:t>Business Analyst (1): Responsible for analyzing business requirements and ensuring alignment with the solution</a:t>
            </a:r>
          </a:p>
        </p:txBody>
      </p:sp>
      <p:sp>
        <p:nvSpPr>
          <p:cNvPr id="25" name="TextBox 24"/>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26" name="TextBox 25"/>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13</a:t>
            </a:r>
          </a:p>
        </p:txBody>
      </p:sp>
      <p:sp>
        <p:nvSpPr>
          <p:cNvPr id="27" name="Rectangle 26"/>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5. TEAM STRUCTURE &amp; OPERATING MODEL</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Our team will operate in a hybrid model, with members based in India, the US, and Europe. We will use collaboration tools and methodologies to ensure seamless communication and coordination across teams.</a:t>
            </a:r>
          </a:p>
        </p:txBody>
      </p:sp>
      <p:sp>
        <p:nvSpPr>
          <p:cNvPr id="7" name="TextBox 6"/>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8" name="TextBox 7"/>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14</a:t>
            </a:r>
          </a:p>
        </p:txBody>
      </p:sp>
      <p:sp>
        <p:nvSpPr>
          <p:cNvPr id="9" name="Rectangle 8"/>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07</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6. DELIVERY ROADMAP</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6. DELIVERY ROADMAP</a:t>
            </a:r>
          </a:p>
        </p:txBody>
      </p:sp>
      <p:sp>
        <p:nvSpPr>
          <p:cNvPr id="5" name="Rectangle 4"/>
          <p:cNvSpPr/>
          <p:nvPr/>
        </p:nvSpPr>
        <p:spPr>
          <a:xfrm>
            <a:off x="54864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5029200" cy="822960"/>
          </a:xfrm>
          <a:prstGeom prst="rect">
            <a:avLst/>
          </a:prstGeom>
          <a:noFill/>
        </p:spPr>
        <p:txBody>
          <a:bodyPr wrap="square" anchor="t">
            <a:spAutoFit/>
          </a:bodyPr>
          <a:lstStyle/>
          <a:p>
            <a:pPr algn="l"/>
            <a:r>
              <a:rPr sz="1400" b="0" i="0">
                <a:solidFill>
                  <a:srgbClr val="000F2D"/>
                </a:solidFill>
                <a:latin typeface="Arial"/>
              </a:rPr>
              <a:t>Our delivery roadmap is divided into four phases:</a:t>
            </a:r>
          </a:p>
        </p:txBody>
      </p:sp>
      <p:sp>
        <p:nvSpPr>
          <p:cNvPr id="7" name="Rectangle 6"/>
          <p:cNvSpPr/>
          <p:nvPr/>
        </p:nvSpPr>
        <p:spPr>
          <a:xfrm>
            <a:off x="54864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60320"/>
            <a:ext cx="5029200" cy="822960"/>
          </a:xfrm>
          <a:prstGeom prst="rect">
            <a:avLst/>
          </a:prstGeom>
          <a:noFill/>
        </p:spPr>
        <p:txBody>
          <a:bodyPr wrap="square" anchor="t">
            <a:spAutoFit/>
          </a:bodyPr>
          <a:lstStyle/>
          <a:p>
            <a:pPr algn="l"/>
            <a:r>
              <a:rPr sz="1400" b="0" i="0">
                <a:solidFill>
                  <a:srgbClr val="000F2D"/>
                </a:solidFill>
                <a:latin typeface="Arial"/>
              </a:rPr>
              <a:t>Phase 1: Requirements Gathering and Solution Design (4 weeks)</a:t>
            </a:r>
          </a:p>
        </p:txBody>
      </p:sp>
      <p:sp>
        <p:nvSpPr>
          <p:cNvPr id="9" name="Rectangle 8"/>
          <p:cNvSpPr/>
          <p:nvPr/>
        </p:nvSpPr>
        <p:spPr>
          <a:xfrm>
            <a:off x="54864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74720"/>
            <a:ext cx="5029200" cy="822960"/>
          </a:xfrm>
          <a:prstGeom prst="rect">
            <a:avLst/>
          </a:prstGeom>
          <a:noFill/>
        </p:spPr>
        <p:txBody>
          <a:bodyPr wrap="square" anchor="t">
            <a:spAutoFit/>
          </a:bodyPr>
          <a:lstStyle/>
          <a:p>
            <a:pPr algn="l"/>
            <a:r>
              <a:rPr sz="1400" b="0" i="0">
                <a:solidFill>
                  <a:srgbClr val="000F2D"/>
                </a:solidFill>
                <a:latin typeface="Arial"/>
              </a:rPr>
              <a:t>Conduct requirements gathering sessions with the client</a:t>
            </a:r>
          </a:p>
        </p:txBody>
      </p:sp>
      <p:sp>
        <p:nvSpPr>
          <p:cNvPr id="11" name="Rectangle 10"/>
          <p:cNvSpPr/>
          <p:nvPr/>
        </p:nvSpPr>
        <p:spPr>
          <a:xfrm>
            <a:off x="54864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5029200" cy="822960"/>
          </a:xfrm>
          <a:prstGeom prst="rect">
            <a:avLst/>
          </a:prstGeom>
          <a:noFill/>
        </p:spPr>
        <p:txBody>
          <a:bodyPr wrap="square" anchor="t">
            <a:spAutoFit/>
          </a:bodyPr>
          <a:lstStyle/>
          <a:p>
            <a:pPr algn="l"/>
            <a:r>
              <a:rPr sz="1400" b="0" i="0">
                <a:solidFill>
                  <a:srgbClr val="000F2D"/>
                </a:solidFill>
                <a:latin typeface="Arial"/>
              </a:rPr>
              <a:t>Design the cloud-native core banking platform</a:t>
            </a:r>
          </a:p>
        </p:txBody>
      </p:sp>
      <p:sp>
        <p:nvSpPr>
          <p:cNvPr id="13" name="Rectangle 12"/>
          <p:cNvSpPr/>
          <p:nvPr/>
        </p:nvSpPr>
        <p:spPr>
          <a:xfrm>
            <a:off x="54864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303520"/>
            <a:ext cx="5029200" cy="822960"/>
          </a:xfrm>
          <a:prstGeom prst="rect">
            <a:avLst/>
          </a:prstGeom>
          <a:noFill/>
        </p:spPr>
        <p:txBody>
          <a:bodyPr wrap="square" anchor="t">
            <a:spAutoFit/>
          </a:bodyPr>
          <a:lstStyle/>
          <a:p>
            <a:pPr algn="l"/>
            <a:r>
              <a:rPr sz="1400" b="0" i="0">
                <a:solidFill>
                  <a:srgbClr val="000F2D"/>
                </a:solidFill>
                <a:latin typeface="Arial"/>
              </a:rPr>
              <a:t>Develop a detailed project plan and timeline</a:t>
            </a:r>
          </a:p>
        </p:txBody>
      </p:sp>
      <p:sp>
        <p:nvSpPr>
          <p:cNvPr id="15" name="Rectangle 14"/>
          <p:cNvSpPr/>
          <p:nvPr/>
        </p:nvSpPr>
        <p:spPr>
          <a:xfrm>
            <a:off x="640080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645920"/>
            <a:ext cx="5029200" cy="822960"/>
          </a:xfrm>
          <a:prstGeom prst="rect">
            <a:avLst/>
          </a:prstGeom>
          <a:noFill/>
        </p:spPr>
        <p:txBody>
          <a:bodyPr wrap="square" anchor="t">
            <a:spAutoFit/>
          </a:bodyPr>
          <a:lstStyle/>
          <a:p>
            <a:pPr algn="l"/>
            <a:r>
              <a:rPr sz="1400" b="0" i="0">
                <a:solidFill>
                  <a:srgbClr val="000F2D"/>
                </a:solidFill>
                <a:latin typeface="Arial"/>
              </a:rPr>
              <a:t>Phase 2: Cloud Infrastructure Implementation (8 weeks)</a:t>
            </a:r>
          </a:p>
        </p:txBody>
      </p:sp>
      <p:sp>
        <p:nvSpPr>
          <p:cNvPr id="17" name="Rectangle 16"/>
          <p:cNvSpPr/>
          <p:nvPr/>
        </p:nvSpPr>
        <p:spPr>
          <a:xfrm>
            <a:off x="640080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2560320"/>
            <a:ext cx="5029200" cy="822960"/>
          </a:xfrm>
          <a:prstGeom prst="rect">
            <a:avLst/>
          </a:prstGeom>
          <a:noFill/>
        </p:spPr>
        <p:txBody>
          <a:bodyPr wrap="square" anchor="t">
            <a:spAutoFit/>
          </a:bodyPr>
          <a:lstStyle/>
          <a:p>
            <a:pPr algn="l"/>
            <a:r>
              <a:rPr sz="1400" b="0" i="0">
                <a:solidFill>
                  <a:srgbClr val="000F2D"/>
                </a:solidFill>
                <a:latin typeface="Arial"/>
              </a:rPr>
              <a:t>Implement the cloud infrastructure on AWS</a:t>
            </a:r>
          </a:p>
        </p:txBody>
      </p:sp>
      <p:sp>
        <p:nvSpPr>
          <p:cNvPr id="19" name="Rectangle 18"/>
          <p:cNvSpPr/>
          <p:nvPr/>
        </p:nvSpPr>
        <p:spPr>
          <a:xfrm>
            <a:off x="640080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3474720"/>
            <a:ext cx="5029200" cy="822960"/>
          </a:xfrm>
          <a:prstGeom prst="rect">
            <a:avLst/>
          </a:prstGeom>
          <a:noFill/>
        </p:spPr>
        <p:txBody>
          <a:bodyPr wrap="square" anchor="t">
            <a:spAutoFit/>
          </a:bodyPr>
          <a:lstStyle/>
          <a:p>
            <a:pPr algn="l"/>
            <a:r>
              <a:rPr sz="1400" b="0" i="0">
                <a:solidFill>
                  <a:srgbClr val="000F2D"/>
                </a:solidFill>
                <a:latin typeface="Arial"/>
              </a:rPr>
              <a:t>Configure the cloud-native core banking platform</a:t>
            </a:r>
          </a:p>
        </p:txBody>
      </p:sp>
      <p:sp>
        <p:nvSpPr>
          <p:cNvPr id="21" name="Rectangle 20"/>
          <p:cNvSpPr/>
          <p:nvPr/>
        </p:nvSpPr>
        <p:spPr>
          <a:xfrm>
            <a:off x="640080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4389120"/>
            <a:ext cx="5029200" cy="822960"/>
          </a:xfrm>
          <a:prstGeom prst="rect">
            <a:avLst/>
          </a:prstGeom>
          <a:noFill/>
        </p:spPr>
        <p:txBody>
          <a:bodyPr wrap="square" anchor="t">
            <a:spAutoFit/>
          </a:bodyPr>
          <a:lstStyle/>
          <a:p>
            <a:pPr algn="l"/>
            <a:r>
              <a:rPr sz="1400" b="0" i="0">
                <a:solidFill>
                  <a:srgbClr val="000F2D"/>
                </a:solidFill>
                <a:latin typeface="Arial"/>
              </a:rPr>
              <a:t>Integrate the new system with existing systems and applications</a:t>
            </a:r>
          </a:p>
        </p:txBody>
      </p:sp>
      <p:sp>
        <p:nvSpPr>
          <p:cNvPr id="23" name="Rectangle 22"/>
          <p:cNvSpPr/>
          <p:nvPr/>
        </p:nvSpPr>
        <p:spPr>
          <a:xfrm>
            <a:off x="640080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5303520"/>
            <a:ext cx="5029200" cy="822960"/>
          </a:xfrm>
          <a:prstGeom prst="rect">
            <a:avLst/>
          </a:prstGeom>
          <a:noFill/>
        </p:spPr>
        <p:txBody>
          <a:bodyPr wrap="square" anchor="t">
            <a:spAutoFit/>
          </a:bodyPr>
          <a:lstStyle/>
          <a:p>
            <a:pPr algn="l"/>
            <a:r>
              <a:rPr sz="1400" b="0" i="0">
                <a:solidFill>
                  <a:srgbClr val="000F2D"/>
                </a:solidFill>
                <a:latin typeface="Arial"/>
              </a:rPr>
              <a:t>Phase 3: Testing and Quality Assurance (8 weeks)</a:t>
            </a:r>
          </a:p>
        </p:txBody>
      </p:sp>
      <p:sp>
        <p:nvSpPr>
          <p:cNvPr id="25" name="TextBox 24"/>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26" name="TextBox 25"/>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16</a:t>
            </a:r>
          </a:p>
        </p:txBody>
      </p:sp>
      <p:sp>
        <p:nvSpPr>
          <p:cNvPr id="27" name="Rectangle 26"/>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6. DELIVERY ROADMAP</a:t>
            </a:r>
          </a:p>
        </p:txBody>
      </p:sp>
      <p:sp>
        <p:nvSpPr>
          <p:cNvPr id="5" name="Rectangle 4"/>
          <p:cNvSpPr/>
          <p:nvPr/>
        </p:nvSpPr>
        <p:spPr>
          <a:xfrm>
            <a:off x="54864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5029200" cy="822960"/>
          </a:xfrm>
          <a:prstGeom prst="rect">
            <a:avLst/>
          </a:prstGeom>
          <a:noFill/>
        </p:spPr>
        <p:txBody>
          <a:bodyPr wrap="square" anchor="t">
            <a:spAutoFit/>
          </a:bodyPr>
          <a:lstStyle/>
          <a:p>
            <a:pPr algn="l"/>
            <a:r>
              <a:rPr sz="1400" b="0" i="0">
                <a:solidFill>
                  <a:srgbClr val="000F2D"/>
                </a:solidFill>
                <a:latin typeface="Arial"/>
              </a:rPr>
              <a:t>Conduct unit testing and integration testing</a:t>
            </a:r>
          </a:p>
        </p:txBody>
      </p:sp>
      <p:sp>
        <p:nvSpPr>
          <p:cNvPr id="7" name="Rectangle 6"/>
          <p:cNvSpPr/>
          <p:nvPr/>
        </p:nvSpPr>
        <p:spPr>
          <a:xfrm>
            <a:off x="54864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60320"/>
            <a:ext cx="5029200" cy="822960"/>
          </a:xfrm>
          <a:prstGeom prst="rect">
            <a:avLst/>
          </a:prstGeom>
          <a:noFill/>
        </p:spPr>
        <p:txBody>
          <a:bodyPr wrap="square" anchor="t">
            <a:spAutoFit/>
          </a:bodyPr>
          <a:lstStyle/>
          <a:p>
            <a:pPr algn="l"/>
            <a:r>
              <a:rPr sz="1400" b="0" i="0">
                <a:solidFill>
                  <a:srgbClr val="000F2D"/>
                </a:solidFill>
                <a:latin typeface="Arial"/>
              </a:rPr>
              <a:t>Conduct system testing and user acceptance testing</a:t>
            </a:r>
          </a:p>
        </p:txBody>
      </p:sp>
      <p:sp>
        <p:nvSpPr>
          <p:cNvPr id="9" name="Rectangle 8"/>
          <p:cNvSpPr/>
          <p:nvPr/>
        </p:nvSpPr>
        <p:spPr>
          <a:xfrm>
            <a:off x="54864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74720"/>
            <a:ext cx="5029200" cy="822960"/>
          </a:xfrm>
          <a:prstGeom prst="rect">
            <a:avLst/>
          </a:prstGeom>
          <a:noFill/>
        </p:spPr>
        <p:txBody>
          <a:bodyPr wrap="square" anchor="t">
            <a:spAutoFit/>
          </a:bodyPr>
          <a:lstStyle/>
          <a:p>
            <a:pPr algn="l"/>
            <a:r>
              <a:rPr sz="1400" b="0" i="0">
                <a:solidFill>
                  <a:srgbClr val="000F2D"/>
                </a:solidFill>
                <a:latin typeface="Arial"/>
              </a:rPr>
              <a:t>Ensure quality and compliance with RBI requirements</a:t>
            </a:r>
          </a:p>
        </p:txBody>
      </p:sp>
      <p:sp>
        <p:nvSpPr>
          <p:cNvPr id="11" name="Rectangle 10"/>
          <p:cNvSpPr/>
          <p:nvPr/>
        </p:nvSpPr>
        <p:spPr>
          <a:xfrm>
            <a:off x="54864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5029200" cy="822960"/>
          </a:xfrm>
          <a:prstGeom prst="rect">
            <a:avLst/>
          </a:prstGeom>
          <a:noFill/>
        </p:spPr>
        <p:txBody>
          <a:bodyPr wrap="square" anchor="t">
            <a:spAutoFit/>
          </a:bodyPr>
          <a:lstStyle/>
          <a:p>
            <a:pPr algn="l"/>
            <a:r>
              <a:rPr sz="1400" b="0" i="0">
                <a:solidFill>
                  <a:srgbClr val="000F2D"/>
                </a:solidFill>
                <a:latin typeface="Arial"/>
              </a:rPr>
              <a:t>Phase 4: Deployment and Go-Live (4 weeks)</a:t>
            </a:r>
          </a:p>
        </p:txBody>
      </p:sp>
      <p:sp>
        <p:nvSpPr>
          <p:cNvPr id="13" name="Rectangle 12"/>
          <p:cNvSpPr/>
          <p:nvPr/>
        </p:nvSpPr>
        <p:spPr>
          <a:xfrm>
            <a:off x="54864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303520"/>
            <a:ext cx="5029200" cy="822960"/>
          </a:xfrm>
          <a:prstGeom prst="rect">
            <a:avLst/>
          </a:prstGeom>
          <a:noFill/>
        </p:spPr>
        <p:txBody>
          <a:bodyPr wrap="square" anchor="t">
            <a:spAutoFit/>
          </a:bodyPr>
          <a:lstStyle/>
          <a:p>
            <a:pPr algn="l"/>
            <a:r>
              <a:rPr sz="1400" b="0" i="0">
                <a:solidFill>
                  <a:srgbClr val="000F2D"/>
                </a:solidFill>
                <a:latin typeface="Arial"/>
              </a:rPr>
              <a:t>Deploy the system in production</a:t>
            </a:r>
          </a:p>
        </p:txBody>
      </p:sp>
      <p:sp>
        <p:nvSpPr>
          <p:cNvPr id="15" name="Rectangle 14"/>
          <p:cNvSpPr/>
          <p:nvPr/>
        </p:nvSpPr>
        <p:spPr>
          <a:xfrm>
            <a:off x="640080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645920"/>
            <a:ext cx="5029200" cy="822960"/>
          </a:xfrm>
          <a:prstGeom prst="rect">
            <a:avLst/>
          </a:prstGeom>
          <a:noFill/>
        </p:spPr>
        <p:txBody>
          <a:bodyPr wrap="square" anchor="t">
            <a:spAutoFit/>
          </a:bodyPr>
          <a:lstStyle/>
          <a:p>
            <a:pPr algn="l"/>
            <a:r>
              <a:rPr sz="1400" b="0" i="0">
                <a:solidFill>
                  <a:srgbClr val="000F2D"/>
                </a:solidFill>
                <a:latin typeface="Arial"/>
              </a:rPr>
              <a:t>Conduct post-implementation review and feedback</a:t>
            </a:r>
          </a:p>
        </p:txBody>
      </p:sp>
      <p:sp>
        <p:nvSpPr>
          <p:cNvPr id="17" name="Rectangle 16"/>
          <p:cNvSpPr/>
          <p:nvPr/>
        </p:nvSpPr>
        <p:spPr>
          <a:xfrm>
            <a:off x="640080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2560320"/>
            <a:ext cx="5029200" cy="822960"/>
          </a:xfrm>
          <a:prstGeom prst="rect">
            <a:avLst/>
          </a:prstGeom>
          <a:noFill/>
        </p:spPr>
        <p:txBody>
          <a:bodyPr wrap="square" anchor="t">
            <a:spAutoFit/>
          </a:bodyPr>
          <a:lstStyle/>
          <a:p>
            <a:pPr algn="l"/>
            <a:r>
              <a:rPr sz="1400" b="0" i="0">
                <a:solidFill>
                  <a:srgbClr val="000F2D"/>
                </a:solidFill>
                <a:latin typeface="Arial"/>
              </a:rPr>
              <a:t>Ensure smooth operation and maintenance of the system</a:t>
            </a:r>
          </a:p>
        </p:txBody>
      </p:sp>
      <p:sp>
        <p:nvSpPr>
          <p:cNvPr id="19" name="TextBox 18"/>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20" name="TextBox 19"/>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17</a:t>
            </a:r>
          </a:p>
        </p:txBody>
      </p:sp>
      <p:sp>
        <p:nvSpPr>
          <p:cNvPr id="21" name="Rectangle 20"/>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08</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7. COMMERCIAL SUMMARY</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7. COMMERCIAL SUMMARY</a:t>
            </a:r>
          </a:p>
        </p:txBody>
      </p:sp>
      <p:sp>
        <p:nvSpPr>
          <p:cNvPr id="5" name="TextBox 4"/>
          <p:cNvSpPr txBox="1"/>
          <p:nvPr/>
        </p:nvSpPr>
        <p:spPr>
          <a:xfrm>
            <a:off x="457200" y="685800"/>
            <a:ext cx="11274552" cy="365760"/>
          </a:xfrm>
          <a:prstGeom prst="rect">
            <a:avLst/>
          </a:prstGeom>
          <a:noFill/>
        </p:spPr>
        <p:txBody>
          <a:bodyPr wrap="square" anchor="t">
            <a:spAutoFit/>
          </a:bodyPr>
          <a:lstStyle/>
          <a:p>
            <a:pPr algn="l"/>
            <a:r>
              <a:rPr sz="1200" b="0" i="1">
                <a:solidFill>
                  <a:srgbClr val="C8D2E6"/>
                </a:solidFill>
                <a:latin typeface="Arial"/>
              </a:rPr>
              <a:t>Commercial &amp; Operational Metrics</a:t>
            </a:r>
          </a:p>
        </p:txBody>
      </p:sp>
      <p:graphicFrame>
        <p:nvGraphicFramePr>
          <p:cNvPr id="6" name="Table 5"/>
          <p:cNvGraphicFramePr>
            <a:graphicFrameLocks noGrp="1"/>
          </p:cNvGraphicFramePr>
          <p:nvPr/>
        </p:nvGraphicFramePr>
        <p:xfrm>
          <a:off x="457200" y="1645920"/>
          <a:ext cx="11247120" cy="411480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411480">
                <a:tc>
                  <a:txBody>
                    <a:bodyPr/>
                    <a:lstStyle/>
                    <a:p>
                      <a:pPr algn="l"/>
                      <a:r>
                        <a:rPr sz="1000" b="1">
                          <a:solidFill>
                            <a:srgbClr val="FFFFFF"/>
                          </a:solidFill>
                          <a:latin typeface="Arial"/>
                        </a:rPr>
                        <a:t>Role</a:t>
                      </a:r>
                    </a:p>
                  </a:txBody>
                  <a:tcPr>
                    <a:solidFill>
                      <a:srgbClr val="000F2D"/>
                    </a:solidFill>
                  </a:tcPr>
                </a:tc>
                <a:tc>
                  <a:txBody>
                    <a:bodyPr/>
                    <a:lstStyle/>
                    <a:p>
                      <a:pPr algn="l"/>
                      <a:r>
                        <a:rPr sz="1000" b="1">
                          <a:solidFill>
                            <a:srgbClr val="FFFFFF"/>
                          </a:solidFill>
                          <a:latin typeface="Arial"/>
                        </a:rPr>
                        <a:t>Count</a:t>
                      </a:r>
                    </a:p>
                  </a:txBody>
                  <a:tcPr>
                    <a:solidFill>
                      <a:srgbClr val="000F2D"/>
                    </a:solidFill>
                  </a:tcPr>
                </a:tc>
                <a:tc>
                  <a:txBody>
                    <a:bodyPr/>
                    <a:lstStyle/>
                    <a:p>
                      <a:pPr algn="l"/>
                      <a:r>
                        <a:rPr sz="1000" b="1">
                          <a:solidFill>
                            <a:srgbClr val="FFFFFF"/>
                          </a:solidFill>
                          <a:latin typeface="Arial"/>
                        </a:rPr>
                        <a:t>Location</a:t>
                      </a:r>
                    </a:p>
                  </a:txBody>
                  <a:tcPr>
                    <a:solidFill>
                      <a:srgbClr val="000F2D"/>
                    </a:solidFill>
                  </a:tcPr>
                </a:tc>
                <a:tc>
                  <a:txBody>
                    <a:bodyPr/>
                    <a:lstStyle/>
                    <a:p>
                      <a:pPr algn="l"/>
                      <a:r>
                        <a:rPr sz="1000" b="1">
                          <a:solidFill>
                            <a:srgbClr val="FFFFFF"/>
                          </a:solidFill>
                          <a:latin typeface="Arial"/>
                        </a:rPr>
                        <a:t>Hrs/Month</a:t>
                      </a:r>
                    </a:p>
                  </a:txBody>
                  <a:tcPr>
                    <a:solidFill>
                      <a:srgbClr val="000F2D"/>
                    </a:solidFill>
                  </a:tcPr>
                </a:tc>
                <a:tc>
                  <a:txBody>
                    <a:bodyPr/>
                    <a:lstStyle/>
                    <a:p>
                      <a:pPr algn="l"/>
                      <a:r>
                        <a:rPr sz="1000" b="1">
                          <a:solidFill>
                            <a:srgbClr val="FFFFFF"/>
                          </a:solidFill>
                          <a:latin typeface="Arial"/>
                        </a:rPr>
                        <a:t>Rate/hr</a:t>
                      </a:r>
                    </a:p>
                  </a:txBody>
                  <a:tcPr>
                    <a:solidFill>
                      <a:srgbClr val="000F2D"/>
                    </a:solidFill>
                  </a:tcPr>
                </a:tc>
                <a:tc>
                  <a:txBody>
                    <a:bodyPr/>
                    <a:lstStyle/>
                    <a:p>
                      <a:pPr algn="l"/>
                      <a:r>
                        <a:rPr sz="1000" b="1">
                          <a:solidFill>
                            <a:srgbClr val="FFFFFF"/>
                          </a:solidFill>
                          <a:latin typeface="Arial"/>
                        </a:rPr>
                        <a:t>Monthly Cost</a:t>
                      </a:r>
                    </a:p>
                  </a:txBody>
                  <a:tcPr>
                    <a:solidFill>
                      <a:srgbClr val="000F2D"/>
                    </a:solidFill>
                  </a:tcPr>
                </a:tc>
              </a:tr>
              <a:tr h="411480">
                <a:tc>
                  <a:txBody>
                    <a:bodyPr/>
                    <a:lstStyle/>
                    <a:p>
                      <a:pPr algn="l"/>
                      <a:r>
                        <a:rPr sz="1000">
                          <a:solidFill>
                            <a:srgbClr val="000F2D"/>
                          </a:solidFill>
                          <a:latin typeface="Arial"/>
                        </a:rPr>
                        <a:t>Cloud Architect</a:t>
                      </a:r>
                    </a:p>
                  </a:txBody>
                  <a:tcPr>
                    <a:solidFill>
                      <a:srgbClr val="FFFFFF"/>
                    </a:solidFill>
                  </a:tcPr>
                </a:tc>
                <a:tc>
                  <a:txBody>
                    <a:bodyPr/>
                    <a:lstStyle/>
                    <a:p>
                      <a:pPr algn="l"/>
                      <a:r>
                        <a:rPr sz="1000">
                          <a:solidFill>
                            <a:srgbClr val="000F2D"/>
                          </a:solidFill>
                          <a:latin typeface="Arial"/>
                        </a:rPr>
                        <a:t>2</a:t>
                      </a:r>
                    </a:p>
                  </a:txBody>
                  <a:tcPr>
                    <a:solidFill>
                      <a:srgbClr val="FFFFFF"/>
                    </a:solidFill>
                  </a:tcPr>
                </a:tc>
                <a:tc>
                  <a:txBody>
                    <a:bodyPr/>
                    <a:lstStyle/>
                    <a:p>
                      <a:pPr algn="l"/>
                      <a:r>
                        <a:rPr sz="1000">
                          <a:solidFill>
                            <a:srgbClr val="000F2D"/>
                          </a:solidFill>
                          <a:latin typeface="Arial"/>
                        </a:rPr>
                        <a:t>Offshore</a:t>
                      </a:r>
                    </a:p>
                  </a:txBody>
                  <a:tcPr>
                    <a:solidFill>
                      <a:srgbClr val="FFFFFF"/>
                    </a:solidFill>
                  </a:tcPr>
                </a:tc>
                <a:tc>
                  <a:txBody>
                    <a:bodyPr/>
                    <a:lstStyle/>
                    <a:p>
                      <a:pPr algn="l"/>
                      <a:r>
                        <a:rPr sz="1000">
                          <a:solidFill>
                            <a:srgbClr val="000F2D"/>
                          </a:solidFill>
                          <a:latin typeface="Arial"/>
                        </a:rPr>
                        <a:t>160</a:t>
                      </a:r>
                    </a:p>
                  </a:txBody>
                  <a:tcPr>
                    <a:solidFill>
                      <a:srgbClr val="FFFFFF"/>
                    </a:solidFill>
                  </a:tcPr>
                </a:tc>
                <a:tc>
                  <a:txBody>
                    <a:bodyPr/>
                    <a:lstStyle/>
                    <a:p>
                      <a:pPr algn="l"/>
                      <a:r>
                        <a:rPr sz="1000">
                          <a:solidFill>
                            <a:srgbClr val="000F2D"/>
                          </a:solidFill>
                          <a:latin typeface="Arial"/>
                        </a:rPr>
                        <a:t>$28</a:t>
                      </a:r>
                    </a:p>
                  </a:txBody>
                  <a:tcPr>
                    <a:solidFill>
                      <a:srgbClr val="FFFFFF"/>
                    </a:solidFill>
                  </a:tcPr>
                </a:tc>
                <a:tc>
                  <a:txBody>
                    <a:bodyPr/>
                    <a:lstStyle/>
                    <a:p>
                      <a:pPr algn="l"/>
                      <a:r>
                        <a:rPr sz="1000">
                          <a:solidFill>
                            <a:srgbClr val="000F2D"/>
                          </a:solidFill>
                          <a:latin typeface="Arial"/>
                        </a:rPr>
                        <a:t>$44,800</a:t>
                      </a:r>
                    </a:p>
                  </a:txBody>
                  <a:tcPr>
                    <a:solidFill>
                      <a:srgbClr val="FFFFFF"/>
                    </a:solidFill>
                  </a:tcPr>
                </a:tc>
              </a:tr>
              <a:tr h="411480">
                <a:tc>
                  <a:txBody>
                    <a:bodyPr/>
                    <a:lstStyle/>
                    <a:p>
                      <a:pPr algn="l"/>
                      <a:r>
                        <a:rPr sz="1000">
                          <a:solidFill>
                            <a:srgbClr val="000F2D"/>
                          </a:solidFill>
                          <a:latin typeface="Arial"/>
                        </a:rPr>
                        <a:t>Cloud Engineer</a:t>
                      </a:r>
                    </a:p>
                  </a:txBody>
                  <a:tcPr>
                    <a:solidFill>
                      <a:srgbClr val="F0F2F5"/>
                    </a:solidFill>
                  </a:tcPr>
                </a:tc>
                <a:tc>
                  <a:txBody>
                    <a:bodyPr/>
                    <a:lstStyle/>
                    <a:p>
                      <a:pPr algn="l"/>
                      <a:r>
                        <a:rPr sz="1000">
                          <a:solidFill>
                            <a:srgbClr val="000F2D"/>
                          </a:solidFill>
                          <a:latin typeface="Arial"/>
                        </a:rPr>
                        <a:t>4</a:t>
                      </a:r>
                    </a:p>
                  </a:txBody>
                  <a:tcPr>
                    <a:solidFill>
                      <a:srgbClr val="F0F2F5"/>
                    </a:solidFill>
                  </a:tcPr>
                </a:tc>
                <a:tc>
                  <a:txBody>
                    <a:bodyPr/>
                    <a:lstStyle/>
                    <a:p>
                      <a:pPr algn="l"/>
                      <a:r>
                        <a:rPr sz="1000">
                          <a:solidFill>
                            <a:srgbClr val="000F2D"/>
                          </a:solidFill>
                          <a:latin typeface="Arial"/>
                        </a:rPr>
                        <a:t>Offshore</a:t>
                      </a:r>
                    </a:p>
                  </a:txBody>
                  <a:tcPr>
                    <a:solidFill>
                      <a:srgbClr val="F0F2F5"/>
                    </a:solidFill>
                  </a:tcPr>
                </a:tc>
                <a:tc>
                  <a:txBody>
                    <a:bodyPr/>
                    <a:lstStyle/>
                    <a:p>
                      <a:pPr algn="l"/>
                      <a:r>
                        <a:rPr sz="1000">
                          <a:solidFill>
                            <a:srgbClr val="000F2D"/>
                          </a:solidFill>
                          <a:latin typeface="Arial"/>
                        </a:rPr>
                        <a:t>240</a:t>
                      </a:r>
                    </a:p>
                  </a:txBody>
                  <a:tcPr>
                    <a:solidFill>
                      <a:srgbClr val="F0F2F5"/>
                    </a:solidFill>
                  </a:tcPr>
                </a:tc>
                <a:tc>
                  <a:txBody>
                    <a:bodyPr/>
                    <a:lstStyle/>
                    <a:p>
                      <a:pPr algn="l"/>
                      <a:r>
                        <a:rPr sz="1000">
                          <a:solidFill>
                            <a:srgbClr val="000F2D"/>
                          </a:solidFill>
                          <a:latin typeface="Arial"/>
                        </a:rPr>
                        <a:t>$26</a:t>
                      </a:r>
                    </a:p>
                  </a:txBody>
                  <a:tcPr>
                    <a:solidFill>
                      <a:srgbClr val="F0F2F5"/>
                    </a:solidFill>
                  </a:tcPr>
                </a:tc>
                <a:tc>
                  <a:txBody>
                    <a:bodyPr/>
                    <a:lstStyle/>
                    <a:p>
                      <a:pPr algn="l"/>
                      <a:r>
                        <a:rPr sz="1000">
                          <a:solidFill>
                            <a:srgbClr val="000F2D"/>
                          </a:solidFill>
                          <a:latin typeface="Arial"/>
                        </a:rPr>
                        <a:t>$62,400</a:t>
                      </a:r>
                    </a:p>
                  </a:txBody>
                  <a:tcPr>
                    <a:solidFill>
                      <a:srgbClr val="F0F2F5"/>
                    </a:solidFill>
                  </a:tcPr>
                </a:tc>
              </a:tr>
              <a:tr h="411480">
                <a:tc>
                  <a:txBody>
                    <a:bodyPr/>
                    <a:lstStyle/>
                    <a:p>
                      <a:pPr algn="l"/>
                      <a:r>
                        <a:rPr sz="1000">
                          <a:solidFill>
                            <a:srgbClr val="000F2D"/>
                          </a:solidFill>
                          <a:latin typeface="Arial"/>
                        </a:rPr>
                        <a:t>Core Banking Specialist</a:t>
                      </a:r>
                    </a:p>
                  </a:txBody>
                  <a:tcPr>
                    <a:solidFill>
                      <a:srgbClr val="FFFFFF"/>
                    </a:solidFill>
                  </a:tcPr>
                </a:tc>
                <a:tc>
                  <a:txBody>
                    <a:bodyPr/>
                    <a:lstStyle/>
                    <a:p>
                      <a:pPr algn="l"/>
                      <a:r>
                        <a:rPr sz="1000">
                          <a:solidFill>
                            <a:srgbClr val="000F2D"/>
                          </a:solidFill>
                          <a:latin typeface="Arial"/>
                        </a:rPr>
                        <a:t>2</a:t>
                      </a:r>
                    </a:p>
                  </a:txBody>
                  <a:tcPr>
                    <a:solidFill>
                      <a:srgbClr val="FFFFFF"/>
                    </a:solidFill>
                  </a:tcPr>
                </a:tc>
                <a:tc>
                  <a:txBody>
                    <a:bodyPr/>
                    <a:lstStyle/>
                    <a:p>
                      <a:pPr algn="l"/>
                      <a:r>
                        <a:rPr sz="1000">
                          <a:solidFill>
                            <a:srgbClr val="000F2D"/>
                          </a:solidFill>
                          <a:latin typeface="Arial"/>
                        </a:rPr>
                        <a:t>Nearshore</a:t>
                      </a:r>
                    </a:p>
                  </a:txBody>
                  <a:tcPr>
                    <a:solidFill>
                      <a:srgbClr val="FFFFFF"/>
                    </a:solidFill>
                  </a:tcPr>
                </a:tc>
                <a:tc>
                  <a:txBody>
                    <a:bodyPr/>
                    <a:lstStyle/>
                    <a:p>
                      <a:pPr algn="l"/>
                      <a:r>
                        <a:rPr sz="1000">
                          <a:solidFill>
                            <a:srgbClr val="000F2D"/>
                          </a:solidFill>
                          <a:latin typeface="Arial"/>
                        </a:rPr>
                        <a:t>160</a:t>
                      </a:r>
                    </a:p>
                  </a:txBody>
                  <a:tcPr>
                    <a:solidFill>
                      <a:srgbClr val="FFFFFF"/>
                    </a:solidFill>
                  </a:tcPr>
                </a:tc>
                <a:tc>
                  <a:txBody>
                    <a:bodyPr/>
                    <a:lstStyle/>
                    <a:p>
                      <a:pPr algn="l"/>
                      <a:r>
                        <a:rPr sz="1000">
                          <a:solidFill>
                            <a:srgbClr val="000F2D"/>
                          </a:solidFill>
                          <a:latin typeface="Arial"/>
                        </a:rPr>
                        <a:t>$52</a:t>
                      </a:r>
                    </a:p>
                  </a:txBody>
                  <a:tcPr>
                    <a:solidFill>
                      <a:srgbClr val="FFFFFF"/>
                    </a:solidFill>
                  </a:tcPr>
                </a:tc>
                <a:tc>
                  <a:txBody>
                    <a:bodyPr/>
                    <a:lstStyle/>
                    <a:p>
                      <a:pPr algn="l"/>
                      <a:r>
                        <a:rPr sz="1000">
                          <a:solidFill>
                            <a:srgbClr val="000F2D"/>
                          </a:solidFill>
                          <a:latin typeface="Arial"/>
                        </a:rPr>
                        <a:t>$83,200</a:t>
                      </a:r>
                    </a:p>
                  </a:txBody>
                  <a:tcPr>
                    <a:solidFill>
                      <a:srgbClr val="FFFFFF"/>
                    </a:solidFill>
                  </a:tcPr>
                </a:tc>
              </a:tr>
              <a:tr h="411480">
                <a:tc>
                  <a:txBody>
                    <a:bodyPr/>
                    <a:lstStyle/>
                    <a:p>
                      <a:pPr algn="l"/>
                      <a:r>
                        <a:rPr sz="1000">
                          <a:solidFill>
                            <a:srgbClr val="000F2D"/>
                          </a:solidFill>
                          <a:latin typeface="Arial"/>
                        </a:rPr>
                        <a:t>Integration Specialist</a:t>
                      </a:r>
                    </a:p>
                  </a:txBody>
                  <a:tcPr>
                    <a:solidFill>
                      <a:srgbClr val="F0F2F5"/>
                    </a:solidFill>
                  </a:tcPr>
                </a:tc>
                <a:tc>
                  <a:txBody>
                    <a:bodyPr/>
                    <a:lstStyle/>
                    <a:p>
                      <a:pPr algn="l"/>
                      <a:r>
                        <a:rPr sz="1000">
                          <a:solidFill>
                            <a:srgbClr val="000F2D"/>
                          </a:solidFill>
                          <a:latin typeface="Arial"/>
                        </a:rPr>
                        <a:t>2</a:t>
                      </a:r>
                    </a:p>
                  </a:txBody>
                  <a:tcPr>
                    <a:solidFill>
                      <a:srgbClr val="F0F2F5"/>
                    </a:solidFill>
                  </a:tcPr>
                </a:tc>
                <a:tc>
                  <a:txBody>
                    <a:bodyPr/>
                    <a:lstStyle/>
                    <a:p>
                      <a:pPr algn="l"/>
                      <a:r>
                        <a:rPr sz="1000">
                          <a:solidFill>
                            <a:srgbClr val="000F2D"/>
                          </a:solidFill>
                          <a:latin typeface="Arial"/>
                        </a:rPr>
                        <a:t>Onshore</a:t>
                      </a:r>
                    </a:p>
                  </a:txBody>
                  <a:tcPr>
                    <a:solidFill>
                      <a:srgbClr val="F0F2F5"/>
                    </a:solidFill>
                  </a:tcPr>
                </a:tc>
                <a:tc>
                  <a:txBody>
                    <a:bodyPr/>
                    <a:lstStyle/>
                    <a:p>
                      <a:pPr algn="l"/>
                      <a:r>
                        <a:rPr sz="1000">
                          <a:solidFill>
                            <a:srgbClr val="000F2D"/>
                          </a:solidFill>
                          <a:latin typeface="Arial"/>
                        </a:rPr>
                        <a:t>160</a:t>
                      </a:r>
                    </a:p>
                  </a:txBody>
                  <a:tcPr>
                    <a:solidFill>
                      <a:srgbClr val="F0F2F5"/>
                    </a:solidFill>
                  </a:tcPr>
                </a:tc>
                <a:tc>
                  <a:txBody>
                    <a:bodyPr/>
                    <a:lstStyle/>
                    <a:p>
                      <a:pPr algn="l"/>
                      <a:r>
                        <a:rPr sz="1000">
                          <a:solidFill>
                            <a:srgbClr val="000F2D"/>
                          </a:solidFill>
                          <a:latin typeface="Arial"/>
                        </a:rPr>
                        <a:t>$90</a:t>
                      </a:r>
                    </a:p>
                  </a:txBody>
                  <a:tcPr>
                    <a:solidFill>
                      <a:srgbClr val="F0F2F5"/>
                    </a:solidFill>
                  </a:tcPr>
                </a:tc>
                <a:tc>
                  <a:txBody>
                    <a:bodyPr/>
                    <a:lstStyle/>
                    <a:p>
                      <a:pPr algn="l"/>
                      <a:r>
                        <a:rPr sz="1000">
                          <a:solidFill>
                            <a:srgbClr val="000F2D"/>
                          </a:solidFill>
                          <a:latin typeface="Arial"/>
                        </a:rPr>
                        <a:t>$144,000</a:t>
                      </a:r>
                    </a:p>
                  </a:txBody>
                  <a:tcPr>
                    <a:solidFill>
                      <a:srgbClr val="F0F2F5"/>
                    </a:solidFill>
                  </a:tcPr>
                </a:tc>
              </a:tr>
              <a:tr h="411480">
                <a:tc>
                  <a:txBody>
                    <a:bodyPr/>
                    <a:lstStyle/>
                    <a:p>
                      <a:pPr algn="l"/>
                      <a:r>
                        <a:rPr sz="1000">
                          <a:solidFill>
                            <a:srgbClr val="000F2D"/>
                          </a:solidFill>
                          <a:latin typeface="Arial"/>
                        </a:rPr>
                        <a:t>DevOps Engineer</a:t>
                      </a:r>
                    </a:p>
                  </a:txBody>
                  <a:tcPr>
                    <a:solidFill>
                      <a:srgbClr val="FFFFFF"/>
                    </a:solidFill>
                  </a:tcPr>
                </a:tc>
                <a:tc>
                  <a:txBody>
                    <a:bodyPr/>
                    <a:lstStyle/>
                    <a:p>
                      <a:pPr algn="l"/>
                      <a:r>
                        <a:rPr sz="1000">
                          <a:solidFill>
                            <a:srgbClr val="000F2D"/>
                          </a:solidFill>
                          <a:latin typeface="Arial"/>
                        </a:rPr>
                        <a:t>1</a:t>
                      </a:r>
                    </a:p>
                  </a:txBody>
                  <a:tcPr>
                    <a:solidFill>
                      <a:srgbClr val="FFFFFF"/>
                    </a:solidFill>
                  </a:tcPr>
                </a:tc>
                <a:tc>
                  <a:txBody>
                    <a:bodyPr/>
                    <a:lstStyle/>
                    <a:p>
                      <a:pPr algn="l"/>
                      <a:r>
                        <a:rPr sz="1000">
                          <a:solidFill>
                            <a:srgbClr val="000F2D"/>
                          </a:solidFill>
                          <a:latin typeface="Arial"/>
                        </a:rPr>
                        <a:t>Offshore</a:t>
                      </a:r>
                    </a:p>
                  </a:txBody>
                  <a:tcPr>
                    <a:solidFill>
                      <a:srgbClr val="FFFFFF"/>
                    </a:solidFill>
                  </a:tcPr>
                </a:tc>
                <a:tc>
                  <a:txBody>
                    <a:bodyPr/>
                    <a:lstStyle/>
                    <a:p>
                      <a:pPr algn="l"/>
                      <a:r>
                        <a:rPr sz="1000">
                          <a:solidFill>
                            <a:srgbClr val="000F2D"/>
                          </a:solidFill>
                          <a:latin typeface="Arial"/>
                        </a:rPr>
                        <a:t>80</a:t>
                      </a:r>
                    </a:p>
                  </a:txBody>
                  <a:tcPr>
                    <a:solidFill>
                      <a:srgbClr val="FFFFFF"/>
                    </a:solidFill>
                  </a:tcPr>
                </a:tc>
                <a:tc>
                  <a:txBody>
                    <a:bodyPr/>
                    <a:lstStyle/>
                    <a:p>
                      <a:pPr algn="l"/>
                      <a:r>
                        <a:rPr sz="1000">
                          <a:solidFill>
                            <a:srgbClr val="000F2D"/>
                          </a:solidFill>
                          <a:latin typeface="Arial"/>
                        </a:rPr>
                        <a:t>$30</a:t>
                      </a:r>
                    </a:p>
                  </a:txBody>
                  <a:tcPr>
                    <a:solidFill>
                      <a:srgbClr val="FFFFFF"/>
                    </a:solidFill>
                  </a:tcPr>
                </a:tc>
                <a:tc>
                  <a:txBody>
                    <a:bodyPr/>
                    <a:lstStyle/>
                    <a:p>
                      <a:pPr algn="l"/>
                      <a:r>
                        <a:rPr sz="1000">
                          <a:solidFill>
                            <a:srgbClr val="000F2D"/>
                          </a:solidFill>
                          <a:latin typeface="Arial"/>
                        </a:rPr>
                        <a:t>$24,000</a:t>
                      </a:r>
                    </a:p>
                  </a:txBody>
                  <a:tcPr>
                    <a:solidFill>
                      <a:srgbClr val="FFFFFF"/>
                    </a:solidFill>
                  </a:tcPr>
                </a:tc>
              </a:tr>
              <a:tr h="411480">
                <a:tc>
                  <a:txBody>
                    <a:bodyPr/>
                    <a:lstStyle/>
                    <a:p>
                      <a:pPr algn="l"/>
                      <a:r>
                        <a:rPr sz="1000">
                          <a:solidFill>
                            <a:srgbClr val="000F2D"/>
                          </a:solidFill>
                          <a:latin typeface="Arial"/>
                        </a:rPr>
                        <a:t>Data Scientist</a:t>
                      </a:r>
                    </a:p>
                  </a:txBody>
                  <a:tcPr>
                    <a:solidFill>
                      <a:srgbClr val="F0F2F5"/>
                    </a:solidFill>
                  </a:tcPr>
                </a:tc>
                <a:tc>
                  <a:txBody>
                    <a:bodyPr/>
                    <a:lstStyle/>
                    <a:p>
                      <a:pPr algn="l"/>
                      <a:r>
                        <a:rPr sz="1000">
                          <a:solidFill>
                            <a:srgbClr val="000F2D"/>
                          </a:solidFill>
                          <a:latin typeface="Arial"/>
                        </a:rPr>
                        <a:t>1</a:t>
                      </a:r>
                    </a:p>
                  </a:txBody>
                  <a:tcPr>
                    <a:solidFill>
                      <a:srgbClr val="F0F2F5"/>
                    </a:solidFill>
                  </a:tcPr>
                </a:tc>
                <a:tc>
                  <a:txBody>
                    <a:bodyPr/>
                    <a:lstStyle/>
                    <a:p>
                      <a:pPr algn="l"/>
                      <a:r>
                        <a:rPr sz="1000">
                          <a:solidFill>
                            <a:srgbClr val="000F2D"/>
                          </a:solidFill>
                          <a:latin typeface="Arial"/>
                        </a:rPr>
                        <a:t>Onshore</a:t>
                      </a:r>
                    </a:p>
                  </a:txBody>
                  <a:tcPr>
                    <a:solidFill>
                      <a:srgbClr val="F0F2F5"/>
                    </a:solidFill>
                  </a:tcPr>
                </a:tc>
                <a:tc>
                  <a:txBody>
                    <a:bodyPr/>
                    <a:lstStyle/>
                    <a:p>
                      <a:pPr algn="l"/>
                      <a:r>
                        <a:rPr sz="1000">
                          <a:solidFill>
                            <a:srgbClr val="000F2D"/>
                          </a:solidFill>
                          <a:latin typeface="Arial"/>
                        </a:rPr>
                        <a:t>80</a:t>
                      </a:r>
                    </a:p>
                  </a:txBody>
                  <a:tcPr>
                    <a:solidFill>
                      <a:srgbClr val="F0F2F5"/>
                    </a:solidFill>
                  </a:tcPr>
                </a:tc>
                <a:tc>
                  <a:txBody>
                    <a:bodyPr/>
                    <a:lstStyle/>
                    <a:p>
                      <a:pPr algn="l"/>
                      <a:r>
                        <a:rPr sz="1000">
                          <a:solidFill>
                            <a:srgbClr val="000F2D"/>
                          </a:solidFill>
                          <a:latin typeface="Arial"/>
                        </a:rPr>
                        <a:t>$110</a:t>
                      </a:r>
                    </a:p>
                  </a:txBody>
                  <a:tcPr>
                    <a:solidFill>
                      <a:srgbClr val="F0F2F5"/>
                    </a:solidFill>
                  </a:tcPr>
                </a:tc>
                <a:tc>
                  <a:txBody>
                    <a:bodyPr/>
                    <a:lstStyle/>
                    <a:p>
                      <a:pPr algn="l"/>
                      <a:r>
                        <a:rPr sz="1000">
                          <a:solidFill>
                            <a:srgbClr val="000F2D"/>
                          </a:solidFill>
                          <a:latin typeface="Arial"/>
                        </a:rPr>
                        <a:t>$88,000</a:t>
                      </a:r>
                    </a:p>
                  </a:txBody>
                  <a:tcPr>
                    <a:solidFill>
                      <a:srgbClr val="F0F2F5"/>
                    </a:solidFill>
                  </a:tcPr>
                </a:tc>
              </a:tr>
              <a:tr h="411480">
                <a:tc>
                  <a:txBody>
                    <a:bodyPr/>
                    <a:lstStyle/>
                    <a:p>
                      <a:pPr algn="l"/>
                      <a:r>
                        <a:rPr sz="1000">
                          <a:solidFill>
                            <a:srgbClr val="000F2D"/>
                          </a:solidFill>
                          <a:latin typeface="Arial"/>
                        </a:rPr>
                        <a:t>Project Manager</a:t>
                      </a:r>
                    </a:p>
                  </a:txBody>
                  <a:tcPr>
                    <a:solidFill>
                      <a:srgbClr val="FFFFFF"/>
                    </a:solidFill>
                  </a:tcPr>
                </a:tc>
                <a:tc>
                  <a:txBody>
                    <a:bodyPr/>
                    <a:lstStyle/>
                    <a:p>
                      <a:pPr algn="l"/>
                      <a:r>
                        <a:rPr sz="1000">
                          <a:solidFill>
                            <a:srgbClr val="000F2D"/>
                          </a:solidFill>
                          <a:latin typeface="Arial"/>
                        </a:rPr>
                        <a:t>1</a:t>
                      </a:r>
                    </a:p>
                  </a:txBody>
                  <a:tcPr>
                    <a:solidFill>
                      <a:srgbClr val="FFFFFF"/>
                    </a:solidFill>
                  </a:tcPr>
                </a:tc>
                <a:tc>
                  <a:txBody>
                    <a:bodyPr/>
                    <a:lstStyle/>
                    <a:p>
                      <a:pPr algn="l"/>
                      <a:r>
                        <a:rPr sz="1000">
                          <a:solidFill>
                            <a:srgbClr val="000F2D"/>
                          </a:solidFill>
                          <a:latin typeface="Arial"/>
                        </a:rPr>
                        <a:t>Onshore</a:t>
                      </a:r>
                    </a:p>
                  </a:txBody>
                  <a:tcPr>
                    <a:solidFill>
                      <a:srgbClr val="FFFFFF"/>
                    </a:solidFill>
                  </a:tcPr>
                </a:tc>
                <a:tc>
                  <a:txBody>
                    <a:bodyPr/>
                    <a:lstStyle/>
                    <a:p>
                      <a:pPr algn="l"/>
                      <a:r>
                        <a:rPr sz="1000">
                          <a:solidFill>
                            <a:srgbClr val="000F2D"/>
                          </a:solidFill>
                          <a:latin typeface="Arial"/>
                        </a:rPr>
                        <a:t>80</a:t>
                      </a:r>
                    </a:p>
                  </a:txBody>
                  <a:tcPr>
                    <a:solidFill>
                      <a:srgbClr val="FFFFFF"/>
                    </a:solidFill>
                  </a:tcPr>
                </a:tc>
                <a:tc>
                  <a:txBody>
                    <a:bodyPr/>
                    <a:lstStyle/>
                    <a:p>
                      <a:pPr algn="l"/>
                      <a:r>
                        <a:rPr sz="1000">
                          <a:solidFill>
                            <a:srgbClr val="000F2D"/>
                          </a:solidFill>
                          <a:latin typeface="Arial"/>
                        </a:rPr>
                        <a:t>$100</a:t>
                      </a:r>
                    </a:p>
                  </a:txBody>
                  <a:tcPr>
                    <a:solidFill>
                      <a:srgbClr val="FFFFFF"/>
                    </a:solidFill>
                  </a:tcPr>
                </a:tc>
                <a:tc>
                  <a:txBody>
                    <a:bodyPr/>
                    <a:lstStyle/>
                    <a:p>
                      <a:pPr algn="l"/>
                      <a:r>
                        <a:rPr sz="1000">
                          <a:solidFill>
                            <a:srgbClr val="000F2D"/>
                          </a:solidFill>
                          <a:latin typeface="Arial"/>
                        </a:rPr>
                        <a:t>$80,000</a:t>
                      </a:r>
                    </a:p>
                  </a:txBody>
                  <a:tcPr>
                    <a:solidFill>
                      <a:srgbClr val="FFFFFF"/>
                    </a:solidFill>
                  </a:tcPr>
                </a:tc>
              </a:tr>
              <a:tr h="411480">
                <a:tc>
                  <a:txBody>
                    <a:bodyPr/>
                    <a:lstStyle/>
                    <a:p>
                      <a:pPr algn="l"/>
                      <a:r>
                        <a:rPr sz="1000">
                          <a:solidFill>
                            <a:srgbClr val="000F2D"/>
                          </a:solidFill>
                          <a:latin typeface="Arial"/>
                        </a:rPr>
                        <a:t>QA Engineer</a:t>
                      </a:r>
                    </a:p>
                  </a:txBody>
                  <a:tcPr>
                    <a:solidFill>
                      <a:srgbClr val="F0F2F5"/>
                    </a:solidFill>
                  </a:tcPr>
                </a:tc>
                <a:tc>
                  <a:txBody>
                    <a:bodyPr/>
                    <a:lstStyle/>
                    <a:p>
                      <a:pPr algn="l"/>
                      <a:r>
                        <a:rPr sz="1000">
                          <a:solidFill>
                            <a:srgbClr val="000F2D"/>
                          </a:solidFill>
                          <a:latin typeface="Arial"/>
                        </a:rPr>
                        <a:t>1</a:t>
                      </a:r>
                    </a:p>
                  </a:txBody>
                  <a:tcPr>
                    <a:solidFill>
                      <a:srgbClr val="F0F2F5"/>
                    </a:solidFill>
                  </a:tcPr>
                </a:tc>
                <a:tc>
                  <a:txBody>
                    <a:bodyPr/>
                    <a:lstStyle/>
                    <a:p>
                      <a:pPr algn="l"/>
                      <a:r>
                        <a:rPr sz="1000">
                          <a:solidFill>
                            <a:srgbClr val="000F2D"/>
                          </a:solidFill>
                          <a:latin typeface="Arial"/>
                        </a:rPr>
                        <a:t>Offshore</a:t>
                      </a:r>
                    </a:p>
                  </a:txBody>
                  <a:tcPr>
                    <a:solidFill>
                      <a:srgbClr val="F0F2F5"/>
                    </a:solidFill>
                  </a:tcPr>
                </a:tc>
                <a:tc>
                  <a:txBody>
                    <a:bodyPr/>
                    <a:lstStyle/>
                    <a:p>
                      <a:pPr algn="l"/>
                      <a:r>
                        <a:rPr sz="1000">
                          <a:solidFill>
                            <a:srgbClr val="000F2D"/>
                          </a:solidFill>
                          <a:latin typeface="Arial"/>
                        </a:rPr>
                        <a:t>80</a:t>
                      </a:r>
                    </a:p>
                  </a:txBody>
                  <a:tcPr>
                    <a:solidFill>
                      <a:srgbClr val="F0F2F5"/>
                    </a:solidFill>
                  </a:tcPr>
                </a:tc>
                <a:tc>
                  <a:txBody>
                    <a:bodyPr/>
                    <a:lstStyle/>
                    <a:p>
                      <a:pPr algn="l"/>
                      <a:r>
                        <a:rPr sz="1000">
                          <a:solidFill>
                            <a:srgbClr val="000F2D"/>
                          </a:solidFill>
                          <a:latin typeface="Arial"/>
                        </a:rPr>
                        <a:t>$25</a:t>
                      </a:r>
                    </a:p>
                  </a:txBody>
                  <a:tcPr>
                    <a:solidFill>
                      <a:srgbClr val="F0F2F5"/>
                    </a:solidFill>
                  </a:tcPr>
                </a:tc>
                <a:tc>
                  <a:txBody>
                    <a:bodyPr/>
                    <a:lstStyle/>
                    <a:p>
                      <a:pPr algn="l"/>
                      <a:r>
                        <a:rPr sz="1000">
                          <a:solidFill>
                            <a:srgbClr val="000F2D"/>
                          </a:solidFill>
                          <a:latin typeface="Arial"/>
                        </a:rPr>
                        <a:t>$20,000</a:t>
                      </a:r>
                    </a:p>
                  </a:txBody>
                  <a:tcPr>
                    <a:solidFill>
                      <a:srgbClr val="F0F2F5"/>
                    </a:solidFill>
                  </a:tcPr>
                </a:tc>
              </a:tr>
              <a:tr h="411480">
                <a:tc>
                  <a:txBody>
                    <a:bodyPr/>
                    <a:lstStyle/>
                    <a:p>
                      <a:pPr algn="l"/>
                      <a:r>
                        <a:rPr sz="1000">
                          <a:solidFill>
                            <a:srgbClr val="000F2D"/>
                          </a:solidFill>
                          <a:latin typeface="Arial"/>
                        </a:rPr>
                        <a:t>Business Analyst</a:t>
                      </a:r>
                    </a:p>
                  </a:txBody>
                  <a:tcPr>
                    <a:solidFill>
                      <a:srgbClr val="FFFFFF"/>
                    </a:solidFill>
                  </a:tcPr>
                </a:tc>
                <a:tc>
                  <a:txBody>
                    <a:bodyPr/>
                    <a:lstStyle/>
                    <a:p>
                      <a:pPr algn="l"/>
                      <a:r>
                        <a:rPr sz="1000">
                          <a:solidFill>
                            <a:srgbClr val="000F2D"/>
                          </a:solidFill>
                          <a:latin typeface="Arial"/>
                        </a:rPr>
                        <a:t>1</a:t>
                      </a:r>
                    </a:p>
                  </a:txBody>
                  <a:tcPr>
                    <a:solidFill>
                      <a:srgbClr val="FFFFFF"/>
                    </a:solidFill>
                  </a:tcPr>
                </a:tc>
                <a:tc>
                  <a:txBody>
                    <a:bodyPr/>
                    <a:lstStyle/>
                    <a:p>
                      <a:pPr algn="l"/>
                      <a:r>
                        <a:rPr sz="1000">
                          <a:solidFill>
                            <a:srgbClr val="000F2D"/>
                          </a:solidFill>
                          <a:latin typeface="Arial"/>
                        </a:rPr>
                        <a:t>Nearshore</a:t>
                      </a:r>
                    </a:p>
                  </a:txBody>
                  <a:tcPr>
                    <a:solidFill>
                      <a:srgbClr val="FFFFFF"/>
                    </a:solidFill>
                  </a:tcPr>
                </a:tc>
                <a:tc>
                  <a:txBody>
                    <a:bodyPr/>
                    <a:lstStyle/>
                    <a:p>
                      <a:pPr algn="l"/>
                      <a:r>
                        <a:rPr sz="1000">
                          <a:solidFill>
                            <a:srgbClr val="000F2D"/>
                          </a:solidFill>
                          <a:latin typeface="Arial"/>
                        </a:rPr>
                        <a:t>80</a:t>
                      </a:r>
                    </a:p>
                  </a:txBody>
                  <a:tcPr>
                    <a:solidFill>
                      <a:srgbClr val="FFFFFF"/>
                    </a:solidFill>
                  </a:tcPr>
                </a:tc>
                <a:tc>
                  <a:txBody>
                    <a:bodyPr/>
                    <a:lstStyle/>
                    <a:p>
                      <a:pPr algn="l"/>
                      <a:r>
                        <a:rPr sz="1000">
                          <a:solidFill>
                            <a:srgbClr val="000F2D"/>
                          </a:solidFill>
                          <a:latin typeface="Arial"/>
                        </a:rPr>
                        <a:t>$45</a:t>
                      </a:r>
                    </a:p>
                  </a:txBody>
                  <a:tcPr>
                    <a:solidFill>
                      <a:srgbClr val="FFFFFF"/>
                    </a:solidFill>
                  </a:tcPr>
                </a:tc>
                <a:tc>
                  <a:txBody>
                    <a:bodyPr/>
                    <a:lstStyle/>
                    <a:p>
                      <a:pPr algn="l"/>
                      <a:r>
                        <a:rPr sz="1000">
                          <a:solidFill>
                            <a:srgbClr val="000F2D"/>
                          </a:solidFill>
                          <a:latin typeface="Arial"/>
                        </a:rPr>
                        <a:t>$36,000</a:t>
                      </a:r>
                    </a:p>
                  </a:txBody>
                  <a:tcPr>
                    <a:solidFill>
                      <a:srgbClr val="FFFFFF"/>
                    </a:solidFill>
                  </a:tcPr>
                </a:tc>
              </a:tr>
            </a:tbl>
          </a:graphicData>
        </a:graphic>
      </p:graphicFrame>
      <p:sp>
        <p:nvSpPr>
          <p:cNvPr id="7" name="TextBox 6"/>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8" name="TextBox 7"/>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19</a:t>
            </a:r>
          </a:p>
        </p:txBody>
      </p:sp>
      <p:sp>
        <p:nvSpPr>
          <p:cNvPr id="9" name="Rectangle 8"/>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7. COMMERCIAL SUMMARY</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Our commercial proposal is based on a fixed-price model, with a total cost of ₹1,234,567,890. The breakdown of the costs is as follows:</a:t>
            </a:r>
          </a:p>
        </p:txBody>
      </p:sp>
      <p:sp>
        <p:nvSpPr>
          <p:cNvPr id="7" name="TextBox 6"/>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8" name="TextBox 7"/>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20</a:t>
            </a:r>
          </a:p>
        </p:txBody>
      </p:sp>
      <p:sp>
        <p:nvSpPr>
          <p:cNvPr id="9" name="Rectangle 8"/>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09</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8. WHY TECH MAHINDRA?</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8. WHY TECH MAHINDRA?</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We believe that our solution will meet the client's requirements and provide a long-term strategic technology partnership. Our team has extensive experience in implementing cloud-native core banking platforms, and we are confident that our solution w</a:t>
            </a:r>
          </a:p>
        </p:txBody>
      </p:sp>
      <p:sp>
        <p:nvSpPr>
          <p:cNvPr id="7" name="Rectangle 6"/>
          <p:cNvSpPr/>
          <p:nvPr/>
        </p:nvSpPr>
        <p:spPr>
          <a:xfrm>
            <a:off x="731520" y="248716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640080"/>
          </a:xfrm>
          <a:prstGeom prst="rect">
            <a:avLst/>
          </a:prstGeom>
          <a:noFill/>
        </p:spPr>
        <p:txBody>
          <a:bodyPr wrap="square" anchor="t">
            <a:spAutoFit/>
          </a:bodyPr>
          <a:lstStyle/>
          <a:p>
            <a:pPr algn="l"/>
            <a:r>
              <a:rPr sz="1600" b="0" i="0">
                <a:solidFill>
                  <a:srgbClr val="000F2D"/>
                </a:solidFill>
                <a:latin typeface="Arial"/>
              </a:rPr>
              <a:t>We also believe that our commercial proposal is competitive and provides value for money. Our team is committed to delivering high-quality solutions and ensuring customer satisfaction.</a:t>
            </a:r>
          </a:p>
        </p:txBody>
      </p:sp>
      <p:sp>
        <p:nvSpPr>
          <p:cNvPr id="9" name="TextBox 8"/>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0" name="TextBox 9"/>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22</a:t>
            </a:r>
          </a:p>
        </p:txBody>
      </p:sp>
      <p:sp>
        <p:nvSpPr>
          <p:cNvPr id="11" name="Rectangle 10"/>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10</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9. NEXT STEPS</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9. NEXT STEPS</a:t>
            </a:r>
          </a:p>
        </p:txBody>
      </p:sp>
      <p:sp>
        <p:nvSpPr>
          <p:cNvPr id="5" name="Rectangle 4"/>
          <p:cNvSpPr/>
          <p:nvPr/>
        </p:nvSpPr>
        <p:spPr>
          <a:xfrm>
            <a:off x="54864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5029200" cy="822960"/>
          </a:xfrm>
          <a:prstGeom prst="rect">
            <a:avLst/>
          </a:prstGeom>
          <a:noFill/>
        </p:spPr>
        <p:txBody>
          <a:bodyPr wrap="square" anchor="t">
            <a:spAutoFit/>
          </a:bodyPr>
          <a:lstStyle/>
          <a:p>
            <a:pPr algn="l"/>
            <a:r>
              <a:rPr sz="1400" b="0" i="0">
                <a:solidFill>
                  <a:srgbClr val="000F2D"/>
                </a:solidFill>
                <a:latin typeface="Arial"/>
              </a:rPr>
              <a:t>We propose the following next steps:</a:t>
            </a:r>
          </a:p>
        </p:txBody>
      </p:sp>
      <p:sp>
        <p:nvSpPr>
          <p:cNvPr id="7" name="Rectangle 6"/>
          <p:cNvSpPr/>
          <p:nvPr/>
        </p:nvSpPr>
        <p:spPr>
          <a:xfrm>
            <a:off x="54864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60320"/>
            <a:ext cx="5029200" cy="822960"/>
          </a:xfrm>
          <a:prstGeom prst="rect">
            <a:avLst/>
          </a:prstGeom>
          <a:noFill/>
        </p:spPr>
        <p:txBody>
          <a:bodyPr wrap="square" anchor="t">
            <a:spAutoFit/>
          </a:bodyPr>
          <a:lstStyle/>
          <a:p>
            <a:pPr algn="l"/>
            <a:r>
              <a:rPr sz="1400" b="0" i="0">
                <a:solidFill>
                  <a:srgbClr val="000F2D"/>
                </a:solidFill>
                <a:latin typeface="Arial"/>
              </a:rPr>
              <a:t>Conduct a detailed requirements gathering session with the client to ensure alignment with the solution.</a:t>
            </a:r>
          </a:p>
        </p:txBody>
      </p:sp>
      <p:sp>
        <p:nvSpPr>
          <p:cNvPr id="9" name="Rectangle 8"/>
          <p:cNvSpPr/>
          <p:nvPr/>
        </p:nvSpPr>
        <p:spPr>
          <a:xfrm>
            <a:off x="54864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74720"/>
            <a:ext cx="5029200" cy="822960"/>
          </a:xfrm>
          <a:prstGeom prst="rect">
            <a:avLst/>
          </a:prstGeom>
          <a:noFill/>
        </p:spPr>
        <p:txBody>
          <a:bodyPr wrap="square" anchor="t">
            <a:spAutoFit/>
          </a:bodyPr>
          <a:lstStyle/>
          <a:p>
            <a:pPr algn="l"/>
            <a:r>
              <a:rPr sz="1400" b="0" i="0">
                <a:solidFill>
                  <a:srgbClr val="000F2D"/>
                </a:solidFill>
                <a:latin typeface="Arial"/>
              </a:rPr>
              <a:t>Develop a detailed project plan and timeline, including milestones and deliverables.</a:t>
            </a:r>
          </a:p>
        </p:txBody>
      </p:sp>
      <p:sp>
        <p:nvSpPr>
          <p:cNvPr id="11" name="Rectangle 10"/>
          <p:cNvSpPr/>
          <p:nvPr/>
        </p:nvSpPr>
        <p:spPr>
          <a:xfrm>
            <a:off x="54864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5029200" cy="822960"/>
          </a:xfrm>
          <a:prstGeom prst="rect">
            <a:avLst/>
          </a:prstGeom>
          <a:noFill/>
        </p:spPr>
        <p:txBody>
          <a:bodyPr wrap="square" anchor="t">
            <a:spAutoFit/>
          </a:bodyPr>
          <a:lstStyle/>
          <a:p>
            <a:pPr algn="l"/>
            <a:r>
              <a:rPr sz="1400" b="0" i="0">
                <a:solidFill>
                  <a:srgbClr val="000F2D"/>
                </a:solidFill>
                <a:latin typeface="Arial"/>
              </a:rPr>
              <a:t>Conduct a thorough risk assessment and mitigation plan to ensure the success of the project.</a:t>
            </a:r>
          </a:p>
        </p:txBody>
      </p:sp>
      <p:sp>
        <p:nvSpPr>
          <p:cNvPr id="13" name="Rectangle 12"/>
          <p:cNvSpPr/>
          <p:nvPr/>
        </p:nvSpPr>
        <p:spPr>
          <a:xfrm>
            <a:off x="54864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303520"/>
            <a:ext cx="5029200" cy="822960"/>
          </a:xfrm>
          <a:prstGeom prst="rect">
            <a:avLst/>
          </a:prstGeom>
          <a:noFill/>
        </p:spPr>
        <p:txBody>
          <a:bodyPr wrap="square" anchor="t">
            <a:spAutoFit/>
          </a:bodyPr>
          <a:lstStyle/>
          <a:p>
            <a:pPr algn="l"/>
            <a:r>
              <a:rPr sz="1400" b="0" i="0">
                <a:solidFill>
                  <a:srgbClr val="000F2D"/>
                </a:solidFill>
                <a:latin typeface="Arial"/>
              </a:rPr>
              <a:t>Establish a communication plan to ensure seamless communication and coordination across teams.</a:t>
            </a:r>
          </a:p>
        </p:txBody>
      </p:sp>
      <p:sp>
        <p:nvSpPr>
          <p:cNvPr id="15" name="Rectangle 14"/>
          <p:cNvSpPr/>
          <p:nvPr/>
        </p:nvSpPr>
        <p:spPr>
          <a:xfrm>
            <a:off x="640080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645920"/>
            <a:ext cx="5029200" cy="822960"/>
          </a:xfrm>
          <a:prstGeom prst="rect">
            <a:avLst/>
          </a:prstGeom>
          <a:noFill/>
        </p:spPr>
        <p:txBody>
          <a:bodyPr wrap="square" anchor="t">
            <a:spAutoFit/>
          </a:bodyPr>
          <a:lstStyle/>
          <a:p>
            <a:pPr algn="l"/>
            <a:r>
              <a:rPr sz="1400" b="0" i="0">
                <a:solidFill>
                  <a:srgbClr val="000F2D"/>
                </a:solidFill>
                <a:latin typeface="Arial"/>
              </a:rPr>
              <a:t>We believe that our solution will meet the client's requirements and provide a long-term strategic technology partnership. We look forward to the opportunity to work with HDFC Bank Limited and deliver</a:t>
            </a:r>
          </a:p>
        </p:txBody>
      </p:sp>
      <p:sp>
        <p:nvSpPr>
          <p:cNvPr id="17" name="TextBox 16"/>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8" name="TextBox 17"/>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24</a:t>
            </a:r>
          </a:p>
        </p:txBody>
      </p:sp>
      <p:sp>
        <p:nvSpPr>
          <p:cNvPr id="19" name="Rectangle 18"/>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057400"/>
            <a:ext cx="12188952" cy="27432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697480"/>
            <a:ext cx="12188952" cy="914400"/>
          </a:xfrm>
          <a:prstGeom prst="rect">
            <a:avLst/>
          </a:prstGeom>
          <a:noFill/>
        </p:spPr>
        <p:txBody>
          <a:bodyPr wrap="square" anchor="t">
            <a:spAutoFit/>
          </a:bodyPr>
          <a:lstStyle/>
          <a:p>
            <a:pPr algn="ctr"/>
            <a:r>
              <a:rPr sz="6400" b="1" i="0">
                <a:solidFill>
                  <a:srgbClr val="FFFFFF"/>
                </a:solidFill>
                <a:latin typeface="Arial"/>
              </a:rPr>
              <a:t>THANK YOU</a:t>
            </a:r>
          </a:p>
        </p:txBody>
      </p:sp>
      <p:sp>
        <p:nvSpPr>
          <p:cNvPr id="4" name="TextBox 3"/>
          <p:cNvSpPr txBox="1"/>
          <p:nvPr/>
        </p:nvSpPr>
        <p:spPr>
          <a:xfrm>
            <a:off x="0" y="3703320"/>
            <a:ext cx="12188952" cy="457200"/>
          </a:xfrm>
          <a:prstGeom prst="rect">
            <a:avLst/>
          </a:prstGeom>
          <a:noFill/>
        </p:spPr>
        <p:txBody>
          <a:bodyPr wrap="square" anchor="t">
            <a:spAutoFit/>
          </a:bodyPr>
          <a:lstStyle/>
          <a:p>
            <a:pPr algn="ctr"/>
            <a:r>
              <a:rPr sz="2000" b="0" i="0">
                <a:solidFill>
                  <a:srgbClr val="FFFFFF"/>
                </a:solidFill>
                <a:latin typeface="Arial"/>
              </a:rPr>
              <a:t>We look forward to a successful partnership.</a:t>
            </a:r>
          </a:p>
        </p:txBody>
      </p:sp>
      <p:sp>
        <p:nvSpPr>
          <p:cNvPr id="5" name="TextBox 4"/>
          <p:cNvSpPr txBox="1"/>
          <p:nvPr/>
        </p:nvSpPr>
        <p:spPr>
          <a:xfrm>
            <a:off x="0" y="5943600"/>
            <a:ext cx="12188952" cy="457200"/>
          </a:xfrm>
          <a:prstGeom prst="rect">
            <a:avLst/>
          </a:prstGeom>
          <a:noFill/>
        </p:spPr>
        <p:txBody>
          <a:bodyPr wrap="square" anchor="t">
            <a:spAutoFit/>
          </a:bodyPr>
          <a:lstStyle/>
          <a:p>
            <a:pPr algn="ctr"/>
            <a:r>
              <a:rPr sz="1400" b="1" i="0">
                <a:solidFill>
                  <a:srgbClr val="C8D2E6"/>
                </a:solidFill>
                <a:latin typeface="Arial"/>
              </a:rPr>
              <a:t>TECH MAHINDRA STRATEGIC CONSULTING</a:t>
            </a:r>
          </a:p>
        </p:txBody>
      </p:sp>
      <p:sp>
        <p:nvSpPr>
          <p:cNvPr id="6" name="TextBox 5"/>
          <p:cNvSpPr txBox="1"/>
          <p:nvPr/>
        </p:nvSpPr>
        <p:spPr>
          <a:xfrm>
            <a:off x="0" y="6400800"/>
            <a:ext cx="12188952" cy="457200"/>
          </a:xfrm>
          <a:prstGeom prst="rect">
            <a:avLst/>
          </a:prstGeom>
          <a:noFill/>
        </p:spPr>
        <p:txBody>
          <a:bodyPr wrap="square" anchor="t">
            <a:spAutoFit/>
          </a:bodyPr>
          <a:lstStyle/>
          <a:p>
            <a:pPr algn="ctr"/>
            <a:r>
              <a:rPr sz="1000" b="0" i="0">
                <a:solidFill>
                  <a:srgbClr val="696969"/>
                </a:solidFill>
                <a:latin typeface="Arial"/>
              </a:rPr>
              <a:t>confidential | proprietary | strictly not for distribution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