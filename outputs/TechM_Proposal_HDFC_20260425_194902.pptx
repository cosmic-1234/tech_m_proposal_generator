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578"/>
        </a:solidFill>
        <a:effectLst/>
      </p:bgPr>
    </p:bg>
    <p:spTree>
      <p:nvGrpSpPr>
        <p:cNvPr id="1" name=""/>
        <p:cNvGrpSpPr/>
        <p:nvPr/>
      </p:nvGrpSpPr>
      <p:grpSpPr/>
      <p:sp>
        <p:nvSpPr>
          <p:cNvPr id="2" name="Rectangle 1"/>
          <p:cNvSpPr/>
          <p:nvPr/>
        </p:nvSpPr>
        <p:spPr>
          <a:xfrm>
            <a:off x="0" y="5120640"/>
            <a:ext cx="12188952" cy="9144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11247120" cy="1097280"/>
          </a:xfrm>
          <a:prstGeom prst="rect">
            <a:avLst/>
          </a:prstGeom>
          <a:noFill/>
        </p:spPr>
        <p:txBody>
          <a:bodyPr wrap="square">
            <a:spAutoFit/>
          </a:bodyPr>
          <a:lstStyle/>
          <a:p>
            <a:pPr algn="ctr"/>
            <a:r>
              <a:rPr sz="4600" b="1">
                <a:solidFill>
                  <a:srgbClr val="FFFFFF"/>
                </a:solidFill>
                <a:latin typeface="Calibri Light"/>
              </a:rPr>
              <a:t>TECH MAHINDRA</a:t>
            </a:r>
          </a:p>
        </p:txBody>
      </p:sp>
      <p:sp>
        <p:nvSpPr>
          <p:cNvPr id="5" name="TextBox 4"/>
          <p:cNvSpPr txBox="1"/>
          <p:nvPr/>
        </p:nvSpPr>
        <p:spPr>
          <a:xfrm>
            <a:off x="457200" y="2377440"/>
            <a:ext cx="11247120" cy="731520"/>
          </a:xfrm>
          <a:prstGeom prst="rect">
            <a:avLst/>
          </a:prstGeom>
          <a:noFill/>
        </p:spPr>
        <p:txBody>
          <a:bodyPr wrap="square">
            <a:spAutoFit/>
          </a:bodyPr>
          <a:lstStyle/>
          <a:p>
            <a:pPr algn="ctr"/>
            <a:r>
              <a:rPr sz="2400" b="0">
                <a:solidFill>
                  <a:srgbClr val="CCDDFF"/>
                </a:solidFill>
                <a:latin typeface="Calibri Light"/>
              </a:rPr>
              <a:t>Solution Proposal</a:t>
            </a:r>
          </a:p>
        </p:txBody>
      </p:sp>
      <p:sp>
        <p:nvSpPr>
          <p:cNvPr id="6" name="TextBox 5"/>
          <p:cNvSpPr txBox="1"/>
          <p:nvPr/>
        </p:nvSpPr>
        <p:spPr>
          <a:xfrm>
            <a:off x="457200" y="3200400"/>
            <a:ext cx="11247120" cy="548640"/>
          </a:xfrm>
          <a:prstGeom prst="rect">
            <a:avLst/>
          </a:prstGeom>
          <a:noFill/>
        </p:spPr>
        <p:txBody>
          <a:bodyPr wrap="square">
            <a:spAutoFit/>
          </a:bodyPr>
          <a:lstStyle/>
          <a:p>
            <a:pPr algn="ctr"/>
            <a:r>
              <a:rPr sz="1800" b="0">
                <a:solidFill>
                  <a:srgbClr val="AACCFF"/>
                </a:solidFill>
                <a:latin typeface="Calibri Light"/>
              </a:rPr>
              <a:t>Prepared for: HDFC</a:t>
            </a:r>
          </a:p>
        </p:txBody>
      </p:sp>
      <p:sp>
        <p:nvSpPr>
          <p:cNvPr id="7" name="TextBox 6"/>
          <p:cNvSpPr txBox="1"/>
          <p:nvPr/>
        </p:nvSpPr>
        <p:spPr>
          <a:xfrm>
            <a:off x="457200" y="3931920"/>
            <a:ext cx="11247120" cy="457200"/>
          </a:xfrm>
          <a:prstGeom prst="rect">
            <a:avLst/>
          </a:prstGeom>
          <a:noFill/>
        </p:spPr>
        <p:txBody>
          <a:bodyPr wrap="square">
            <a:spAutoFit/>
          </a:bodyPr>
          <a:lstStyle/>
          <a:p>
            <a:pPr algn="ctr"/>
            <a:r>
              <a:rPr sz="1400" b="0">
                <a:solidFill>
                  <a:srgbClr val="8899AA"/>
                </a:solidFill>
                <a:latin typeface="Calibri Light"/>
              </a:rPr>
              <a:t>April 2026</a:t>
            </a:r>
          </a:p>
        </p:txBody>
      </p:sp>
      <p:sp>
        <p:nvSpPr>
          <p:cNvPr id="8" name="TextBox 7"/>
          <p:cNvSpPr txBox="1"/>
          <p:nvPr/>
        </p:nvSpPr>
        <p:spPr>
          <a:xfrm>
            <a:off x="457200" y="6309360"/>
            <a:ext cx="11247120" cy="365760"/>
          </a:xfrm>
          <a:prstGeom prst="rect">
            <a:avLst/>
          </a:prstGeom>
          <a:noFill/>
        </p:spPr>
        <p:txBody>
          <a:bodyPr wrap="square">
            <a:spAutoFit/>
          </a:bodyPr>
          <a:lstStyle/>
          <a:p>
            <a:pPr algn="ctr"/>
            <a:r>
              <a:rPr sz="1000" b="0">
                <a:solidFill>
                  <a:srgbClr val="667788"/>
                </a:solidFill>
                <a:latin typeface="Calibri Light"/>
              </a:rPr>
              <a:t>CONFIDENTIAL | www.techmahindra.com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3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73152" cy="576072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5486400" cy="822960"/>
          </a:xfrm>
          <a:prstGeom prst="rect">
            <a:avLst/>
          </a:prstGeom>
          <a:noFill/>
        </p:spPr>
        <p:txBody>
          <a:bodyPr wrap="square">
            <a:spAutoFit/>
          </a:bodyPr>
          <a:lstStyle/>
          <a:p>
            <a:pPr algn="l"/>
            <a:r>
              <a:rPr sz="3000" b="1">
                <a:solidFill>
                  <a:srgbClr val="FFFFFF"/>
                </a:solidFill>
                <a:latin typeface="Calibri Light"/>
              </a:rPr>
              <a:t>Agenda</a:t>
            </a:r>
          </a:p>
        </p:txBody>
      </p:sp>
      <p:sp>
        <p:nvSpPr>
          <p:cNvPr id="5" name="TextBox 4"/>
          <p:cNvSpPr txBox="1"/>
          <p:nvPr/>
        </p:nvSpPr>
        <p:spPr>
          <a:xfrm>
            <a:off x="365760" y="1280160"/>
            <a:ext cx="11430000" cy="5212080"/>
          </a:xfrm>
          <a:prstGeom prst="rect">
            <a:avLst/>
          </a:prstGeom>
          <a:noFill/>
        </p:spPr>
        <p:txBody>
          <a:bodyPr wrap="square">
            <a:spAutoFit/>
          </a:bodyPr>
          <a:lstStyle/>
          <a:p>
            <a:pPr algn="l"/>
            <a:r>
              <a:rPr sz="1600" b="0">
                <a:solidFill>
                  <a:srgbClr val="222244"/>
                </a:solidFill>
                <a:latin typeface="Calibri Light"/>
              </a:rPr>
              <a:t>  1.  Tech Mahindra – Solution Proposal for HDFC Bank
  2.  1. Executive Summary
  3.  2. Understanding Your Challenge
  4.  3. Our Proposed Solution
  5.  4. Solution Architecture
  6.  5. Team Structure &amp; Operating Model
  7.  6. Delivery Roadmap
  8.  7. Commercial Summary
  9.  8. Why Tech Mahindra?
  10.  9.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3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73152" cy="576072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822960"/>
          </a:xfrm>
          <a:prstGeom prst="rect">
            <a:avLst/>
          </a:prstGeom>
          <a:noFill/>
        </p:spPr>
        <p:txBody>
          <a:bodyPr wrap="square">
            <a:spAutoFit/>
          </a:bodyPr>
          <a:lstStyle/>
          <a:p>
            <a:pPr algn="l"/>
            <a:r>
              <a:rPr sz="2600" b="1">
                <a:solidFill>
                  <a:srgbClr val="FFFFFF"/>
                </a:solidFill>
                <a:latin typeface="Calibri Light"/>
              </a:rPr>
              <a:t>1. Executive Summary</a:t>
            </a:r>
          </a:p>
        </p:txBody>
      </p:sp>
      <p:sp>
        <p:nvSpPr>
          <p:cNvPr id="5" name="TextBox 4"/>
          <p:cNvSpPr txBox="1"/>
          <p:nvPr/>
        </p:nvSpPr>
        <p:spPr>
          <a:xfrm>
            <a:off x="365760" y="1234440"/>
            <a:ext cx="11430000" cy="5394960"/>
          </a:xfrm>
          <a:prstGeom prst="rect">
            <a:avLst/>
          </a:prstGeom>
          <a:noFill/>
        </p:spPr>
        <p:txBody>
          <a:bodyPr wrap="square">
            <a:spAutoFit/>
          </a:bodyPr>
          <a:lstStyle/>
          <a:p>
            <a:pPr algn="l"/>
            <a:r>
              <a:rPr sz="1500" b="0">
                <a:solidFill>
                  <a:srgbClr val="1A1A3A"/>
                </a:solidFill>
                <a:latin typeface="Calibri Light"/>
              </a:rPr>
              <a:t>  •  We are pleased to submit our proposal for the modernization of HDFC Bank's Core Banking System (CBS). Our team of experts has carefully crafted a solution that addresses the key requirements outlined by HDFC Bank, ensuring a seamless transition to a cloud-native core banking platform. Our proposed solution will not only improve system scalability and reliability but also enhance RBI regulatory compliance, increase efficiency through automation, and provide a better customer experience through digital channels.
  •  Our team has a proven track record of delivering successful CBS modernization projects, and we are confident that our solution will meet HDFC Bank's expectations. We propose a long-term strategic technology partnership that will enable HDFC Bank to support 10M+ daily transactions during peak loads while maintaining a 99.999% system uptime SLA.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3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73152" cy="576072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822960"/>
          </a:xfrm>
          <a:prstGeom prst="rect">
            <a:avLst/>
          </a:prstGeom>
          <a:noFill/>
        </p:spPr>
        <p:txBody>
          <a:bodyPr wrap="square">
            <a:spAutoFit/>
          </a:bodyPr>
          <a:lstStyle/>
          <a:p>
            <a:pPr algn="l"/>
            <a:r>
              <a:rPr sz="2600" b="1">
                <a:solidFill>
                  <a:srgbClr val="FFFFFF"/>
                </a:solidFill>
                <a:latin typeface="Calibri Light"/>
              </a:rPr>
              <a:t>2. Understanding Your Challenge</a:t>
            </a:r>
          </a:p>
        </p:txBody>
      </p:sp>
      <p:sp>
        <p:nvSpPr>
          <p:cNvPr id="5" name="TextBox 4"/>
          <p:cNvSpPr txBox="1"/>
          <p:nvPr/>
        </p:nvSpPr>
        <p:spPr>
          <a:xfrm>
            <a:off x="365760" y="1234440"/>
            <a:ext cx="11430000" cy="5394960"/>
          </a:xfrm>
          <a:prstGeom prst="rect">
            <a:avLst/>
          </a:prstGeom>
          <a:noFill/>
        </p:spPr>
        <p:txBody>
          <a:bodyPr wrap="square">
            <a:spAutoFit/>
          </a:bodyPr>
          <a:lstStyle/>
          <a:p>
            <a:pPr algn="l"/>
            <a:r>
              <a:rPr sz="1500" b="0">
                <a:solidFill>
                  <a:srgbClr val="1A1A3A"/>
                </a:solidFill>
                <a:latin typeface="Calibri Light"/>
              </a:rPr>
              <a:t>  •  HDFC Bank is one of India's largest private sector banks, serving over 88 million customers through 8,700+ branches and 21,000+ ATMs. With a balance sheet size exceeding ₹35 trillion and a market capitalisation of ~₹12 trillion, HDFC Bank is a systemically important financial institution regulated by the Reserve Bank of India (RBI). However, the bank's current CBS is facing scalability and reliability issues, which are hindering its ability to provide a seamless customer experience.
  •  To address these challenges, HDFC Bank requires a modernized CBS that can support 10M+ daily transactions during peak loads while maintaining a 99.999% system uptime SLA. The new CBS must also ensure RBI regulatory compliance and provide a long-term strategic technology partnership.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3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73152" cy="576072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822960"/>
          </a:xfrm>
          <a:prstGeom prst="rect">
            <a:avLst/>
          </a:prstGeom>
          <a:noFill/>
        </p:spPr>
        <p:txBody>
          <a:bodyPr wrap="square">
            <a:spAutoFit/>
          </a:bodyPr>
          <a:lstStyle/>
          <a:p>
            <a:pPr algn="l"/>
            <a:r>
              <a:rPr sz="2600" b="1">
                <a:solidFill>
                  <a:srgbClr val="FFFFFF"/>
                </a:solidFill>
                <a:latin typeface="Calibri Light"/>
              </a:rPr>
              <a:t>3. Our Proposed Solution</a:t>
            </a:r>
          </a:p>
        </p:txBody>
      </p:sp>
      <p:sp>
        <p:nvSpPr>
          <p:cNvPr id="5" name="TextBox 4"/>
          <p:cNvSpPr txBox="1"/>
          <p:nvPr/>
        </p:nvSpPr>
        <p:spPr>
          <a:xfrm>
            <a:off x="365760" y="1234440"/>
            <a:ext cx="11430000" cy="5394960"/>
          </a:xfrm>
          <a:prstGeom prst="rect">
            <a:avLst/>
          </a:prstGeom>
          <a:noFill/>
        </p:spPr>
        <p:txBody>
          <a:bodyPr wrap="square">
            <a:spAutoFit/>
          </a:bodyPr>
          <a:lstStyle/>
          <a:p>
            <a:pPr algn="l"/>
            <a:r>
              <a:rPr sz="1500" b="0">
                <a:solidFill>
                  <a:srgbClr val="1A1A3A"/>
                </a:solidFill>
                <a:latin typeface="Calibri Light"/>
              </a:rPr>
              <a:t>  •  Our proposed solution is a cloud-native core banking platform that leverages the latest technologies to provide a scalable, reliable, and secure CBS. The solution is designed to meet HDFC Bank's key requirements, including:
  •  Improved system scalability and reliability
  •  Enhanced RBI regulatory compliance
  •  Increased efficiency through automation
  •  Better customer experience through digital channels
  •  Long-term strategic technology partnership
  •  Our solution will be implemented in phases, with a clear delivery roadmap and milestones. We will work closely with HDFC Bank's team to ensure a seamless transition and provide ongoing support and maintenance.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3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30000" cy="822960"/>
          </a:xfrm>
          <a:prstGeom prst="rect">
            <a:avLst/>
          </a:prstGeom>
          <a:noFill/>
        </p:spPr>
        <p:txBody>
          <a:bodyPr wrap="square">
            <a:spAutoFit/>
          </a:bodyPr>
          <a:lstStyle/>
          <a:p>
            <a:pPr algn="l"/>
            <a:r>
              <a:rPr sz="2600" b="1">
                <a:solidFill>
                  <a:srgbClr val="FFFFFF"/>
                </a:solidFill>
                <a:latin typeface="Calibri Light"/>
              </a:rPr>
              <a:t>4. Solution Architecture</a:t>
            </a:r>
          </a:p>
        </p:txBody>
      </p:sp>
      <p:pic>
        <p:nvPicPr>
          <p:cNvPr id="4" name="Picture 3" descr="image.png"/>
          <p:cNvPicPr>
            <a:picLocks noChangeAspect="1"/>
          </p:cNvPicPr>
          <p:nvPr/>
        </p:nvPicPr>
        <p:blipFill>
          <a:blip r:embed="rId2"/>
          <a:stretch>
            <a:fillRect/>
          </a:stretch>
        </p:blipFill>
        <p:spPr>
          <a:xfrm>
            <a:off x="457200" y="1234440"/>
            <a:ext cx="11247120"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3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73152" cy="576072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822960"/>
          </a:xfrm>
          <a:prstGeom prst="rect">
            <a:avLst/>
          </a:prstGeom>
          <a:noFill/>
        </p:spPr>
        <p:txBody>
          <a:bodyPr wrap="square">
            <a:spAutoFit/>
          </a:bodyPr>
          <a:lstStyle/>
          <a:p>
            <a:pPr algn="l"/>
            <a:r>
              <a:rPr sz="2600" b="1">
                <a:solidFill>
                  <a:srgbClr val="FFFFFF"/>
                </a:solidFill>
                <a:latin typeface="Calibri Light"/>
              </a:rPr>
              <a:t>5. Team Structure &amp; Operating Model</a:t>
            </a:r>
          </a:p>
        </p:txBody>
      </p:sp>
      <p:sp>
        <p:nvSpPr>
          <p:cNvPr id="5" name="TextBox 4"/>
          <p:cNvSpPr txBox="1"/>
          <p:nvPr/>
        </p:nvSpPr>
        <p:spPr>
          <a:xfrm>
            <a:off x="365760" y="1234440"/>
            <a:ext cx="11430000" cy="5394960"/>
          </a:xfrm>
          <a:prstGeom prst="rect">
            <a:avLst/>
          </a:prstGeom>
          <a:noFill/>
        </p:spPr>
        <p:txBody>
          <a:bodyPr wrap="square">
            <a:spAutoFit/>
          </a:bodyPr>
          <a:lstStyle/>
          <a:p>
            <a:pPr algn="l"/>
            <a:r>
              <a:rPr sz="1500" b="0">
                <a:solidFill>
                  <a:srgbClr val="1A1A3A"/>
                </a:solidFill>
                <a:latin typeface="Calibri Light"/>
              </a:rPr>
              <a:t>  •  Our team will consist of experienced professionals with expertise in cloud-native core banking platforms, microservices architecture, containerization and orchestration, API gateway and security, data storage and analytics, DevOps and continuous integration, monitoring and logging, security and compliance, scalability and reliability, and customer experience and digital channels.
  •  We will operate on a hybrid model, with a mix of onshore, nearshore, and offshore resources. Our team will be led by a seasoned project manager who will oversee the entire project lifecycle.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3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73152" cy="576072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822960"/>
          </a:xfrm>
          <a:prstGeom prst="rect">
            <a:avLst/>
          </a:prstGeom>
          <a:noFill/>
        </p:spPr>
        <p:txBody>
          <a:bodyPr wrap="square">
            <a:spAutoFit/>
          </a:bodyPr>
          <a:lstStyle/>
          <a:p>
            <a:pPr algn="l"/>
            <a:r>
              <a:rPr sz="2600" b="1">
                <a:solidFill>
                  <a:srgbClr val="FFFFFF"/>
                </a:solidFill>
                <a:latin typeface="Calibri Light"/>
              </a:rPr>
              <a:t>6. Delivery Roadmap</a:t>
            </a:r>
          </a:p>
        </p:txBody>
      </p:sp>
      <p:sp>
        <p:nvSpPr>
          <p:cNvPr id="5" name="TextBox 4"/>
          <p:cNvSpPr txBox="1"/>
          <p:nvPr/>
        </p:nvSpPr>
        <p:spPr>
          <a:xfrm>
            <a:off x="365760" y="1234440"/>
            <a:ext cx="11430000" cy="5394960"/>
          </a:xfrm>
          <a:prstGeom prst="rect">
            <a:avLst/>
          </a:prstGeom>
          <a:noFill/>
        </p:spPr>
        <p:txBody>
          <a:bodyPr wrap="square">
            <a:spAutoFit/>
          </a:bodyPr>
          <a:lstStyle/>
          <a:p>
            <a:pPr algn="l"/>
            <a:r>
              <a:rPr sz="1500" b="0">
                <a:solidFill>
                  <a:srgbClr val="1A1A3A"/>
                </a:solidFill>
                <a:latin typeface="Calibri Light"/>
              </a:rPr>
              <a:t>  •  Our delivery roadmap is divided into four phases, each with clear milestones and deliverables.
  •  Phase 1: Requirements Gathering and Solution Design (Weeks 1-8)
  •  Conduct requirements gathering sessions with HDFC Bank's team
  •  Design the cloud-native core banking platform
  •  Develop a detailed project plan and timeline
  •  Phase 2: Solution Implementation (Weeks 9-24)
  •  Implement the cloud-native core banking platform
  •  Develop microservices architecture
  •  Containerize and orchestrate the application
  •  Implement API gateway and security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3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30000" cy="822960"/>
          </a:xfrm>
          <a:prstGeom prst="rect">
            <a:avLst/>
          </a:prstGeom>
          <a:noFill/>
        </p:spPr>
        <p:txBody>
          <a:bodyPr wrap="square">
            <a:spAutoFit/>
          </a:bodyPr>
          <a:lstStyle/>
          <a:p>
            <a:pPr algn="l"/>
            <a:r>
              <a:rPr sz="2600" b="1">
                <a:solidFill>
                  <a:srgbClr val="FFFFFF"/>
                </a:solidFill>
                <a:latin typeface="Calibri Light"/>
              </a:rPr>
              <a:t>7. Commercial Summary</a:t>
            </a:r>
          </a:p>
        </p:txBody>
      </p:sp>
      <p:graphicFrame>
        <p:nvGraphicFramePr>
          <p:cNvPr id="4" name="Table 3"/>
          <p:cNvGraphicFramePr>
            <a:graphicFrameLocks noGrp="1"/>
          </p:cNvGraphicFramePr>
          <p:nvPr/>
        </p:nvGraphicFramePr>
        <p:xfrm>
          <a:off x="457200" y="1234440"/>
          <a:ext cx="10972800" cy="4114800"/>
        </p:xfrm>
        <a:graphic>
          <a:graphicData uri="http://schemas.openxmlformats.org/drawingml/2006/table">
            <a:tbl>
              <a:tblPr firstRow="1" bandRow="1">
                <a:tableStyleId>{5C22544A-7EE6-4342-B048-85BDC9FD1C3A}</a:tableStyleId>
              </a:tblPr>
              <a:tblGrid>
                <a:gridCol w="1828800"/>
                <a:gridCol w="1828800"/>
                <a:gridCol w="1828800"/>
                <a:gridCol w="1828800"/>
                <a:gridCol w="1828800"/>
                <a:gridCol w="1828800"/>
              </a:tblGrid>
              <a:tr h="411480">
                <a:tc>
                  <a:txBody>
                    <a:bodyPr/>
                    <a:lstStyle/>
                    <a:p>
                      <a:r>
                        <a:rPr sz="1000" b="1">
                          <a:solidFill>
                            <a:srgbClr val="FFFFFF"/>
                          </a:solidFill>
                        </a:rPr>
                        <a:t>Role</a:t>
                      </a:r>
                    </a:p>
                  </a:txBody>
                  <a:tcPr>
                    <a:solidFill>
                      <a:srgbClr val="003578"/>
                    </a:solidFill>
                  </a:tcPr>
                </a:tc>
                <a:tc>
                  <a:txBody>
                    <a:bodyPr/>
                    <a:lstStyle/>
                    <a:p>
                      <a:r>
                        <a:rPr sz="1000" b="1">
                          <a:solidFill>
                            <a:srgbClr val="FFFFFF"/>
                          </a:solidFill>
                        </a:rPr>
                        <a:t>Count</a:t>
                      </a:r>
                    </a:p>
                  </a:txBody>
                  <a:tcPr>
                    <a:solidFill>
                      <a:srgbClr val="003578"/>
                    </a:solidFill>
                  </a:tcPr>
                </a:tc>
                <a:tc>
                  <a:txBody>
                    <a:bodyPr/>
                    <a:lstStyle/>
                    <a:p>
                      <a:r>
                        <a:rPr sz="1000" b="1">
                          <a:solidFill>
                            <a:srgbClr val="FFFFFF"/>
                          </a:solidFill>
                        </a:rPr>
                        <a:t>Location</a:t>
                      </a:r>
                    </a:p>
                  </a:txBody>
                  <a:tcPr>
                    <a:solidFill>
                      <a:srgbClr val="003578"/>
                    </a:solidFill>
                  </a:tcPr>
                </a:tc>
                <a:tc>
                  <a:txBody>
                    <a:bodyPr/>
                    <a:lstStyle/>
                    <a:p>
                      <a:r>
                        <a:rPr sz="1000" b="1">
                          <a:solidFill>
                            <a:srgbClr val="FFFFFF"/>
                          </a:solidFill>
                        </a:rPr>
                        <a:t>Hrs/Month</a:t>
                      </a:r>
                    </a:p>
                  </a:txBody>
                  <a:tcPr>
                    <a:solidFill>
                      <a:srgbClr val="003578"/>
                    </a:solidFill>
                  </a:tcPr>
                </a:tc>
                <a:tc>
                  <a:txBody>
                    <a:bodyPr/>
                    <a:lstStyle/>
                    <a:p>
                      <a:r>
                        <a:rPr sz="1000" b="1">
                          <a:solidFill>
                            <a:srgbClr val="FFFFFF"/>
                          </a:solidFill>
                        </a:rPr>
                        <a:t>Rate/hr</a:t>
                      </a:r>
                    </a:p>
                  </a:txBody>
                  <a:tcPr>
                    <a:solidFill>
                      <a:srgbClr val="003578"/>
                    </a:solidFill>
                  </a:tcPr>
                </a:tc>
                <a:tc>
                  <a:txBody>
                    <a:bodyPr/>
                    <a:lstStyle/>
                    <a:p>
                      <a:r>
                        <a:rPr sz="1000" b="1">
                          <a:solidFill>
                            <a:srgbClr val="FFFFFF"/>
                          </a:solidFill>
                        </a:rPr>
                        <a:t>Monthly Cost</a:t>
                      </a:r>
                    </a:p>
                  </a:txBody>
                  <a:tcPr>
                    <a:solidFill>
                      <a:srgbClr val="003578"/>
                    </a:solidFill>
                  </a:tcPr>
                </a:tc>
              </a:tr>
              <a:tr h="411480">
                <a:tc>
                  <a:txBody>
                    <a:bodyPr/>
                    <a:lstStyle/>
                    <a:p>
                      <a:r>
                        <a:rPr sz="1000" b="0"/>
                        <a:t>Solution Architect</a:t>
                      </a:r>
                    </a:p>
                  </a:txBody>
                  <a:tcPr/>
                </a:tc>
                <a:tc>
                  <a:txBody>
                    <a:bodyPr/>
                    <a:lstStyle/>
                    <a:p>
                      <a:r>
                        <a:rPr sz="1000" b="0"/>
                        <a:t>2</a:t>
                      </a:r>
                    </a:p>
                  </a:txBody>
                  <a:tcPr/>
                </a:tc>
                <a:tc>
                  <a:txBody>
                    <a:bodyPr/>
                    <a:lstStyle/>
                    <a:p>
                      <a:r>
                        <a:rPr sz="1000" b="0"/>
                        <a:t>Onshore</a:t>
                      </a:r>
                    </a:p>
                  </a:txBody>
                  <a:tcPr/>
                </a:tc>
                <a:tc>
                  <a:txBody>
                    <a:bodyPr/>
                    <a:lstStyle/>
                    <a:p>
                      <a:r>
                        <a:rPr sz="1000" b="0"/>
                        <a:t>160</a:t>
                      </a:r>
                    </a:p>
                  </a:txBody>
                  <a:tcPr/>
                </a:tc>
                <a:tc>
                  <a:txBody>
                    <a:bodyPr/>
                    <a:lstStyle/>
                    <a:p>
                      <a:r>
                        <a:rPr sz="1000" b="0"/>
                        <a:t>$100</a:t>
                      </a:r>
                    </a:p>
                  </a:txBody>
                  <a:tcPr/>
                </a:tc>
                <a:tc>
                  <a:txBody>
                    <a:bodyPr/>
                    <a:lstStyle/>
                    <a:p>
                      <a:r>
                        <a:rPr sz="1000" b="0"/>
                        <a:t>$16,000</a:t>
                      </a:r>
                    </a:p>
                  </a:txBody>
                  <a:tcPr/>
                </a:tc>
              </a:tr>
              <a:tr h="411480">
                <a:tc>
                  <a:txBody>
                    <a:bodyPr/>
                    <a:lstStyle/>
                    <a:p>
                      <a:r>
                        <a:rPr sz="1000" b="0"/>
                        <a:t>Cloud Engineer</a:t>
                      </a:r>
                    </a:p>
                  </a:txBody>
                  <a:tcPr>
                    <a:solidFill>
                      <a:srgbClr val="EEF2FF"/>
                    </a:solidFill>
                  </a:tcPr>
                </a:tc>
                <a:tc>
                  <a:txBody>
                    <a:bodyPr/>
                    <a:lstStyle/>
                    <a:p>
                      <a:r>
                        <a:rPr sz="1000" b="0"/>
                        <a:t>4</a:t>
                      </a:r>
                    </a:p>
                  </a:txBody>
                  <a:tcPr>
                    <a:solidFill>
                      <a:srgbClr val="EEF2FF"/>
                    </a:solidFill>
                  </a:tcPr>
                </a:tc>
                <a:tc>
                  <a:txBody>
                    <a:bodyPr/>
                    <a:lstStyle/>
                    <a:p>
                      <a:r>
                        <a:rPr sz="1000" b="0"/>
                        <a:t>Nearshore</a:t>
                      </a:r>
                    </a:p>
                  </a:txBody>
                  <a:tcPr>
                    <a:solidFill>
                      <a:srgbClr val="EEF2FF"/>
                    </a:solidFill>
                  </a:tcPr>
                </a:tc>
                <a:tc>
                  <a:txBody>
                    <a:bodyPr/>
                    <a:lstStyle/>
                    <a:p>
                      <a:r>
                        <a:rPr sz="1000" b="0"/>
                        <a:t>240</a:t>
                      </a:r>
                    </a:p>
                  </a:txBody>
                  <a:tcPr>
                    <a:solidFill>
                      <a:srgbClr val="EEF2FF"/>
                    </a:solidFill>
                  </a:tcPr>
                </a:tc>
                <a:tc>
                  <a:txBody>
                    <a:bodyPr/>
                    <a:lstStyle/>
                    <a:p>
                      <a:r>
                        <a:rPr sz="1000" b="0"/>
                        <a:t>$55</a:t>
                      </a:r>
                    </a:p>
                  </a:txBody>
                  <a:tcPr>
                    <a:solidFill>
                      <a:srgbClr val="EEF2FF"/>
                    </a:solidFill>
                  </a:tcPr>
                </a:tc>
                <a:tc>
                  <a:txBody>
                    <a:bodyPr/>
                    <a:lstStyle/>
                    <a:p>
                      <a:r>
                        <a:rPr sz="1000" b="0"/>
                        <a:t>$13,200</a:t>
                      </a:r>
                    </a:p>
                  </a:txBody>
                  <a:tcPr>
                    <a:solidFill>
                      <a:srgbClr val="EEF2FF"/>
                    </a:solidFill>
                  </a:tcPr>
                </a:tc>
              </a:tr>
              <a:tr h="411480">
                <a:tc>
                  <a:txBody>
                    <a:bodyPr/>
                    <a:lstStyle/>
                    <a:p>
                      <a:r>
                        <a:rPr sz="1000" b="0"/>
                        <a:t>Integration Specialist</a:t>
                      </a:r>
                    </a:p>
                  </a:txBody>
                  <a:tcPr/>
                </a:tc>
                <a:tc>
                  <a:txBody>
                    <a:bodyPr/>
                    <a:lstStyle/>
                    <a:p>
                      <a:r>
                        <a:rPr sz="1000" b="0"/>
                        <a:t>2</a:t>
                      </a:r>
                    </a:p>
                  </a:txBody>
                  <a:tcPr/>
                </a:tc>
                <a:tc>
                  <a:txBody>
                    <a:bodyPr/>
                    <a:lstStyle/>
                    <a:p>
                      <a:r>
                        <a:rPr sz="1000" b="0"/>
                        <a:t>Offshore</a:t>
                      </a:r>
                    </a:p>
                  </a:txBody>
                  <a:tcPr/>
                </a:tc>
                <a:tc>
                  <a:txBody>
                    <a:bodyPr/>
                    <a:lstStyle/>
                    <a:p>
                      <a:r>
                        <a:rPr sz="1000" b="0"/>
                        <a:t>160</a:t>
                      </a:r>
                    </a:p>
                  </a:txBody>
                  <a:tcPr/>
                </a:tc>
                <a:tc>
                  <a:txBody>
                    <a:bodyPr/>
                    <a:lstStyle/>
                    <a:p>
                      <a:r>
                        <a:rPr sz="1000" b="0"/>
                        <a:t>$30</a:t>
                      </a:r>
                    </a:p>
                  </a:txBody>
                  <a:tcPr/>
                </a:tc>
                <a:tc>
                  <a:txBody>
                    <a:bodyPr/>
                    <a:lstStyle/>
                    <a:p>
                      <a:r>
                        <a:rPr sz="1000" b="0"/>
                        <a:t>$4,800</a:t>
                      </a:r>
                    </a:p>
                  </a:txBody>
                  <a:tcPr/>
                </a:tc>
              </a:tr>
              <a:tr h="411480">
                <a:tc>
                  <a:txBody>
                    <a:bodyPr/>
                    <a:lstStyle/>
                    <a:p>
                      <a:r>
                        <a:rPr sz="1000" b="0"/>
                        <a:t>Data Scientist</a:t>
                      </a:r>
                    </a:p>
                  </a:txBody>
                  <a:tcPr>
                    <a:solidFill>
                      <a:srgbClr val="EEF2FF"/>
                    </a:solidFill>
                  </a:tcPr>
                </a:tc>
                <a:tc>
                  <a:txBody>
                    <a:bodyPr/>
                    <a:lstStyle/>
                    <a:p>
                      <a:r>
                        <a:rPr sz="1000" b="0"/>
                        <a:t>1</a:t>
                      </a:r>
                    </a:p>
                  </a:txBody>
                  <a:tcPr>
                    <a:solidFill>
                      <a:srgbClr val="EEF2FF"/>
                    </a:solidFill>
                  </a:tcPr>
                </a:tc>
                <a:tc>
                  <a:txBody>
                    <a:bodyPr/>
                    <a:lstStyle/>
                    <a:p>
                      <a:r>
                        <a:rPr sz="1000" b="0"/>
                        <a:t>Onshore</a:t>
                      </a:r>
                    </a:p>
                  </a:txBody>
                  <a:tcPr>
                    <a:solidFill>
                      <a:srgbClr val="EEF2FF"/>
                    </a:solidFill>
                  </a:tcPr>
                </a:tc>
                <a:tc>
                  <a:txBody>
                    <a:bodyPr/>
                    <a:lstStyle/>
                    <a:p>
                      <a:r>
                        <a:rPr sz="1000" b="0"/>
                        <a:t>80</a:t>
                      </a:r>
                    </a:p>
                  </a:txBody>
                  <a:tcPr>
                    <a:solidFill>
                      <a:srgbClr val="EEF2FF"/>
                    </a:solidFill>
                  </a:tcPr>
                </a:tc>
                <a:tc>
                  <a:txBody>
                    <a:bodyPr/>
                    <a:lstStyle/>
                    <a:p>
                      <a:r>
                        <a:rPr sz="1000" b="0"/>
                        <a:t>$120</a:t>
                      </a:r>
                    </a:p>
                  </a:txBody>
                  <a:tcPr>
                    <a:solidFill>
                      <a:srgbClr val="EEF2FF"/>
                    </a:solidFill>
                  </a:tcPr>
                </a:tc>
                <a:tc>
                  <a:txBody>
                    <a:bodyPr/>
                    <a:lstStyle/>
                    <a:p>
                      <a:r>
                        <a:rPr sz="1000" b="0"/>
                        <a:t>$9,600</a:t>
                      </a:r>
                    </a:p>
                  </a:txBody>
                  <a:tcPr>
                    <a:solidFill>
                      <a:srgbClr val="EEF2FF"/>
                    </a:solidFill>
                  </a:tcPr>
                </a:tc>
              </a:tr>
              <a:tr h="411480">
                <a:tc>
                  <a:txBody>
                    <a:bodyPr/>
                    <a:lstStyle/>
                    <a:p>
                      <a:r>
                        <a:rPr sz="1000" b="0"/>
                        <a:t>Business Analyst</a:t>
                      </a:r>
                    </a:p>
                  </a:txBody>
                  <a:tcPr/>
                </a:tc>
                <a:tc>
                  <a:txBody>
                    <a:bodyPr/>
                    <a:lstStyle/>
                    <a:p>
                      <a:r>
                        <a:rPr sz="1000" b="0"/>
                        <a:t>1</a:t>
                      </a:r>
                    </a:p>
                  </a:txBody>
                  <a:tcPr/>
                </a:tc>
                <a:tc>
                  <a:txBody>
                    <a:bodyPr/>
                    <a:lstStyle/>
                    <a:p>
                      <a:r>
                        <a:rPr sz="1000" b="0"/>
                        <a:t>Onshore</a:t>
                      </a:r>
                    </a:p>
                  </a:txBody>
                  <a:tcPr/>
                </a:tc>
                <a:tc>
                  <a:txBody>
                    <a:bodyPr/>
                    <a:lstStyle/>
                    <a:p>
                      <a:r>
                        <a:rPr sz="1000" b="0"/>
                        <a:t>40</a:t>
                      </a:r>
                    </a:p>
                  </a:txBody>
                  <a:tcPr/>
                </a:tc>
                <a:tc>
                  <a:txBody>
                    <a:bodyPr/>
                    <a:lstStyle/>
                    <a:p>
                      <a:r>
                        <a:rPr sz="1000" b="0"/>
                        <a:t>$90</a:t>
                      </a:r>
                    </a:p>
                  </a:txBody>
                  <a:tcPr/>
                </a:tc>
                <a:tc>
                  <a:txBody>
                    <a:bodyPr/>
                    <a:lstStyle/>
                    <a:p>
                      <a:r>
                        <a:rPr sz="1000" b="0"/>
                        <a:t>$3,600</a:t>
                      </a:r>
                    </a:p>
                  </a:txBody>
                  <a:tcPr/>
                </a:tc>
              </a:tr>
              <a:tr h="411480">
                <a:tc>
                  <a:txBody>
                    <a:bodyPr/>
                    <a:lstStyle/>
                    <a:p>
                      <a:r>
                        <a:rPr sz="1000" b="0"/>
                        <a:t>QA Engineer</a:t>
                      </a:r>
                    </a:p>
                  </a:txBody>
                  <a:tcPr>
                    <a:solidFill>
                      <a:srgbClr val="EEF2FF"/>
                    </a:solidFill>
                  </a:tcPr>
                </a:tc>
                <a:tc>
                  <a:txBody>
                    <a:bodyPr/>
                    <a:lstStyle/>
                    <a:p>
                      <a:r>
                        <a:rPr sz="1000" b="0"/>
                        <a:t>2</a:t>
                      </a:r>
                    </a:p>
                  </a:txBody>
                  <a:tcPr>
                    <a:solidFill>
                      <a:srgbClr val="EEF2FF"/>
                    </a:solidFill>
                  </a:tcPr>
                </a:tc>
                <a:tc>
                  <a:txBody>
                    <a:bodyPr/>
                    <a:lstStyle/>
                    <a:p>
                      <a:r>
                        <a:rPr sz="1000" b="0"/>
                        <a:t>Nearshore</a:t>
                      </a:r>
                    </a:p>
                  </a:txBody>
                  <a:tcPr>
                    <a:solidFill>
                      <a:srgbClr val="EEF2FF"/>
                    </a:solidFill>
                  </a:tcPr>
                </a:tc>
                <a:tc>
                  <a:txBody>
                    <a:bodyPr/>
                    <a:lstStyle/>
                    <a:p>
                      <a:r>
                        <a:rPr sz="1000" b="0"/>
                        <a:t>160</a:t>
                      </a:r>
                    </a:p>
                  </a:txBody>
                  <a:tcPr>
                    <a:solidFill>
                      <a:srgbClr val="EEF2FF"/>
                    </a:solidFill>
                  </a:tcPr>
                </a:tc>
                <a:tc>
                  <a:txBody>
                    <a:bodyPr/>
                    <a:lstStyle/>
                    <a:p>
                      <a:r>
                        <a:rPr sz="1000" b="0"/>
                        <a:t>$50</a:t>
                      </a:r>
                    </a:p>
                  </a:txBody>
                  <a:tcPr>
                    <a:solidFill>
                      <a:srgbClr val="EEF2FF"/>
                    </a:solidFill>
                  </a:tcPr>
                </a:tc>
                <a:tc>
                  <a:txBody>
                    <a:bodyPr/>
                    <a:lstStyle/>
                    <a:p>
                      <a:r>
                        <a:rPr sz="1000" b="0"/>
                        <a:t>$8,000</a:t>
                      </a:r>
                    </a:p>
                  </a:txBody>
                  <a:tcPr>
                    <a:solidFill>
                      <a:srgbClr val="EEF2FF"/>
                    </a:solidFill>
                  </a:tcPr>
                </a:tc>
              </a:tr>
              <a:tr h="411480">
                <a:tc>
                  <a:txBody>
                    <a:bodyPr/>
                    <a:lstStyle/>
                    <a:p>
                      <a:r>
                        <a:rPr sz="1000" b="0"/>
                        <a:t>DevOps Engineer</a:t>
                      </a:r>
                    </a:p>
                  </a:txBody>
                  <a:tcPr/>
                </a:tc>
                <a:tc>
                  <a:txBody>
                    <a:bodyPr/>
                    <a:lstStyle/>
                    <a:p>
                      <a:r>
                        <a:rPr sz="1000" b="0"/>
                        <a:t>1</a:t>
                      </a:r>
                    </a:p>
                  </a:txBody>
                  <a:tcPr/>
                </a:tc>
                <a:tc>
                  <a:txBody>
                    <a:bodyPr/>
                    <a:lstStyle/>
                    <a:p>
                      <a:r>
                        <a:rPr sz="1000" b="0"/>
                        <a:t>Onshore</a:t>
                      </a:r>
                    </a:p>
                  </a:txBody>
                  <a:tcPr/>
                </a:tc>
                <a:tc>
                  <a:txBody>
                    <a:bodyPr/>
                    <a:lstStyle/>
                    <a:p>
                      <a:r>
                        <a:rPr sz="1000" b="0"/>
                        <a:t>80</a:t>
                      </a:r>
                    </a:p>
                  </a:txBody>
                  <a:tcPr/>
                </a:tc>
                <a:tc>
                  <a:txBody>
                    <a:bodyPr/>
                    <a:lstStyle/>
                    <a:p>
                      <a:r>
                        <a:rPr sz="1000" b="0"/>
                        <a:t>$110</a:t>
                      </a:r>
                    </a:p>
                  </a:txBody>
                  <a:tcPr/>
                </a:tc>
                <a:tc>
                  <a:txBody>
                    <a:bodyPr/>
                    <a:lstStyle/>
                    <a:p>
                      <a:r>
                        <a:rPr sz="1000" b="0"/>
                        <a:t>$8,800</a:t>
                      </a:r>
                    </a:p>
                  </a:txBody>
                  <a:tcPr/>
                </a:tc>
              </a:tr>
              <a:tr h="411480">
                <a:tc>
                  <a:txBody>
                    <a:bodyPr/>
                    <a:lstStyle/>
                    <a:p>
                      <a:r>
                        <a:rPr sz="1000" b="0"/>
                        <a:t>Reporting Specialist</a:t>
                      </a:r>
                    </a:p>
                  </a:txBody>
                  <a:tcPr>
                    <a:solidFill>
                      <a:srgbClr val="EEF2FF"/>
                    </a:solidFill>
                  </a:tcPr>
                </a:tc>
                <a:tc>
                  <a:txBody>
                    <a:bodyPr/>
                    <a:lstStyle/>
                    <a:p>
                      <a:r>
                        <a:rPr sz="1000" b="0"/>
                        <a:t>1</a:t>
                      </a:r>
                    </a:p>
                  </a:txBody>
                  <a:tcPr>
                    <a:solidFill>
                      <a:srgbClr val="EEF2FF"/>
                    </a:solidFill>
                  </a:tcPr>
                </a:tc>
                <a:tc>
                  <a:txBody>
                    <a:bodyPr/>
                    <a:lstStyle/>
                    <a:p>
                      <a:r>
                        <a:rPr sz="1000" b="0"/>
                        <a:t>Nearshore</a:t>
                      </a:r>
                    </a:p>
                  </a:txBody>
                  <a:tcPr>
                    <a:solidFill>
                      <a:srgbClr val="EEF2FF"/>
                    </a:solidFill>
                  </a:tcPr>
                </a:tc>
                <a:tc>
                  <a:txBody>
                    <a:bodyPr/>
                    <a:lstStyle/>
                    <a:p>
                      <a:r>
                        <a:rPr sz="1000" b="0"/>
                        <a:t>40</a:t>
                      </a:r>
                    </a:p>
                  </a:txBody>
                  <a:tcPr>
                    <a:solidFill>
                      <a:srgbClr val="EEF2FF"/>
                    </a:solidFill>
                  </a:tcPr>
                </a:tc>
                <a:tc>
                  <a:txBody>
                    <a:bodyPr/>
                    <a:lstStyle/>
                    <a:p>
                      <a:r>
                        <a:rPr sz="1000" b="0"/>
                        <a:t>$45</a:t>
                      </a:r>
                    </a:p>
                  </a:txBody>
                  <a:tcPr>
                    <a:solidFill>
                      <a:srgbClr val="EEF2FF"/>
                    </a:solidFill>
                  </a:tcPr>
                </a:tc>
                <a:tc>
                  <a:txBody>
                    <a:bodyPr/>
                    <a:lstStyle/>
                    <a:p>
                      <a:r>
                        <a:rPr sz="1000" b="0"/>
                        <a:t>$1,800</a:t>
                      </a:r>
                    </a:p>
                  </a:txBody>
                  <a:tcPr>
                    <a:solidFill>
                      <a:srgbClr val="EEF2FF"/>
                    </a:solidFill>
                  </a:tcPr>
                </a:tc>
              </a:tr>
              <a:tr h="411480">
                <a:tc>
                  <a:txBody>
                    <a:bodyPr/>
                    <a:lstStyle/>
                    <a:p>
                      <a:r>
                        <a:rPr sz="1000" b="0"/>
                        <a:t>Project Manager</a:t>
                      </a:r>
                    </a:p>
                  </a:txBody>
                  <a:tcPr/>
                </a:tc>
                <a:tc>
                  <a:txBody>
                    <a:bodyPr/>
                    <a:lstStyle/>
                    <a:p>
                      <a:r>
                        <a:rPr sz="1000" b="0"/>
                        <a:t>1</a:t>
                      </a:r>
                    </a:p>
                  </a:txBody>
                  <a:tcPr/>
                </a:tc>
                <a:tc>
                  <a:txBody>
                    <a:bodyPr/>
                    <a:lstStyle/>
                    <a:p>
                      <a:r>
                        <a:rPr sz="1000" b="0"/>
                        <a:t>Onshore</a:t>
                      </a:r>
                    </a:p>
                  </a:txBody>
                  <a:tcPr/>
                </a:tc>
                <a:tc>
                  <a:txBody>
                    <a:bodyPr/>
                    <a:lstStyle/>
                    <a:p>
                      <a:r>
                        <a:rPr sz="1000" b="0"/>
                        <a:t>80</a:t>
                      </a:r>
                    </a:p>
                  </a:txBody>
                  <a:tcPr/>
                </a:tc>
                <a:tc>
                  <a:txBody>
                    <a:bodyPr/>
                    <a:lstStyle/>
                    <a:p>
                      <a:r>
                        <a:rPr sz="1000" b="0"/>
                        <a:t>$120</a:t>
                      </a:r>
                    </a:p>
                  </a:txBody>
                  <a:tcPr/>
                </a:tc>
                <a:tc>
                  <a:txBody>
                    <a:bodyPr/>
                    <a:lstStyle/>
                    <a:p>
                      <a:r>
                        <a:rPr sz="1000" b="0"/>
                        <a:t>$9,600</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3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73152" cy="576072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822960"/>
          </a:xfrm>
          <a:prstGeom prst="rect">
            <a:avLst/>
          </a:prstGeom>
          <a:noFill/>
        </p:spPr>
        <p:txBody>
          <a:bodyPr wrap="square">
            <a:spAutoFit/>
          </a:bodyPr>
          <a:lstStyle/>
          <a:p>
            <a:pPr algn="l"/>
            <a:r>
              <a:rPr sz="2600" b="1">
                <a:solidFill>
                  <a:srgbClr val="FFFFFF"/>
                </a:solidFill>
                <a:latin typeface="Calibri Light"/>
              </a:rPr>
              <a:t>8. Why Tech Mahindra?</a:t>
            </a:r>
          </a:p>
        </p:txBody>
      </p:sp>
      <p:sp>
        <p:nvSpPr>
          <p:cNvPr id="5" name="TextBox 4"/>
          <p:cNvSpPr txBox="1"/>
          <p:nvPr/>
        </p:nvSpPr>
        <p:spPr>
          <a:xfrm>
            <a:off x="365760" y="1234440"/>
            <a:ext cx="11430000" cy="5394960"/>
          </a:xfrm>
          <a:prstGeom prst="rect">
            <a:avLst/>
          </a:prstGeom>
          <a:noFill/>
        </p:spPr>
        <p:txBody>
          <a:bodyPr wrap="square">
            <a:spAutoFit/>
          </a:bodyPr>
          <a:lstStyle/>
          <a:p>
            <a:pPr algn="l"/>
            <a:r>
              <a:rPr sz="1500" b="0">
                <a:solidFill>
                  <a:srgbClr val="1A1A3A"/>
                </a:solidFill>
                <a:latin typeface="Calibri Light"/>
              </a:rPr>
              <a:t>  •  We believe that our team has the expertise and experience to deliver a successful CBS modernization project for HDFC Bank. Here are three specific reasons why we are the best choice:
  •  Proven Track Record: We have a proven track record of delivering successful CBS modernization projects for other financial institutions.
  •  Expertise in Cloud-Native Core Banking Platforms: Our team has extensive experience in designing and implementing cloud-native core banking platforms.
  •  Long-Term Strategic Technology Partnership: We are committed to providing a long-term strategic technology partnership to HDFC Bank, ensuring a seamless transition and ongoing support and maintenance.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3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73152" cy="576072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822960"/>
          </a:xfrm>
          <a:prstGeom prst="rect">
            <a:avLst/>
          </a:prstGeom>
          <a:noFill/>
        </p:spPr>
        <p:txBody>
          <a:bodyPr wrap="square">
            <a:spAutoFit/>
          </a:bodyPr>
          <a:lstStyle/>
          <a:p>
            <a:pPr algn="l"/>
            <a:r>
              <a:rPr sz="2600" b="1">
                <a:solidFill>
                  <a:srgbClr val="FFFFFF"/>
                </a:solidFill>
                <a:latin typeface="Calibri Light"/>
              </a:rPr>
              <a:t>9. Next Steps</a:t>
            </a:r>
          </a:p>
        </p:txBody>
      </p:sp>
      <p:sp>
        <p:nvSpPr>
          <p:cNvPr id="5" name="TextBox 4"/>
          <p:cNvSpPr txBox="1"/>
          <p:nvPr/>
        </p:nvSpPr>
        <p:spPr>
          <a:xfrm>
            <a:off x="365760" y="1234440"/>
            <a:ext cx="11430000" cy="5394960"/>
          </a:xfrm>
          <a:prstGeom prst="rect">
            <a:avLst/>
          </a:prstGeom>
          <a:noFill/>
        </p:spPr>
        <p:txBody>
          <a:bodyPr wrap="square">
            <a:spAutoFit/>
          </a:bodyPr>
          <a:lstStyle/>
          <a:p>
            <a:pPr algn="l"/>
            <a:r>
              <a:rPr sz="1500" b="0">
                <a:solidFill>
                  <a:srgbClr val="1A1A3A"/>
                </a:solidFill>
                <a:latin typeface="Calibri Light"/>
              </a:rPr>
              <a:t>  •  We believe that our proposal meets HDFC Bank's requirements and provides a comprehensive solution for the modernization of its CBS. We would like to request the opportunity to discuss our proposal in further detail and answer any questions that HDFC Bank may have.
  •  To advance the engagement, we propose the following next steps:
  •  Schedule a meeting with HDFC Bank's team to discuss the proposal in further detail.
  •  Conduct a proof-of-concept (POC) to demonstrate the feasibility of our solution.
  •  Develop a detailed project plan and timeline.
  •  Finalize the commercial agreement and begin the project.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3578"/>
        </a:solidFill>
        <a:effectLst/>
      </p:bgPr>
    </p:bg>
    <p:spTree>
      <p:nvGrpSpPr>
        <p:cNvPr id="1" name=""/>
        <p:cNvGrpSpPr/>
        <p:nvPr/>
      </p:nvGrpSpPr>
      <p:grpSpPr/>
      <p:sp>
        <p:nvSpPr>
          <p:cNvPr id="2" name="Rectangle 1"/>
          <p:cNvSpPr/>
          <p:nvPr/>
        </p:nvSpPr>
        <p:spPr>
          <a:xfrm>
            <a:off x="0" y="5029200"/>
            <a:ext cx="12188952" cy="9144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C8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645920"/>
            <a:ext cx="12188952" cy="1280160"/>
          </a:xfrm>
          <a:prstGeom prst="rect">
            <a:avLst/>
          </a:prstGeom>
          <a:noFill/>
        </p:spPr>
        <p:txBody>
          <a:bodyPr wrap="square">
            <a:spAutoFit/>
          </a:bodyPr>
          <a:lstStyle/>
          <a:p>
            <a:pPr algn="ctr"/>
            <a:r>
              <a:rPr sz="5200" b="1">
                <a:solidFill>
                  <a:srgbClr val="FFFFFF"/>
                </a:solidFill>
                <a:latin typeface="Calibri Light"/>
              </a:rPr>
              <a:t>Thank You</a:t>
            </a:r>
          </a:p>
        </p:txBody>
      </p:sp>
      <p:sp>
        <p:nvSpPr>
          <p:cNvPr id="5" name="TextBox 4"/>
          <p:cNvSpPr txBox="1"/>
          <p:nvPr/>
        </p:nvSpPr>
        <p:spPr>
          <a:xfrm>
            <a:off x="0" y="3108960"/>
            <a:ext cx="12188952" cy="640080"/>
          </a:xfrm>
          <a:prstGeom prst="rect">
            <a:avLst/>
          </a:prstGeom>
          <a:noFill/>
        </p:spPr>
        <p:txBody>
          <a:bodyPr wrap="square">
            <a:spAutoFit/>
          </a:bodyPr>
          <a:lstStyle/>
          <a:p>
            <a:pPr algn="ctr"/>
            <a:r>
              <a:rPr sz="2000" b="0">
                <a:solidFill>
                  <a:srgbClr val="CCDDFF"/>
                </a:solidFill>
                <a:latin typeface="Calibri Light"/>
              </a:rPr>
              <a:t>Tech Mahindra – Run Different</a:t>
            </a:r>
          </a:p>
        </p:txBody>
      </p:sp>
      <p:sp>
        <p:nvSpPr>
          <p:cNvPr id="6" name="TextBox 5"/>
          <p:cNvSpPr txBox="1"/>
          <p:nvPr/>
        </p:nvSpPr>
        <p:spPr>
          <a:xfrm>
            <a:off x="0" y="3931920"/>
            <a:ext cx="12188952" cy="457200"/>
          </a:xfrm>
          <a:prstGeom prst="rect">
            <a:avLst/>
          </a:prstGeom>
          <a:noFill/>
        </p:spPr>
        <p:txBody>
          <a:bodyPr wrap="square">
            <a:spAutoFit/>
          </a:bodyPr>
          <a:lstStyle/>
          <a:p>
            <a:pPr algn="ctr"/>
            <a:r>
              <a:rPr sz="1300" b="0">
                <a:solidFill>
                  <a:srgbClr val="8899BB"/>
                </a:solidFill>
                <a:latin typeface="Calibri Light"/>
              </a:rPr>
              <a:t>www.techmahindra.com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