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0"/>
            <a:ext cx="731520" cy="68580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0"/>
            <a:ext cx="182880" cy="6858000"/>
          </a:xfrm>
          <a:prstGeom prst="rect">
            <a:avLst/>
          </a:prstGeom>
          <a:solidFill>
            <a:srgbClr val="696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echm_logo.jpg"/>
          <p:cNvPicPr>
            <a:picLocks noChangeAspect="1"/>
          </p:cNvPicPr>
          <p:nvPr/>
        </p:nvPicPr>
        <p:blipFill>
          <a:blip r:embed="rId2"/>
          <a:stretch>
            <a:fillRect/>
          </a:stretch>
        </p:blipFill>
        <p:spPr>
          <a:xfrm>
            <a:off x="1645920" y="1097280"/>
            <a:ext cx="731520" cy="731520"/>
          </a:xfrm>
          <a:prstGeom prst="rect">
            <a:avLst/>
          </a:prstGeom>
        </p:spPr>
      </p:pic>
      <p:sp>
        <p:nvSpPr>
          <p:cNvPr id="5" name="TextBox 4"/>
          <p:cNvSpPr txBox="1"/>
          <p:nvPr/>
        </p:nvSpPr>
        <p:spPr>
          <a:xfrm>
            <a:off x="1645920" y="2743200"/>
            <a:ext cx="9144000" cy="731520"/>
          </a:xfrm>
          <a:prstGeom prst="rect">
            <a:avLst/>
          </a:prstGeom>
          <a:noFill/>
        </p:spPr>
        <p:txBody>
          <a:bodyPr wrap="square" anchor="t">
            <a:spAutoFit/>
          </a:bodyPr>
          <a:lstStyle/>
          <a:p>
            <a:pPr algn="l"/>
            <a:r>
              <a:rPr sz="2400" b="1" i="0">
                <a:solidFill>
                  <a:srgbClr val="E31837"/>
                </a:solidFill>
                <a:latin typeface="Arial"/>
              </a:rPr>
              <a:t>STRATEGIC CONSULTING</a:t>
            </a:r>
          </a:p>
        </p:txBody>
      </p:sp>
      <p:sp>
        <p:nvSpPr>
          <p:cNvPr id="6" name="Rectangle 5"/>
          <p:cNvSpPr/>
          <p:nvPr/>
        </p:nvSpPr>
        <p:spPr>
          <a:xfrm>
            <a:off x="1645920" y="3474720"/>
            <a:ext cx="7315200" cy="45720"/>
          </a:xfrm>
          <a:prstGeom prst="rect">
            <a:avLst/>
          </a:prstGeom>
          <a:solidFill>
            <a:srgbClr val="696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3840480"/>
            <a:ext cx="9144000" cy="548640"/>
          </a:xfrm>
          <a:prstGeom prst="rect">
            <a:avLst/>
          </a:prstGeom>
          <a:noFill/>
        </p:spPr>
        <p:txBody>
          <a:bodyPr wrap="square" anchor="t">
            <a:spAutoFit/>
          </a:bodyPr>
          <a:lstStyle/>
          <a:p>
            <a:pPr algn="l"/>
            <a:r>
              <a:rPr sz="2000" b="0" i="0">
                <a:solidFill>
                  <a:srgbClr val="FFFFFF"/>
                </a:solidFill>
                <a:latin typeface="Arial"/>
              </a:rPr>
              <a:t>SOLUTION PROPOSAL &amp; ROADMAP</a:t>
            </a:r>
          </a:p>
        </p:txBody>
      </p:sp>
      <p:sp>
        <p:nvSpPr>
          <p:cNvPr id="8" name="TextBox 7"/>
          <p:cNvSpPr txBox="1"/>
          <p:nvPr/>
        </p:nvSpPr>
        <p:spPr>
          <a:xfrm>
            <a:off x="1645920" y="4389120"/>
            <a:ext cx="9144000" cy="548640"/>
          </a:xfrm>
          <a:prstGeom prst="rect">
            <a:avLst/>
          </a:prstGeom>
          <a:noFill/>
        </p:spPr>
        <p:txBody>
          <a:bodyPr wrap="square" anchor="t">
            <a:spAutoFit/>
          </a:bodyPr>
          <a:lstStyle/>
          <a:p>
            <a:pPr algn="l"/>
            <a:r>
              <a:rPr sz="1600" b="0" i="0">
                <a:solidFill>
                  <a:srgbClr val="C8D2E6"/>
                </a:solidFill>
                <a:latin typeface="Arial"/>
              </a:rPr>
              <a:t>Prepared Exclusively For: HDFC BANK</a:t>
            </a:r>
          </a:p>
        </p:txBody>
      </p:sp>
      <p:sp>
        <p:nvSpPr>
          <p:cNvPr id="9" name="TextBox 8"/>
          <p:cNvSpPr txBox="1"/>
          <p:nvPr/>
        </p:nvSpPr>
        <p:spPr>
          <a:xfrm>
            <a:off x="1645920" y="5486400"/>
            <a:ext cx="4572000" cy="457200"/>
          </a:xfrm>
          <a:prstGeom prst="rect">
            <a:avLst/>
          </a:prstGeom>
          <a:noFill/>
        </p:spPr>
        <p:txBody>
          <a:bodyPr wrap="square" anchor="t">
            <a:spAutoFit/>
          </a:bodyPr>
          <a:lstStyle/>
          <a:p>
            <a:pPr algn="l"/>
            <a:r>
              <a:rPr sz="1200" b="0" i="0">
                <a:solidFill>
                  <a:srgbClr val="696969"/>
                </a:solidFill>
                <a:latin typeface="Arial"/>
              </a:rPr>
              <a:t>Date: April 27, 2026</a:t>
            </a:r>
          </a:p>
        </p:txBody>
      </p:sp>
      <p:sp>
        <p:nvSpPr>
          <p:cNvPr id="10" name="TextBox 9"/>
          <p:cNvSpPr txBox="1"/>
          <p:nvPr/>
        </p:nvSpPr>
        <p:spPr>
          <a:xfrm>
            <a:off x="1645920" y="5852160"/>
            <a:ext cx="4572000" cy="457200"/>
          </a:xfrm>
          <a:prstGeom prst="rect">
            <a:avLst/>
          </a:prstGeom>
          <a:noFill/>
        </p:spPr>
        <p:txBody>
          <a:bodyPr wrap="square" anchor="t">
            <a:spAutoFit/>
          </a:bodyPr>
          <a:lstStyle/>
          <a:p>
            <a:pPr algn="l"/>
            <a:r>
              <a:rPr sz="1200" b="1" i="0">
                <a:solidFill>
                  <a:srgbClr val="E31837"/>
                </a:solidFill>
                <a:latin typeface="Arial"/>
              </a:rPr>
              <a:t>STRICTLY CONFIDENTIAL</a:t>
            </a:r>
          </a:p>
        </p:txBody>
      </p:sp>
      <p:sp>
        <p:nvSpPr>
          <p:cNvPr id="11" name="TextBox 10"/>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12" name="Rectangle 11"/>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2F5"/>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EXECUTIVE SUMMARY</a:t>
            </a:r>
          </a:p>
        </p:txBody>
      </p:sp>
      <p:sp>
        <p:nvSpPr>
          <p:cNvPr id="5" name="TextBox 4"/>
          <p:cNvSpPr txBox="1"/>
          <p:nvPr/>
        </p:nvSpPr>
        <p:spPr>
          <a:xfrm>
            <a:off x="457200" y="685800"/>
            <a:ext cx="11274552" cy="365760"/>
          </a:xfrm>
          <a:prstGeom prst="rect">
            <a:avLst/>
          </a:prstGeom>
          <a:noFill/>
        </p:spPr>
        <p:txBody>
          <a:bodyPr wrap="square" anchor="t">
            <a:spAutoFit/>
          </a:bodyPr>
          <a:lstStyle/>
          <a:p>
            <a:pPr algn="l"/>
            <a:r>
              <a:rPr sz="1200" b="0" i="1">
                <a:solidFill>
                  <a:srgbClr val="C8D2E6"/>
                </a:solidFill>
                <a:latin typeface="Arial"/>
              </a:rPr>
              <a:t>Strategic Highlights &amp; Value Proposition</a:t>
            </a:r>
          </a:p>
        </p:txBody>
      </p:sp>
      <p:sp>
        <p:nvSpPr>
          <p:cNvPr id="6" name="Rectangle 5"/>
          <p:cNvSpPr/>
          <p:nvPr/>
        </p:nvSpPr>
        <p:spPr>
          <a:xfrm>
            <a:off x="457200" y="1463040"/>
            <a:ext cx="320040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463040"/>
            <a:ext cx="3200400"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828800"/>
            <a:ext cx="3200400" cy="457200"/>
          </a:xfrm>
          <a:prstGeom prst="rect">
            <a:avLst/>
          </a:prstGeom>
          <a:noFill/>
        </p:spPr>
        <p:txBody>
          <a:bodyPr wrap="square" anchor="t">
            <a:spAutoFit/>
          </a:bodyPr>
          <a:lstStyle/>
          <a:p>
            <a:pPr algn="ctr"/>
            <a:r>
              <a:rPr sz="2400" b="1" i="0">
                <a:solidFill>
                  <a:srgbClr val="000F2D"/>
                </a:solidFill>
                <a:latin typeface="Arial"/>
              </a:rPr>
              <a:t>AI-DRIVEN</a:t>
            </a:r>
          </a:p>
        </p:txBody>
      </p:sp>
      <p:sp>
        <p:nvSpPr>
          <p:cNvPr id="9" name="TextBox 8"/>
          <p:cNvSpPr txBox="1"/>
          <p:nvPr/>
        </p:nvSpPr>
        <p:spPr>
          <a:xfrm>
            <a:off x="457200" y="2286000"/>
            <a:ext cx="3200400" cy="274320"/>
          </a:xfrm>
          <a:prstGeom prst="rect">
            <a:avLst/>
          </a:prstGeom>
          <a:noFill/>
        </p:spPr>
        <p:txBody>
          <a:bodyPr wrap="square" anchor="t">
            <a:spAutoFit/>
          </a:bodyPr>
          <a:lstStyle/>
          <a:p>
            <a:pPr algn="ctr"/>
            <a:r>
              <a:rPr sz="1200" b="0" i="0">
                <a:solidFill>
                  <a:srgbClr val="696969"/>
                </a:solidFill>
                <a:latin typeface="Arial"/>
              </a:rPr>
              <a:t>Methodology</a:t>
            </a:r>
          </a:p>
        </p:txBody>
      </p:sp>
      <p:sp>
        <p:nvSpPr>
          <p:cNvPr id="10" name="Rectangle 9"/>
          <p:cNvSpPr/>
          <p:nvPr/>
        </p:nvSpPr>
        <p:spPr>
          <a:xfrm>
            <a:off x="1371600" y="2743200"/>
            <a:ext cx="13716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2926080"/>
            <a:ext cx="3200400" cy="457200"/>
          </a:xfrm>
          <a:prstGeom prst="rect">
            <a:avLst/>
          </a:prstGeom>
          <a:noFill/>
        </p:spPr>
        <p:txBody>
          <a:bodyPr wrap="square" anchor="t">
            <a:spAutoFit/>
          </a:bodyPr>
          <a:lstStyle/>
          <a:p>
            <a:pPr algn="ctr"/>
            <a:r>
              <a:rPr sz="2400" b="1" i="0">
                <a:solidFill>
                  <a:srgbClr val="000F2D"/>
                </a:solidFill>
                <a:latin typeface="Arial"/>
              </a:rPr>
              <a:t>100%</a:t>
            </a:r>
          </a:p>
        </p:txBody>
      </p:sp>
      <p:sp>
        <p:nvSpPr>
          <p:cNvPr id="12" name="TextBox 11"/>
          <p:cNvSpPr txBox="1"/>
          <p:nvPr/>
        </p:nvSpPr>
        <p:spPr>
          <a:xfrm>
            <a:off x="457200" y="3383280"/>
            <a:ext cx="3200400" cy="274320"/>
          </a:xfrm>
          <a:prstGeom prst="rect">
            <a:avLst/>
          </a:prstGeom>
          <a:noFill/>
        </p:spPr>
        <p:txBody>
          <a:bodyPr wrap="square" anchor="t">
            <a:spAutoFit/>
          </a:bodyPr>
          <a:lstStyle/>
          <a:p>
            <a:pPr algn="ctr"/>
            <a:r>
              <a:rPr sz="1200" b="0" i="0">
                <a:solidFill>
                  <a:srgbClr val="696969"/>
                </a:solidFill>
                <a:latin typeface="Arial"/>
              </a:rPr>
              <a:t>Requirements Met</a:t>
            </a:r>
          </a:p>
        </p:txBody>
      </p:sp>
      <p:sp>
        <p:nvSpPr>
          <p:cNvPr id="13" name="Rectangle 12"/>
          <p:cNvSpPr/>
          <p:nvPr/>
        </p:nvSpPr>
        <p:spPr>
          <a:xfrm>
            <a:off x="1371600" y="3840480"/>
            <a:ext cx="13716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023360"/>
            <a:ext cx="3200400" cy="457200"/>
          </a:xfrm>
          <a:prstGeom prst="rect">
            <a:avLst/>
          </a:prstGeom>
          <a:noFill/>
        </p:spPr>
        <p:txBody>
          <a:bodyPr wrap="square" anchor="t">
            <a:spAutoFit/>
          </a:bodyPr>
          <a:lstStyle/>
          <a:p>
            <a:pPr algn="ctr"/>
            <a:r>
              <a:rPr sz="2400" b="1" i="0">
                <a:solidFill>
                  <a:srgbClr val="000F2D"/>
                </a:solidFill>
                <a:latin typeface="Arial"/>
              </a:rPr>
              <a:t>SCALABLE</a:t>
            </a:r>
          </a:p>
        </p:txBody>
      </p:sp>
      <p:sp>
        <p:nvSpPr>
          <p:cNvPr id="15" name="TextBox 14"/>
          <p:cNvSpPr txBox="1"/>
          <p:nvPr/>
        </p:nvSpPr>
        <p:spPr>
          <a:xfrm>
            <a:off x="457200" y="4480560"/>
            <a:ext cx="3200400" cy="274320"/>
          </a:xfrm>
          <a:prstGeom prst="rect">
            <a:avLst/>
          </a:prstGeom>
          <a:noFill/>
        </p:spPr>
        <p:txBody>
          <a:bodyPr wrap="square" anchor="t">
            <a:spAutoFit/>
          </a:bodyPr>
          <a:lstStyle/>
          <a:p>
            <a:pPr algn="ctr"/>
            <a:r>
              <a:rPr sz="1200" b="0" i="0">
                <a:solidFill>
                  <a:srgbClr val="696969"/>
                </a:solidFill>
                <a:latin typeface="Arial"/>
              </a:rPr>
              <a:t>Architecture</a:t>
            </a:r>
          </a:p>
        </p:txBody>
      </p:sp>
      <p:sp>
        <p:nvSpPr>
          <p:cNvPr id="16" name="Rectangle 15"/>
          <p:cNvSpPr/>
          <p:nvPr/>
        </p:nvSpPr>
        <p:spPr>
          <a:xfrm>
            <a:off x="1371600" y="4937760"/>
            <a:ext cx="1371600" cy="18288"/>
          </a:xfrm>
          <a:prstGeom prst="rect">
            <a:avLst/>
          </a:prstGeom>
          <a:solidFill>
            <a:srgbClr val="F0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5120640"/>
            <a:ext cx="3200400" cy="457200"/>
          </a:xfrm>
          <a:prstGeom prst="rect">
            <a:avLst/>
          </a:prstGeom>
          <a:noFill/>
        </p:spPr>
        <p:txBody>
          <a:bodyPr wrap="square" anchor="t">
            <a:spAutoFit/>
          </a:bodyPr>
          <a:lstStyle/>
          <a:p>
            <a:pPr algn="ctr"/>
            <a:r>
              <a:rPr sz="2400" b="1" i="0">
                <a:solidFill>
                  <a:srgbClr val="000F2D"/>
                </a:solidFill>
                <a:latin typeface="Arial"/>
              </a:rPr>
              <a:t>OPTIMIZED</a:t>
            </a:r>
          </a:p>
        </p:txBody>
      </p:sp>
      <p:sp>
        <p:nvSpPr>
          <p:cNvPr id="18" name="TextBox 17"/>
          <p:cNvSpPr txBox="1"/>
          <p:nvPr/>
        </p:nvSpPr>
        <p:spPr>
          <a:xfrm>
            <a:off x="457200" y="5577840"/>
            <a:ext cx="3200400" cy="274320"/>
          </a:xfrm>
          <a:prstGeom prst="rect">
            <a:avLst/>
          </a:prstGeom>
          <a:noFill/>
        </p:spPr>
        <p:txBody>
          <a:bodyPr wrap="square" anchor="t">
            <a:spAutoFit/>
          </a:bodyPr>
          <a:lstStyle/>
          <a:p>
            <a:pPr algn="ctr"/>
            <a:r>
              <a:rPr sz="1200" b="0" i="0">
                <a:solidFill>
                  <a:srgbClr val="696969"/>
                </a:solidFill>
                <a:latin typeface="Arial"/>
              </a:rPr>
              <a:t>Commercials</a:t>
            </a:r>
          </a:p>
        </p:txBody>
      </p:sp>
      <p:sp>
        <p:nvSpPr>
          <p:cNvPr id="19" name="Rectangle 18"/>
          <p:cNvSpPr/>
          <p:nvPr/>
        </p:nvSpPr>
        <p:spPr>
          <a:xfrm>
            <a:off x="3931920" y="1463040"/>
            <a:ext cx="7772400" cy="4754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31920" y="1463040"/>
            <a:ext cx="7772400" cy="9144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0" y="1828800"/>
            <a:ext cx="6858000" cy="457200"/>
          </a:xfrm>
          <a:prstGeom prst="rect">
            <a:avLst/>
          </a:prstGeom>
          <a:noFill/>
        </p:spPr>
        <p:txBody>
          <a:bodyPr wrap="square" anchor="t">
            <a:spAutoFit/>
          </a:bodyPr>
          <a:lstStyle/>
          <a:p>
            <a:pPr algn="l"/>
            <a:r>
              <a:rPr sz="1600" b="1" i="0">
                <a:solidFill>
                  <a:srgbClr val="000F2D"/>
                </a:solidFill>
                <a:latin typeface="Arial"/>
              </a:rPr>
              <a:t>KEY PROPOSAL INSIGHTS</a:t>
            </a:r>
          </a:p>
        </p:txBody>
      </p:sp>
      <p:sp>
        <p:nvSpPr>
          <p:cNvPr id="22" name="Rectangle 21"/>
          <p:cNvSpPr/>
          <p:nvPr/>
        </p:nvSpPr>
        <p:spPr>
          <a:xfrm>
            <a:off x="4389120" y="2651760"/>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2560320"/>
            <a:ext cx="6583680" cy="731520"/>
          </a:xfrm>
          <a:prstGeom prst="rect">
            <a:avLst/>
          </a:prstGeom>
          <a:noFill/>
        </p:spPr>
        <p:txBody>
          <a:bodyPr wrap="square" anchor="t">
            <a:spAutoFit/>
          </a:bodyPr>
          <a:lstStyle/>
          <a:p>
            <a:pPr algn="l"/>
            <a:r>
              <a:rPr sz="1400" b="0" i="0">
                <a:solidFill>
                  <a:srgbClr val="000F2D"/>
                </a:solidFill>
                <a:latin typeface="Arial"/>
              </a:rPr>
              <a:t>Tech Mahindra – Solution Proposal for HDFC Bank</a:t>
            </a:r>
          </a:p>
        </p:txBody>
      </p:sp>
      <p:sp>
        <p:nvSpPr>
          <p:cNvPr id="24" name="Rectangle 23"/>
          <p:cNvSpPr/>
          <p:nvPr/>
        </p:nvSpPr>
        <p:spPr>
          <a:xfrm>
            <a:off x="4389120" y="3474720"/>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3383279"/>
            <a:ext cx="6583680" cy="731520"/>
          </a:xfrm>
          <a:prstGeom prst="rect">
            <a:avLst/>
          </a:prstGeom>
          <a:noFill/>
        </p:spPr>
        <p:txBody>
          <a:bodyPr wrap="square" anchor="t">
            <a:spAutoFit/>
          </a:bodyPr>
          <a:lstStyle/>
          <a:p>
            <a:pPr algn="l"/>
            <a:r>
              <a:rPr sz="1400" b="0" i="0">
                <a:solidFill>
                  <a:srgbClr val="000F2D"/>
                </a:solidFill>
                <a:latin typeface="Arial"/>
              </a:rPr>
              <a:t>Executive Summary</a:t>
            </a:r>
          </a:p>
        </p:txBody>
      </p:sp>
      <p:sp>
        <p:nvSpPr>
          <p:cNvPr id="26" name="Rectangle 25"/>
          <p:cNvSpPr/>
          <p:nvPr/>
        </p:nvSpPr>
        <p:spPr>
          <a:xfrm>
            <a:off x="4389120" y="4297679"/>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4206240"/>
            <a:ext cx="6583680" cy="731520"/>
          </a:xfrm>
          <a:prstGeom prst="rect">
            <a:avLst/>
          </a:prstGeom>
          <a:noFill/>
        </p:spPr>
        <p:txBody>
          <a:bodyPr wrap="square" anchor="t">
            <a:spAutoFit/>
          </a:bodyPr>
          <a:lstStyle/>
          <a:p>
            <a:pPr algn="l"/>
            <a:r>
              <a:rPr sz="1400" b="0" i="0">
                <a:solidFill>
                  <a:srgbClr val="000F2D"/>
                </a:solidFill>
                <a:latin typeface="Arial"/>
              </a:rPr>
              <a:t>HDFC Bank, India's largest private sector bank, seeks to modernize its core banking system (CBS) by leveraging cloud-native technology. Our proposal outlines a comprehensive soluti</a:t>
            </a:r>
          </a:p>
        </p:txBody>
      </p:sp>
      <p:sp>
        <p:nvSpPr>
          <p:cNvPr id="28" name="Rectangle 27"/>
          <p:cNvSpPr/>
          <p:nvPr/>
        </p:nvSpPr>
        <p:spPr>
          <a:xfrm>
            <a:off x="4389120" y="5120640"/>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3440" y="5029200"/>
            <a:ext cx="6583680" cy="731520"/>
          </a:xfrm>
          <a:prstGeom prst="rect">
            <a:avLst/>
          </a:prstGeom>
          <a:noFill/>
        </p:spPr>
        <p:txBody>
          <a:bodyPr wrap="square" anchor="t">
            <a:spAutoFit/>
          </a:bodyPr>
          <a:lstStyle/>
          <a:p>
            <a:pPr algn="l"/>
            <a:r>
              <a:rPr sz="1400" b="0" i="0">
                <a:solidFill>
                  <a:srgbClr val="000F2D"/>
                </a:solidFill>
                <a:latin typeface="Arial"/>
              </a:rPr>
              <a:t>Our proposed solution will deliver key benefits, including improved scalability to handle 10M+ daily transactions, enhanced digital channel capabilities, and achieved 99.999% syste</a:t>
            </a:r>
          </a:p>
        </p:txBody>
      </p:sp>
      <p:sp>
        <p:nvSpPr>
          <p:cNvPr id="30" name="TextBox 29"/>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31" name="TextBox 30"/>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2</a:t>
            </a:r>
          </a:p>
        </p:txBody>
      </p:sp>
      <p:sp>
        <p:nvSpPr>
          <p:cNvPr id="32" name="Rectangle 31"/>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01</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TECH MAHINDRA – SOLUTION PROPOSAL FOR HDFC BANK</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02</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1. EXECUTIVE SUMMARY</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1. EXECUTIVE SUMMARY</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HDFC Bank, India's largest private sector bank, seeks to modernize its core banking system (CBS) by leveraging cloud-native technology. Our proposal outlines a comprehensive solution to evaluate and implement a cloud-native core banking platform, ens</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Our proposed solution will deliver key benefits, including improved scalability to handle 10M+ daily transactions, enhanced digital channel capabilities, and achieved 99.999% system uptime SLA. We will also ensure RBI regulatory compliance post-upgra</a:t>
            </a:r>
          </a:p>
        </p:txBody>
      </p:sp>
      <p:sp>
        <p:nvSpPr>
          <p:cNvPr id="9" name="Rectangle 8"/>
          <p:cNvSpPr/>
          <p:nvPr/>
        </p:nvSpPr>
        <p:spPr>
          <a:xfrm>
            <a:off x="731520" y="321868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108960"/>
            <a:ext cx="10058400" cy="640080"/>
          </a:xfrm>
          <a:prstGeom prst="rect">
            <a:avLst/>
          </a:prstGeom>
          <a:noFill/>
        </p:spPr>
        <p:txBody>
          <a:bodyPr wrap="square" anchor="t">
            <a:spAutoFit/>
          </a:bodyPr>
          <a:lstStyle/>
          <a:p>
            <a:pPr algn="l"/>
            <a:r>
              <a:rPr sz="1600" b="0" i="0">
                <a:solidFill>
                  <a:srgbClr val="000F2D"/>
                </a:solidFill>
                <a:latin typeface="Arial"/>
              </a:rPr>
              <a:t>Our team of experts, comprising Solution Architects, Cloud Engineers, Core Banking Specialists, Integration Specialists, Data Engineers, Analytics Specialists, Security Specialists, Project Managers, QA Engineers, and DevOps Engineers, will work in c</a:t>
            </a:r>
          </a:p>
        </p:txBody>
      </p:sp>
      <p:sp>
        <p:nvSpPr>
          <p:cNvPr id="11" name="TextBox 10"/>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2" name="TextBox 11"/>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5</a:t>
            </a:r>
          </a:p>
        </p:txBody>
      </p:sp>
      <p:sp>
        <p:nvSpPr>
          <p:cNvPr id="13" name="Rectangle 12"/>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03</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2. UNDERSTANDING YOUR CHALLENGE</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2. UNDERSTANDING YOUR CHALLENGE</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HDFC Bank faces significant challenges in its current core banking system, including scalability issues, regulatory compliance concerns, and the need for digital transformation. The bank's existing system is unable to handle the increasing volume of </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To address these challenges, HDFC Bank requires a modernized core banking system that can handle high volumes of transactions, ensure regulatory compliance, and provide a secure and reliable platform for customers. Our proposed solution will address </a:t>
            </a:r>
          </a:p>
        </p:txBody>
      </p:sp>
      <p:sp>
        <p:nvSpPr>
          <p:cNvPr id="9" name="TextBox 8"/>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0" name="TextBox 9"/>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7</a:t>
            </a:r>
          </a:p>
        </p:txBody>
      </p:sp>
      <p:sp>
        <p:nvSpPr>
          <p:cNvPr id="11" name="Rectangle 10"/>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04</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3. OUR PROPOSED SOLUTION</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3. OUR PROPOSED SOLUTION</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Our proposed solution will evaluate and implement a cloud-native core banking platform, ensuring regulatory compliance, high scalability, and uptime. The solution will comprise the following component</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Cloud-Native Core Banking Platform: Our solution will evaluate and implement a cloud-native core banking platform that can handle high volumes of transactions, ensure regulatory compliance, and provid</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Regulatory Compliance: Our solution will ensure RBI regulatory compliance post-upgrade, providing a secure and reliable platform for HDFC Bank's customers.</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Digital Channel Capabilities: Our solution will enhance digital channel capabilities, enabling HDFC Bank to provide a seamless customer experience across multiple channels.</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Scalability: Our solution will improve scalability to handle 10M+ daily transactions during peak loads, ensuring that HDFC Bank's customers can access their accounts and conduct transactions without i</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Uptime: Our solution will achieve 99.999% system uptime SLA, ensuring that HDFC Bank's customers can access their accounts and conduct transactions without interruption.</a:t>
            </a:r>
          </a:p>
        </p:txBody>
      </p:sp>
      <p:sp>
        <p:nvSpPr>
          <p:cNvPr id="17" name="TextBox 16"/>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8" name="TextBox 17"/>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9</a:t>
            </a:r>
          </a:p>
        </p:txBody>
      </p:sp>
      <p:sp>
        <p:nvSpPr>
          <p:cNvPr id="19" name="Rectangle 18"/>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05</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4. SOLUTION ARCHITECTURE</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ARCHITECTURE BLUEPRINT</a:t>
            </a:r>
          </a:p>
        </p:txBody>
      </p:sp>
      <p:sp>
        <p:nvSpPr>
          <p:cNvPr id="5" name="TextBox 4"/>
          <p:cNvSpPr txBox="1"/>
          <p:nvPr/>
        </p:nvSpPr>
        <p:spPr>
          <a:xfrm>
            <a:off x="457200" y="685800"/>
            <a:ext cx="11274552" cy="365760"/>
          </a:xfrm>
          <a:prstGeom prst="rect">
            <a:avLst/>
          </a:prstGeom>
          <a:noFill/>
        </p:spPr>
        <p:txBody>
          <a:bodyPr wrap="square" anchor="t">
            <a:spAutoFit/>
          </a:bodyPr>
          <a:lstStyle/>
          <a:p>
            <a:pPr algn="l"/>
            <a:r>
              <a:rPr sz="1200" b="0" i="1">
                <a:solidFill>
                  <a:srgbClr val="C8D2E6"/>
                </a:solidFill>
                <a:latin typeface="Arial"/>
              </a:rPr>
              <a:t>Target Operating Model &amp; Architecture Blueprint</a:t>
            </a:r>
          </a:p>
        </p:txBody>
      </p:sp>
      <p:pic>
        <p:nvPicPr>
          <p:cNvPr id="6" name="Picture 5" descr="image.png"/>
          <p:cNvPicPr>
            <a:picLocks noChangeAspect="1"/>
          </p:cNvPicPr>
          <p:nvPr/>
        </p:nvPicPr>
        <p:blipFill>
          <a:blip r:embed="rId2"/>
          <a:stretch>
            <a:fillRect/>
          </a:stretch>
        </p:blipFill>
        <p:spPr>
          <a:xfrm>
            <a:off x="1371600" y="1371600"/>
            <a:ext cx="9418320" cy="4846320"/>
          </a:xfrm>
          <a:prstGeom prst="rect">
            <a:avLst/>
          </a:prstGeom>
        </p:spPr>
      </p:pic>
      <p:sp>
        <p:nvSpPr>
          <p:cNvPr id="7" name="TextBox 6"/>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8" name="TextBox 7"/>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11</a:t>
            </a:r>
          </a:p>
        </p:txBody>
      </p:sp>
      <p:sp>
        <p:nvSpPr>
          <p:cNvPr id="9" name="Rectangle 8"/>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06</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5. TEAM STRUCTURE &amp; OPERATING MODEL</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5. TEAM STRUCTURE &amp; OPERATING MODEL</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Our team will comprise the following members:</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Solution Architect: 2 members, onshore</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Cloud Engineer: 4 members, offshore</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Core Banking Specialist: 2 members, nearshore</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Integration Specialist: 2 members, offshore</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Data Engineer: 1 member, onshore</a:t>
            </a:r>
          </a:p>
        </p:txBody>
      </p:sp>
      <p:sp>
        <p:nvSpPr>
          <p:cNvPr id="17" name="Rectangle 16"/>
          <p:cNvSpPr/>
          <p:nvPr/>
        </p:nvSpPr>
        <p:spPr>
          <a:xfrm>
            <a:off x="640080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2560320"/>
            <a:ext cx="5029200" cy="822960"/>
          </a:xfrm>
          <a:prstGeom prst="rect">
            <a:avLst/>
          </a:prstGeom>
          <a:noFill/>
        </p:spPr>
        <p:txBody>
          <a:bodyPr wrap="square" anchor="t">
            <a:spAutoFit/>
          </a:bodyPr>
          <a:lstStyle/>
          <a:p>
            <a:pPr algn="l"/>
            <a:r>
              <a:rPr sz="1400" b="0" i="0">
                <a:solidFill>
                  <a:srgbClr val="000F2D"/>
                </a:solidFill>
                <a:latin typeface="Arial"/>
              </a:rPr>
              <a:t>Analytics Specialist: 1 member, offshore</a:t>
            </a:r>
          </a:p>
        </p:txBody>
      </p:sp>
      <p:sp>
        <p:nvSpPr>
          <p:cNvPr id="19" name="Rectangle 18"/>
          <p:cNvSpPr/>
          <p:nvPr/>
        </p:nvSpPr>
        <p:spPr>
          <a:xfrm>
            <a:off x="640080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0" y="3474720"/>
            <a:ext cx="5029200" cy="822960"/>
          </a:xfrm>
          <a:prstGeom prst="rect">
            <a:avLst/>
          </a:prstGeom>
          <a:noFill/>
        </p:spPr>
        <p:txBody>
          <a:bodyPr wrap="square" anchor="t">
            <a:spAutoFit/>
          </a:bodyPr>
          <a:lstStyle/>
          <a:p>
            <a:pPr algn="l"/>
            <a:r>
              <a:rPr sz="1400" b="0" i="0">
                <a:solidFill>
                  <a:srgbClr val="000F2D"/>
                </a:solidFill>
                <a:latin typeface="Arial"/>
              </a:rPr>
              <a:t>Security Specialist: 1 member, nearshore</a:t>
            </a:r>
          </a:p>
        </p:txBody>
      </p:sp>
      <p:sp>
        <p:nvSpPr>
          <p:cNvPr id="21" name="Rectangle 20"/>
          <p:cNvSpPr/>
          <p:nvPr/>
        </p:nvSpPr>
        <p:spPr>
          <a:xfrm>
            <a:off x="640080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4389120"/>
            <a:ext cx="5029200" cy="822960"/>
          </a:xfrm>
          <a:prstGeom prst="rect">
            <a:avLst/>
          </a:prstGeom>
          <a:noFill/>
        </p:spPr>
        <p:txBody>
          <a:bodyPr wrap="square" anchor="t">
            <a:spAutoFit/>
          </a:bodyPr>
          <a:lstStyle/>
          <a:p>
            <a:pPr algn="l"/>
            <a:r>
              <a:rPr sz="1400" b="0" i="0">
                <a:solidFill>
                  <a:srgbClr val="000F2D"/>
                </a:solidFill>
                <a:latin typeface="Arial"/>
              </a:rPr>
              <a:t>Project Manager: 1 member, onshore</a:t>
            </a:r>
          </a:p>
        </p:txBody>
      </p:sp>
      <p:sp>
        <p:nvSpPr>
          <p:cNvPr id="23" name="Rectangle 22"/>
          <p:cNvSpPr/>
          <p:nvPr/>
        </p:nvSpPr>
        <p:spPr>
          <a:xfrm>
            <a:off x="640080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75120" y="5303520"/>
            <a:ext cx="5029200" cy="822960"/>
          </a:xfrm>
          <a:prstGeom prst="rect">
            <a:avLst/>
          </a:prstGeom>
          <a:noFill/>
        </p:spPr>
        <p:txBody>
          <a:bodyPr wrap="square" anchor="t">
            <a:spAutoFit/>
          </a:bodyPr>
          <a:lstStyle/>
          <a:p>
            <a:pPr algn="l"/>
            <a:r>
              <a:rPr sz="1400" b="0" i="0">
                <a:solidFill>
                  <a:srgbClr val="000F2D"/>
                </a:solidFill>
                <a:latin typeface="Arial"/>
              </a:rPr>
              <a:t>QA Engineer: 2 members, offshore</a:t>
            </a:r>
          </a:p>
        </p:txBody>
      </p:sp>
      <p:sp>
        <p:nvSpPr>
          <p:cNvPr id="25" name="TextBox 24"/>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26" name="TextBox 25"/>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13</a:t>
            </a:r>
          </a:p>
        </p:txBody>
      </p:sp>
      <p:sp>
        <p:nvSpPr>
          <p:cNvPr id="27" name="Rectangle 26"/>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5. TEAM STRUCTURE &amp; OPERATING MODEL</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DevOps Engineer: 1 member, nearshore</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Our team will work in collaboration to deliver this project, with regular meetings and progress updates to ensure that the project is on track and meeting HDFC Bank's requirements.</a:t>
            </a:r>
          </a:p>
        </p:txBody>
      </p:sp>
      <p:sp>
        <p:nvSpPr>
          <p:cNvPr id="9" name="TextBox 8"/>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0" name="TextBox 9"/>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14</a:t>
            </a:r>
          </a:p>
        </p:txBody>
      </p:sp>
      <p:sp>
        <p:nvSpPr>
          <p:cNvPr id="11" name="Rectangle 10"/>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07</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6. DELIVERY ROADMAP</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6. DELIVERY ROADMAP</a:t>
            </a:r>
          </a:p>
        </p:txBody>
      </p:sp>
      <p:sp>
        <p:nvSpPr>
          <p:cNvPr id="5" name="Rectangle 4"/>
          <p:cNvSpPr/>
          <p:nvPr/>
        </p:nvSpPr>
        <p:spPr>
          <a:xfrm>
            <a:off x="54864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45920"/>
            <a:ext cx="5029200" cy="822960"/>
          </a:xfrm>
          <a:prstGeom prst="rect">
            <a:avLst/>
          </a:prstGeom>
          <a:noFill/>
        </p:spPr>
        <p:txBody>
          <a:bodyPr wrap="square" anchor="t">
            <a:spAutoFit/>
          </a:bodyPr>
          <a:lstStyle/>
          <a:p>
            <a:pPr algn="l"/>
            <a:r>
              <a:rPr sz="1400" b="0" i="0">
                <a:solidFill>
                  <a:srgbClr val="000F2D"/>
                </a:solidFill>
                <a:latin typeface="Arial"/>
              </a:rPr>
              <a:t>Our delivery roadmap will comprise the following phases:</a:t>
            </a:r>
          </a:p>
        </p:txBody>
      </p:sp>
      <p:sp>
        <p:nvSpPr>
          <p:cNvPr id="7" name="Rectangle 6"/>
          <p:cNvSpPr/>
          <p:nvPr/>
        </p:nvSpPr>
        <p:spPr>
          <a:xfrm>
            <a:off x="548640" y="26700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60320"/>
            <a:ext cx="5029200" cy="822960"/>
          </a:xfrm>
          <a:prstGeom prst="rect">
            <a:avLst/>
          </a:prstGeom>
          <a:noFill/>
        </p:spPr>
        <p:txBody>
          <a:bodyPr wrap="square" anchor="t">
            <a:spAutoFit/>
          </a:bodyPr>
          <a:lstStyle/>
          <a:p>
            <a:pPr algn="l"/>
            <a:r>
              <a:rPr sz="1400" b="0" i="0">
                <a:solidFill>
                  <a:srgbClr val="000F2D"/>
                </a:solidFill>
                <a:latin typeface="Arial"/>
              </a:rPr>
              <a:t>Phase 1: Requirements Gathering and Solution Design (Weeks 1-4)</a:t>
            </a:r>
          </a:p>
        </p:txBody>
      </p:sp>
      <p:sp>
        <p:nvSpPr>
          <p:cNvPr id="9" name="Rectangle 8"/>
          <p:cNvSpPr/>
          <p:nvPr/>
        </p:nvSpPr>
        <p:spPr>
          <a:xfrm>
            <a:off x="548640" y="35844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474720"/>
            <a:ext cx="5029200" cy="822960"/>
          </a:xfrm>
          <a:prstGeom prst="rect">
            <a:avLst/>
          </a:prstGeom>
          <a:noFill/>
        </p:spPr>
        <p:txBody>
          <a:bodyPr wrap="square" anchor="t">
            <a:spAutoFit/>
          </a:bodyPr>
          <a:lstStyle/>
          <a:p>
            <a:pPr algn="l"/>
            <a:r>
              <a:rPr sz="1400" b="0" i="0">
                <a:solidFill>
                  <a:srgbClr val="000F2D"/>
                </a:solidFill>
                <a:latin typeface="Arial"/>
              </a:rPr>
              <a:t>Phase 2: Solution Implementation (Weeks 5-12)</a:t>
            </a:r>
          </a:p>
        </p:txBody>
      </p:sp>
      <p:sp>
        <p:nvSpPr>
          <p:cNvPr id="11" name="Rectangle 10"/>
          <p:cNvSpPr/>
          <p:nvPr/>
        </p:nvSpPr>
        <p:spPr>
          <a:xfrm>
            <a:off x="548640" y="44988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5029200" cy="822960"/>
          </a:xfrm>
          <a:prstGeom prst="rect">
            <a:avLst/>
          </a:prstGeom>
          <a:noFill/>
        </p:spPr>
        <p:txBody>
          <a:bodyPr wrap="square" anchor="t">
            <a:spAutoFit/>
          </a:bodyPr>
          <a:lstStyle/>
          <a:p>
            <a:pPr algn="l"/>
            <a:r>
              <a:rPr sz="1400" b="0" i="0">
                <a:solidFill>
                  <a:srgbClr val="000F2D"/>
                </a:solidFill>
                <a:latin typeface="Arial"/>
              </a:rPr>
              <a:t>Phase 3: Testing and Quality Assurance (Weeks 13-16)</a:t>
            </a:r>
          </a:p>
        </p:txBody>
      </p:sp>
      <p:sp>
        <p:nvSpPr>
          <p:cNvPr id="13" name="Rectangle 12"/>
          <p:cNvSpPr/>
          <p:nvPr/>
        </p:nvSpPr>
        <p:spPr>
          <a:xfrm>
            <a:off x="548640" y="54132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303520"/>
            <a:ext cx="5029200" cy="822960"/>
          </a:xfrm>
          <a:prstGeom prst="rect">
            <a:avLst/>
          </a:prstGeom>
          <a:noFill/>
        </p:spPr>
        <p:txBody>
          <a:bodyPr wrap="square" anchor="t">
            <a:spAutoFit/>
          </a:bodyPr>
          <a:lstStyle/>
          <a:p>
            <a:pPr algn="l"/>
            <a:r>
              <a:rPr sz="1400" b="0" i="0">
                <a:solidFill>
                  <a:srgbClr val="000F2D"/>
                </a:solidFill>
                <a:latin typeface="Arial"/>
              </a:rPr>
              <a:t>Phase 4: Deployment and Go-Live (Weeks 17-20)</a:t>
            </a:r>
          </a:p>
        </p:txBody>
      </p:sp>
      <p:sp>
        <p:nvSpPr>
          <p:cNvPr id="15" name="Rectangle 14"/>
          <p:cNvSpPr/>
          <p:nvPr/>
        </p:nvSpPr>
        <p:spPr>
          <a:xfrm>
            <a:off x="640080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0" y="1645920"/>
            <a:ext cx="5029200" cy="822960"/>
          </a:xfrm>
          <a:prstGeom prst="rect">
            <a:avLst/>
          </a:prstGeom>
          <a:noFill/>
        </p:spPr>
        <p:txBody>
          <a:bodyPr wrap="square" anchor="t">
            <a:spAutoFit/>
          </a:bodyPr>
          <a:lstStyle/>
          <a:p>
            <a:pPr algn="l"/>
            <a:r>
              <a:rPr sz="1400" b="0" i="0">
                <a:solidFill>
                  <a:srgbClr val="000F2D"/>
                </a:solidFill>
                <a:latin typeface="Arial"/>
              </a:rPr>
              <a:t>Phase 5: Post-Implementation Support and Maintenance (Weeks 21-52)</a:t>
            </a:r>
          </a:p>
        </p:txBody>
      </p:sp>
      <p:sp>
        <p:nvSpPr>
          <p:cNvPr id="17" name="TextBox 16"/>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8" name="TextBox 17"/>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16</a:t>
            </a:r>
          </a:p>
        </p:txBody>
      </p:sp>
      <p:sp>
        <p:nvSpPr>
          <p:cNvPr id="19" name="Rectangle 18"/>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08</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7. COMMERCIAL SUMMARY</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7. COMMERCIAL SUMMARY</a:t>
            </a:r>
          </a:p>
        </p:txBody>
      </p:sp>
      <p:sp>
        <p:nvSpPr>
          <p:cNvPr id="5" name="TextBox 4"/>
          <p:cNvSpPr txBox="1"/>
          <p:nvPr/>
        </p:nvSpPr>
        <p:spPr>
          <a:xfrm>
            <a:off x="457200" y="685800"/>
            <a:ext cx="11274552" cy="365760"/>
          </a:xfrm>
          <a:prstGeom prst="rect">
            <a:avLst/>
          </a:prstGeom>
          <a:noFill/>
        </p:spPr>
        <p:txBody>
          <a:bodyPr wrap="square" anchor="t">
            <a:spAutoFit/>
          </a:bodyPr>
          <a:lstStyle/>
          <a:p>
            <a:pPr algn="l"/>
            <a:r>
              <a:rPr sz="1200" b="0" i="1">
                <a:solidFill>
                  <a:srgbClr val="C8D2E6"/>
                </a:solidFill>
                <a:latin typeface="Arial"/>
              </a:rPr>
              <a:t>Commercial &amp; Operational Metrics</a:t>
            </a:r>
          </a:p>
        </p:txBody>
      </p:sp>
      <p:graphicFrame>
        <p:nvGraphicFramePr>
          <p:cNvPr id="6" name="Table 5"/>
          <p:cNvGraphicFramePr>
            <a:graphicFrameLocks noGrp="1"/>
          </p:cNvGraphicFramePr>
          <p:nvPr/>
        </p:nvGraphicFramePr>
        <p:xfrm>
          <a:off x="457200" y="1645920"/>
          <a:ext cx="11247120" cy="4526280"/>
        </p:xfrm>
        <a:graphic>
          <a:graphicData uri="http://schemas.openxmlformats.org/drawingml/2006/table">
            <a:tbl>
              <a:tblPr firstRow="1" bandRow="1">
                <a:tableStyleId>{5C22544A-7EE6-4342-B048-85BDC9FD1C3A}</a:tableStyleId>
              </a:tblPr>
              <a:tblGrid>
                <a:gridCol w="1874520"/>
                <a:gridCol w="1874520"/>
                <a:gridCol w="1874520"/>
                <a:gridCol w="1874520"/>
                <a:gridCol w="1874520"/>
                <a:gridCol w="1874520"/>
              </a:tblGrid>
              <a:tr h="411480">
                <a:tc>
                  <a:txBody>
                    <a:bodyPr/>
                    <a:lstStyle/>
                    <a:p>
                      <a:pPr algn="l"/>
                      <a:r>
                        <a:rPr sz="1000" b="1">
                          <a:solidFill>
                            <a:srgbClr val="FFFFFF"/>
                          </a:solidFill>
                          <a:latin typeface="Arial"/>
                        </a:rPr>
                        <a:t>Role</a:t>
                      </a:r>
                    </a:p>
                  </a:txBody>
                  <a:tcPr>
                    <a:solidFill>
                      <a:srgbClr val="000F2D"/>
                    </a:solidFill>
                  </a:tcPr>
                </a:tc>
                <a:tc>
                  <a:txBody>
                    <a:bodyPr/>
                    <a:lstStyle/>
                    <a:p>
                      <a:pPr algn="l"/>
                      <a:r>
                        <a:rPr sz="1000" b="1">
                          <a:solidFill>
                            <a:srgbClr val="FFFFFF"/>
                          </a:solidFill>
                          <a:latin typeface="Arial"/>
                        </a:rPr>
                        <a:t>Count</a:t>
                      </a:r>
                    </a:p>
                  </a:txBody>
                  <a:tcPr>
                    <a:solidFill>
                      <a:srgbClr val="000F2D"/>
                    </a:solidFill>
                  </a:tcPr>
                </a:tc>
                <a:tc>
                  <a:txBody>
                    <a:bodyPr/>
                    <a:lstStyle/>
                    <a:p>
                      <a:pPr algn="l"/>
                      <a:r>
                        <a:rPr sz="1000" b="1">
                          <a:solidFill>
                            <a:srgbClr val="FFFFFF"/>
                          </a:solidFill>
                          <a:latin typeface="Arial"/>
                        </a:rPr>
                        <a:t>Location</a:t>
                      </a:r>
                    </a:p>
                  </a:txBody>
                  <a:tcPr>
                    <a:solidFill>
                      <a:srgbClr val="000F2D"/>
                    </a:solidFill>
                  </a:tcPr>
                </a:tc>
                <a:tc>
                  <a:txBody>
                    <a:bodyPr/>
                    <a:lstStyle/>
                    <a:p>
                      <a:pPr algn="l"/>
                      <a:r>
                        <a:rPr sz="1000" b="1">
                          <a:solidFill>
                            <a:srgbClr val="FFFFFF"/>
                          </a:solidFill>
                          <a:latin typeface="Arial"/>
                        </a:rPr>
                        <a:t>Hrs/Month</a:t>
                      </a:r>
                    </a:p>
                  </a:txBody>
                  <a:tcPr>
                    <a:solidFill>
                      <a:srgbClr val="000F2D"/>
                    </a:solidFill>
                  </a:tcPr>
                </a:tc>
                <a:tc>
                  <a:txBody>
                    <a:bodyPr/>
                    <a:lstStyle/>
                    <a:p>
                      <a:pPr algn="l"/>
                      <a:r>
                        <a:rPr sz="1000" b="1">
                          <a:solidFill>
                            <a:srgbClr val="FFFFFF"/>
                          </a:solidFill>
                          <a:latin typeface="Arial"/>
                        </a:rPr>
                        <a:t>Rate/hr</a:t>
                      </a:r>
                    </a:p>
                  </a:txBody>
                  <a:tcPr>
                    <a:solidFill>
                      <a:srgbClr val="000F2D"/>
                    </a:solidFill>
                  </a:tcPr>
                </a:tc>
                <a:tc>
                  <a:txBody>
                    <a:bodyPr/>
                    <a:lstStyle/>
                    <a:p>
                      <a:pPr algn="l"/>
                      <a:r>
                        <a:rPr sz="1000" b="1">
                          <a:solidFill>
                            <a:srgbClr val="FFFFFF"/>
                          </a:solidFill>
                          <a:latin typeface="Arial"/>
                        </a:rPr>
                        <a:t>Monthly Cost</a:t>
                      </a:r>
                    </a:p>
                  </a:txBody>
                  <a:tcPr>
                    <a:solidFill>
                      <a:srgbClr val="000F2D"/>
                    </a:solidFill>
                  </a:tcPr>
                </a:tc>
              </a:tr>
              <a:tr h="411480">
                <a:tc>
                  <a:txBody>
                    <a:bodyPr/>
                    <a:lstStyle/>
                    <a:p>
                      <a:pPr algn="l"/>
                      <a:r>
                        <a:rPr sz="1000">
                          <a:solidFill>
                            <a:srgbClr val="000F2D"/>
                          </a:solidFill>
                          <a:latin typeface="Arial"/>
                        </a:rPr>
                        <a:t>Solution Architect</a:t>
                      </a:r>
                    </a:p>
                  </a:txBody>
                  <a:tcPr>
                    <a:solidFill>
                      <a:srgbClr val="FFFFFF"/>
                    </a:solidFill>
                  </a:tcPr>
                </a:tc>
                <a:tc>
                  <a:txBody>
                    <a:bodyPr/>
                    <a:lstStyle/>
                    <a:p>
                      <a:pPr algn="l"/>
                      <a:r>
                        <a:rPr sz="1000">
                          <a:solidFill>
                            <a:srgbClr val="000F2D"/>
                          </a:solidFill>
                          <a:latin typeface="Arial"/>
                        </a:rPr>
                        <a:t>2</a:t>
                      </a:r>
                    </a:p>
                  </a:txBody>
                  <a:tcPr>
                    <a:solidFill>
                      <a:srgbClr val="FFFFFF"/>
                    </a:solidFill>
                  </a:tcPr>
                </a:tc>
                <a:tc>
                  <a:txBody>
                    <a:bodyPr/>
                    <a:lstStyle/>
                    <a:p>
                      <a:pPr algn="l"/>
                      <a:r>
                        <a:rPr sz="1000">
                          <a:solidFill>
                            <a:srgbClr val="000F2D"/>
                          </a:solidFill>
                          <a:latin typeface="Arial"/>
                        </a:rPr>
                        <a:t>Onshore</a:t>
                      </a:r>
                    </a:p>
                  </a:txBody>
                  <a:tcPr>
                    <a:solidFill>
                      <a:srgbClr val="FFFFFF"/>
                    </a:solidFill>
                  </a:tcPr>
                </a:tc>
                <a:tc>
                  <a:txBody>
                    <a:bodyPr/>
                    <a:lstStyle/>
                    <a:p>
                      <a:pPr algn="l"/>
                      <a:r>
                        <a:rPr sz="1000">
                          <a:solidFill>
                            <a:srgbClr val="000F2D"/>
                          </a:solidFill>
                          <a:latin typeface="Arial"/>
                        </a:rPr>
                        <a:t>160</a:t>
                      </a:r>
                    </a:p>
                  </a:txBody>
                  <a:tcPr>
                    <a:solidFill>
                      <a:srgbClr val="FFFFFF"/>
                    </a:solidFill>
                  </a:tcPr>
                </a:tc>
                <a:tc>
                  <a:txBody>
                    <a:bodyPr/>
                    <a:lstStyle/>
                    <a:p>
                      <a:pPr algn="l"/>
                      <a:r>
                        <a:rPr sz="1000">
                          <a:solidFill>
                            <a:srgbClr val="000F2D"/>
                          </a:solidFill>
                          <a:latin typeface="Arial"/>
                        </a:rPr>
                        <a:t>$100</a:t>
                      </a:r>
                    </a:p>
                  </a:txBody>
                  <a:tcPr>
                    <a:solidFill>
                      <a:srgbClr val="FFFFFF"/>
                    </a:solidFill>
                  </a:tcPr>
                </a:tc>
                <a:tc>
                  <a:txBody>
                    <a:bodyPr/>
                    <a:lstStyle/>
                    <a:p>
                      <a:pPr algn="l"/>
                      <a:r>
                        <a:rPr sz="1000">
                          <a:solidFill>
                            <a:srgbClr val="000F2D"/>
                          </a:solidFill>
                          <a:latin typeface="Arial"/>
                        </a:rPr>
                        <a:t>$16,000</a:t>
                      </a:r>
                    </a:p>
                  </a:txBody>
                  <a:tcPr>
                    <a:solidFill>
                      <a:srgbClr val="FFFFFF"/>
                    </a:solidFill>
                  </a:tcPr>
                </a:tc>
              </a:tr>
              <a:tr h="411480">
                <a:tc>
                  <a:txBody>
                    <a:bodyPr/>
                    <a:lstStyle/>
                    <a:p>
                      <a:pPr algn="l"/>
                      <a:r>
                        <a:rPr sz="1000">
                          <a:solidFill>
                            <a:srgbClr val="000F2D"/>
                          </a:solidFill>
                          <a:latin typeface="Arial"/>
                        </a:rPr>
                        <a:t>Cloud Engineer</a:t>
                      </a:r>
                    </a:p>
                  </a:txBody>
                  <a:tcPr>
                    <a:solidFill>
                      <a:srgbClr val="F0F2F5"/>
                    </a:solidFill>
                  </a:tcPr>
                </a:tc>
                <a:tc>
                  <a:txBody>
                    <a:bodyPr/>
                    <a:lstStyle/>
                    <a:p>
                      <a:pPr algn="l"/>
                      <a:r>
                        <a:rPr sz="1000">
                          <a:solidFill>
                            <a:srgbClr val="000F2D"/>
                          </a:solidFill>
                          <a:latin typeface="Arial"/>
                        </a:rPr>
                        <a:t>4</a:t>
                      </a:r>
                    </a:p>
                  </a:txBody>
                  <a:tcPr>
                    <a:solidFill>
                      <a:srgbClr val="F0F2F5"/>
                    </a:solidFill>
                  </a:tcPr>
                </a:tc>
                <a:tc>
                  <a:txBody>
                    <a:bodyPr/>
                    <a:lstStyle/>
                    <a:p>
                      <a:pPr algn="l"/>
                      <a:r>
                        <a:rPr sz="1000">
                          <a:solidFill>
                            <a:srgbClr val="000F2D"/>
                          </a:solidFill>
                          <a:latin typeface="Arial"/>
                        </a:rPr>
                        <a:t>Offshore</a:t>
                      </a:r>
                    </a:p>
                  </a:txBody>
                  <a:tcPr>
                    <a:solidFill>
                      <a:srgbClr val="F0F2F5"/>
                    </a:solidFill>
                  </a:tcPr>
                </a:tc>
                <a:tc>
                  <a:txBody>
                    <a:bodyPr/>
                    <a:lstStyle/>
                    <a:p>
                      <a:pPr algn="l"/>
                      <a:r>
                        <a:rPr sz="1000">
                          <a:solidFill>
                            <a:srgbClr val="000F2D"/>
                          </a:solidFill>
                          <a:latin typeface="Arial"/>
                        </a:rPr>
                        <a:t>240</a:t>
                      </a:r>
                    </a:p>
                  </a:txBody>
                  <a:tcPr>
                    <a:solidFill>
                      <a:srgbClr val="F0F2F5"/>
                    </a:solidFill>
                  </a:tcPr>
                </a:tc>
                <a:tc>
                  <a:txBody>
                    <a:bodyPr/>
                    <a:lstStyle/>
                    <a:p>
                      <a:pPr algn="l"/>
                      <a:r>
                        <a:rPr sz="1000">
                          <a:solidFill>
                            <a:srgbClr val="000F2D"/>
                          </a:solidFill>
                          <a:latin typeface="Arial"/>
                        </a:rPr>
                        <a:t>$30</a:t>
                      </a:r>
                    </a:p>
                  </a:txBody>
                  <a:tcPr>
                    <a:solidFill>
                      <a:srgbClr val="F0F2F5"/>
                    </a:solidFill>
                  </a:tcPr>
                </a:tc>
                <a:tc>
                  <a:txBody>
                    <a:bodyPr/>
                    <a:lstStyle/>
                    <a:p>
                      <a:pPr algn="l"/>
                      <a:r>
                        <a:rPr sz="1000">
                          <a:solidFill>
                            <a:srgbClr val="000F2D"/>
                          </a:solidFill>
                          <a:latin typeface="Arial"/>
                        </a:rPr>
                        <a:t>$7,200</a:t>
                      </a:r>
                    </a:p>
                  </a:txBody>
                  <a:tcPr>
                    <a:solidFill>
                      <a:srgbClr val="F0F2F5"/>
                    </a:solidFill>
                  </a:tcPr>
                </a:tc>
              </a:tr>
              <a:tr h="411480">
                <a:tc>
                  <a:txBody>
                    <a:bodyPr/>
                    <a:lstStyle/>
                    <a:p>
                      <a:pPr algn="l"/>
                      <a:r>
                        <a:rPr sz="1000">
                          <a:solidFill>
                            <a:srgbClr val="000F2D"/>
                          </a:solidFill>
                          <a:latin typeface="Arial"/>
                        </a:rPr>
                        <a:t>Core Banking Specialist</a:t>
                      </a:r>
                    </a:p>
                  </a:txBody>
                  <a:tcPr>
                    <a:solidFill>
                      <a:srgbClr val="FFFFFF"/>
                    </a:solidFill>
                  </a:tcPr>
                </a:tc>
                <a:tc>
                  <a:txBody>
                    <a:bodyPr/>
                    <a:lstStyle/>
                    <a:p>
                      <a:pPr algn="l"/>
                      <a:r>
                        <a:rPr sz="1000">
                          <a:solidFill>
                            <a:srgbClr val="000F2D"/>
                          </a:solidFill>
                          <a:latin typeface="Arial"/>
                        </a:rPr>
                        <a:t>2</a:t>
                      </a:r>
                    </a:p>
                  </a:txBody>
                  <a:tcPr>
                    <a:solidFill>
                      <a:srgbClr val="FFFFFF"/>
                    </a:solidFill>
                  </a:tcPr>
                </a:tc>
                <a:tc>
                  <a:txBody>
                    <a:bodyPr/>
                    <a:lstStyle/>
                    <a:p>
                      <a:pPr algn="l"/>
                      <a:r>
                        <a:rPr sz="1000">
                          <a:solidFill>
                            <a:srgbClr val="000F2D"/>
                          </a:solidFill>
                          <a:latin typeface="Arial"/>
                        </a:rPr>
                        <a:t>Nearshore</a:t>
                      </a:r>
                    </a:p>
                  </a:txBody>
                  <a:tcPr>
                    <a:solidFill>
                      <a:srgbClr val="FFFFFF"/>
                    </a:solidFill>
                  </a:tcPr>
                </a:tc>
                <a:tc>
                  <a:txBody>
                    <a:bodyPr/>
                    <a:lstStyle/>
                    <a:p>
                      <a:pPr algn="l"/>
                      <a:r>
                        <a:rPr sz="1000">
                          <a:solidFill>
                            <a:srgbClr val="000F2D"/>
                          </a:solidFill>
                          <a:latin typeface="Arial"/>
                        </a:rPr>
                        <a:t>160</a:t>
                      </a:r>
                    </a:p>
                  </a:txBody>
                  <a:tcPr>
                    <a:solidFill>
                      <a:srgbClr val="FFFFFF"/>
                    </a:solidFill>
                  </a:tcPr>
                </a:tc>
                <a:tc>
                  <a:txBody>
                    <a:bodyPr/>
                    <a:lstStyle/>
                    <a:p>
                      <a:pPr algn="l"/>
                      <a:r>
                        <a:rPr sz="1000">
                          <a:solidFill>
                            <a:srgbClr val="000F2D"/>
                          </a:solidFill>
                          <a:latin typeface="Arial"/>
                        </a:rPr>
                        <a:t>$55</a:t>
                      </a:r>
                    </a:p>
                  </a:txBody>
                  <a:tcPr>
                    <a:solidFill>
                      <a:srgbClr val="FFFFFF"/>
                    </a:solidFill>
                  </a:tcPr>
                </a:tc>
                <a:tc>
                  <a:txBody>
                    <a:bodyPr/>
                    <a:lstStyle/>
                    <a:p>
                      <a:pPr algn="l"/>
                      <a:r>
                        <a:rPr sz="1000">
                          <a:solidFill>
                            <a:srgbClr val="000F2D"/>
                          </a:solidFill>
                          <a:latin typeface="Arial"/>
                        </a:rPr>
                        <a:t>$8,800</a:t>
                      </a:r>
                    </a:p>
                  </a:txBody>
                  <a:tcPr>
                    <a:solidFill>
                      <a:srgbClr val="FFFFFF"/>
                    </a:solidFill>
                  </a:tcPr>
                </a:tc>
              </a:tr>
              <a:tr h="411480">
                <a:tc>
                  <a:txBody>
                    <a:bodyPr/>
                    <a:lstStyle/>
                    <a:p>
                      <a:pPr algn="l"/>
                      <a:r>
                        <a:rPr sz="1000">
                          <a:solidFill>
                            <a:srgbClr val="000F2D"/>
                          </a:solidFill>
                          <a:latin typeface="Arial"/>
                        </a:rPr>
                        <a:t>Integration Specialist</a:t>
                      </a:r>
                    </a:p>
                  </a:txBody>
                  <a:tcPr>
                    <a:solidFill>
                      <a:srgbClr val="F0F2F5"/>
                    </a:solidFill>
                  </a:tcPr>
                </a:tc>
                <a:tc>
                  <a:txBody>
                    <a:bodyPr/>
                    <a:lstStyle/>
                    <a:p>
                      <a:pPr algn="l"/>
                      <a:r>
                        <a:rPr sz="1000">
                          <a:solidFill>
                            <a:srgbClr val="000F2D"/>
                          </a:solidFill>
                          <a:latin typeface="Arial"/>
                        </a:rPr>
                        <a:t>2</a:t>
                      </a:r>
                    </a:p>
                  </a:txBody>
                  <a:tcPr>
                    <a:solidFill>
                      <a:srgbClr val="F0F2F5"/>
                    </a:solidFill>
                  </a:tcPr>
                </a:tc>
                <a:tc>
                  <a:txBody>
                    <a:bodyPr/>
                    <a:lstStyle/>
                    <a:p>
                      <a:pPr algn="l"/>
                      <a:r>
                        <a:rPr sz="1000">
                          <a:solidFill>
                            <a:srgbClr val="000F2D"/>
                          </a:solidFill>
                          <a:latin typeface="Arial"/>
                        </a:rPr>
                        <a:t>Offshore</a:t>
                      </a:r>
                    </a:p>
                  </a:txBody>
                  <a:tcPr>
                    <a:solidFill>
                      <a:srgbClr val="F0F2F5"/>
                    </a:solidFill>
                  </a:tcPr>
                </a:tc>
                <a:tc>
                  <a:txBody>
                    <a:bodyPr/>
                    <a:lstStyle/>
                    <a:p>
                      <a:pPr algn="l"/>
                      <a:r>
                        <a:rPr sz="1000">
                          <a:solidFill>
                            <a:srgbClr val="000F2D"/>
                          </a:solidFill>
                          <a:latin typeface="Arial"/>
                        </a:rPr>
                        <a:t>160</a:t>
                      </a:r>
                    </a:p>
                  </a:txBody>
                  <a:tcPr>
                    <a:solidFill>
                      <a:srgbClr val="F0F2F5"/>
                    </a:solidFill>
                  </a:tcPr>
                </a:tc>
                <a:tc>
                  <a:txBody>
                    <a:bodyPr/>
                    <a:lstStyle/>
                    <a:p>
                      <a:pPr algn="l"/>
                      <a:r>
                        <a:rPr sz="1000">
                          <a:solidFill>
                            <a:srgbClr val="000F2D"/>
                          </a:solidFill>
                          <a:latin typeface="Arial"/>
                        </a:rPr>
                        <a:t>$28</a:t>
                      </a:r>
                    </a:p>
                  </a:txBody>
                  <a:tcPr>
                    <a:solidFill>
                      <a:srgbClr val="F0F2F5"/>
                    </a:solidFill>
                  </a:tcPr>
                </a:tc>
                <a:tc>
                  <a:txBody>
                    <a:bodyPr/>
                    <a:lstStyle/>
                    <a:p>
                      <a:pPr algn="l"/>
                      <a:r>
                        <a:rPr sz="1000">
                          <a:solidFill>
                            <a:srgbClr val="000F2D"/>
                          </a:solidFill>
                          <a:latin typeface="Arial"/>
                        </a:rPr>
                        <a:t>$4,480</a:t>
                      </a:r>
                    </a:p>
                  </a:txBody>
                  <a:tcPr>
                    <a:solidFill>
                      <a:srgbClr val="F0F2F5"/>
                    </a:solidFill>
                  </a:tcPr>
                </a:tc>
              </a:tr>
              <a:tr h="411480">
                <a:tc>
                  <a:txBody>
                    <a:bodyPr/>
                    <a:lstStyle/>
                    <a:p>
                      <a:pPr algn="l"/>
                      <a:r>
                        <a:rPr sz="1000">
                          <a:solidFill>
                            <a:srgbClr val="000F2D"/>
                          </a:solidFill>
                          <a:latin typeface="Arial"/>
                        </a:rPr>
                        <a:t>Data Engineer</a:t>
                      </a:r>
                    </a:p>
                  </a:txBody>
                  <a:tcPr>
                    <a:solidFill>
                      <a:srgbClr val="FFFFFF"/>
                    </a:solidFill>
                  </a:tcPr>
                </a:tc>
                <a:tc>
                  <a:txBody>
                    <a:bodyPr/>
                    <a:lstStyle/>
                    <a:p>
                      <a:pPr algn="l"/>
                      <a:r>
                        <a:rPr sz="1000">
                          <a:solidFill>
                            <a:srgbClr val="000F2D"/>
                          </a:solidFill>
                          <a:latin typeface="Arial"/>
                        </a:rPr>
                        <a:t>1</a:t>
                      </a:r>
                    </a:p>
                  </a:txBody>
                  <a:tcPr>
                    <a:solidFill>
                      <a:srgbClr val="FFFFFF"/>
                    </a:solidFill>
                  </a:tcPr>
                </a:tc>
                <a:tc>
                  <a:txBody>
                    <a:bodyPr/>
                    <a:lstStyle/>
                    <a:p>
                      <a:pPr algn="l"/>
                      <a:r>
                        <a:rPr sz="1000">
                          <a:solidFill>
                            <a:srgbClr val="000F2D"/>
                          </a:solidFill>
                          <a:latin typeface="Arial"/>
                        </a:rPr>
                        <a:t>Onshore</a:t>
                      </a:r>
                    </a:p>
                  </a:txBody>
                  <a:tcPr>
                    <a:solidFill>
                      <a:srgbClr val="FFFFFF"/>
                    </a:solidFill>
                  </a:tcPr>
                </a:tc>
                <a:tc>
                  <a:txBody>
                    <a:bodyPr/>
                    <a:lstStyle/>
                    <a:p>
                      <a:pPr algn="l"/>
                      <a:r>
                        <a:rPr sz="1000">
                          <a:solidFill>
                            <a:srgbClr val="000F2D"/>
                          </a:solidFill>
                          <a:latin typeface="Arial"/>
                        </a:rPr>
                        <a:t>80</a:t>
                      </a:r>
                    </a:p>
                  </a:txBody>
                  <a:tcPr>
                    <a:solidFill>
                      <a:srgbClr val="FFFFFF"/>
                    </a:solidFill>
                  </a:tcPr>
                </a:tc>
                <a:tc>
                  <a:txBody>
                    <a:bodyPr/>
                    <a:lstStyle/>
                    <a:p>
                      <a:pPr algn="l"/>
                      <a:r>
                        <a:rPr sz="1000">
                          <a:solidFill>
                            <a:srgbClr val="000F2D"/>
                          </a:solidFill>
                          <a:latin typeface="Arial"/>
                        </a:rPr>
                        <a:t>$90</a:t>
                      </a:r>
                    </a:p>
                  </a:txBody>
                  <a:tcPr>
                    <a:solidFill>
                      <a:srgbClr val="FFFFFF"/>
                    </a:solidFill>
                  </a:tcPr>
                </a:tc>
                <a:tc>
                  <a:txBody>
                    <a:bodyPr/>
                    <a:lstStyle/>
                    <a:p>
                      <a:pPr algn="l"/>
                      <a:r>
                        <a:rPr sz="1000">
                          <a:solidFill>
                            <a:srgbClr val="000F2D"/>
                          </a:solidFill>
                          <a:latin typeface="Arial"/>
                        </a:rPr>
                        <a:t>$7,200</a:t>
                      </a:r>
                    </a:p>
                  </a:txBody>
                  <a:tcPr>
                    <a:solidFill>
                      <a:srgbClr val="FFFFFF"/>
                    </a:solidFill>
                  </a:tcPr>
                </a:tc>
              </a:tr>
              <a:tr h="411480">
                <a:tc>
                  <a:txBody>
                    <a:bodyPr/>
                    <a:lstStyle/>
                    <a:p>
                      <a:pPr algn="l"/>
                      <a:r>
                        <a:rPr sz="1000">
                          <a:solidFill>
                            <a:srgbClr val="000F2D"/>
                          </a:solidFill>
                          <a:latin typeface="Arial"/>
                        </a:rPr>
                        <a:t>Analytics Specialist</a:t>
                      </a:r>
                    </a:p>
                  </a:txBody>
                  <a:tcPr>
                    <a:solidFill>
                      <a:srgbClr val="F0F2F5"/>
                    </a:solidFill>
                  </a:tcPr>
                </a:tc>
                <a:tc>
                  <a:txBody>
                    <a:bodyPr/>
                    <a:lstStyle/>
                    <a:p>
                      <a:pPr algn="l"/>
                      <a:r>
                        <a:rPr sz="1000">
                          <a:solidFill>
                            <a:srgbClr val="000F2D"/>
                          </a:solidFill>
                          <a:latin typeface="Arial"/>
                        </a:rPr>
                        <a:t>1</a:t>
                      </a:r>
                    </a:p>
                  </a:txBody>
                  <a:tcPr>
                    <a:solidFill>
                      <a:srgbClr val="F0F2F5"/>
                    </a:solidFill>
                  </a:tcPr>
                </a:tc>
                <a:tc>
                  <a:txBody>
                    <a:bodyPr/>
                    <a:lstStyle/>
                    <a:p>
                      <a:pPr algn="l"/>
                      <a:r>
                        <a:rPr sz="1000">
                          <a:solidFill>
                            <a:srgbClr val="000F2D"/>
                          </a:solidFill>
                          <a:latin typeface="Arial"/>
                        </a:rPr>
                        <a:t>Offshore</a:t>
                      </a:r>
                    </a:p>
                  </a:txBody>
                  <a:tcPr>
                    <a:solidFill>
                      <a:srgbClr val="F0F2F5"/>
                    </a:solidFill>
                  </a:tcPr>
                </a:tc>
                <a:tc>
                  <a:txBody>
                    <a:bodyPr/>
                    <a:lstStyle/>
                    <a:p>
                      <a:pPr algn="l"/>
                      <a:r>
                        <a:rPr sz="1000">
                          <a:solidFill>
                            <a:srgbClr val="000F2D"/>
                          </a:solidFill>
                          <a:latin typeface="Arial"/>
                        </a:rPr>
                        <a:t>80</a:t>
                      </a:r>
                    </a:p>
                  </a:txBody>
                  <a:tcPr>
                    <a:solidFill>
                      <a:srgbClr val="F0F2F5"/>
                    </a:solidFill>
                  </a:tcPr>
                </a:tc>
                <a:tc>
                  <a:txBody>
                    <a:bodyPr/>
                    <a:lstStyle/>
                    <a:p>
                      <a:pPr algn="l"/>
                      <a:r>
                        <a:rPr sz="1000">
                          <a:solidFill>
                            <a:srgbClr val="000F2D"/>
                          </a:solidFill>
                          <a:latin typeface="Arial"/>
                        </a:rPr>
                        <a:t>$32</a:t>
                      </a:r>
                    </a:p>
                  </a:txBody>
                  <a:tcPr>
                    <a:solidFill>
                      <a:srgbClr val="F0F2F5"/>
                    </a:solidFill>
                  </a:tcPr>
                </a:tc>
                <a:tc>
                  <a:txBody>
                    <a:bodyPr/>
                    <a:lstStyle/>
                    <a:p>
                      <a:pPr algn="l"/>
                      <a:r>
                        <a:rPr sz="1000">
                          <a:solidFill>
                            <a:srgbClr val="000F2D"/>
                          </a:solidFill>
                          <a:latin typeface="Arial"/>
                        </a:rPr>
                        <a:t>$2,560</a:t>
                      </a:r>
                    </a:p>
                  </a:txBody>
                  <a:tcPr>
                    <a:solidFill>
                      <a:srgbClr val="F0F2F5"/>
                    </a:solidFill>
                  </a:tcPr>
                </a:tc>
              </a:tr>
              <a:tr h="411480">
                <a:tc>
                  <a:txBody>
                    <a:bodyPr/>
                    <a:lstStyle/>
                    <a:p>
                      <a:pPr algn="l"/>
                      <a:r>
                        <a:rPr sz="1000">
                          <a:solidFill>
                            <a:srgbClr val="000F2D"/>
                          </a:solidFill>
                          <a:latin typeface="Arial"/>
                        </a:rPr>
                        <a:t>Security Specialist</a:t>
                      </a:r>
                    </a:p>
                  </a:txBody>
                  <a:tcPr>
                    <a:solidFill>
                      <a:srgbClr val="FFFFFF"/>
                    </a:solidFill>
                  </a:tcPr>
                </a:tc>
                <a:tc>
                  <a:txBody>
                    <a:bodyPr/>
                    <a:lstStyle/>
                    <a:p>
                      <a:pPr algn="l"/>
                      <a:r>
                        <a:rPr sz="1000">
                          <a:solidFill>
                            <a:srgbClr val="000F2D"/>
                          </a:solidFill>
                          <a:latin typeface="Arial"/>
                        </a:rPr>
                        <a:t>1</a:t>
                      </a:r>
                    </a:p>
                  </a:txBody>
                  <a:tcPr>
                    <a:solidFill>
                      <a:srgbClr val="FFFFFF"/>
                    </a:solidFill>
                  </a:tcPr>
                </a:tc>
                <a:tc>
                  <a:txBody>
                    <a:bodyPr/>
                    <a:lstStyle/>
                    <a:p>
                      <a:pPr algn="l"/>
                      <a:r>
                        <a:rPr sz="1000">
                          <a:solidFill>
                            <a:srgbClr val="000F2D"/>
                          </a:solidFill>
                          <a:latin typeface="Arial"/>
                        </a:rPr>
                        <a:t>Nearshore</a:t>
                      </a:r>
                    </a:p>
                  </a:txBody>
                  <a:tcPr>
                    <a:solidFill>
                      <a:srgbClr val="FFFFFF"/>
                    </a:solidFill>
                  </a:tcPr>
                </a:tc>
                <a:tc>
                  <a:txBody>
                    <a:bodyPr/>
                    <a:lstStyle/>
                    <a:p>
                      <a:pPr algn="l"/>
                      <a:r>
                        <a:rPr sz="1000">
                          <a:solidFill>
                            <a:srgbClr val="000F2D"/>
                          </a:solidFill>
                          <a:latin typeface="Arial"/>
                        </a:rPr>
                        <a:t>80</a:t>
                      </a:r>
                    </a:p>
                  </a:txBody>
                  <a:tcPr>
                    <a:solidFill>
                      <a:srgbClr val="FFFFFF"/>
                    </a:solidFill>
                  </a:tcPr>
                </a:tc>
                <a:tc>
                  <a:txBody>
                    <a:bodyPr/>
                    <a:lstStyle/>
                    <a:p>
                      <a:pPr algn="l"/>
                      <a:r>
                        <a:rPr sz="1000">
                          <a:solidFill>
                            <a:srgbClr val="000F2D"/>
                          </a:solidFill>
                          <a:latin typeface="Arial"/>
                        </a:rPr>
                        <a:t>$60</a:t>
                      </a:r>
                    </a:p>
                  </a:txBody>
                  <a:tcPr>
                    <a:solidFill>
                      <a:srgbClr val="FFFFFF"/>
                    </a:solidFill>
                  </a:tcPr>
                </a:tc>
                <a:tc>
                  <a:txBody>
                    <a:bodyPr/>
                    <a:lstStyle/>
                    <a:p>
                      <a:pPr algn="l"/>
                      <a:r>
                        <a:rPr sz="1000">
                          <a:solidFill>
                            <a:srgbClr val="000F2D"/>
                          </a:solidFill>
                          <a:latin typeface="Arial"/>
                        </a:rPr>
                        <a:t>$4,800</a:t>
                      </a:r>
                    </a:p>
                  </a:txBody>
                  <a:tcPr>
                    <a:solidFill>
                      <a:srgbClr val="FFFFFF"/>
                    </a:solidFill>
                  </a:tcPr>
                </a:tc>
              </a:tr>
              <a:tr h="411480">
                <a:tc>
                  <a:txBody>
                    <a:bodyPr/>
                    <a:lstStyle/>
                    <a:p>
                      <a:pPr algn="l"/>
                      <a:r>
                        <a:rPr sz="1000">
                          <a:solidFill>
                            <a:srgbClr val="000F2D"/>
                          </a:solidFill>
                          <a:latin typeface="Arial"/>
                        </a:rPr>
                        <a:t>Project Manager</a:t>
                      </a:r>
                    </a:p>
                  </a:txBody>
                  <a:tcPr>
                    <a:solidFill>
                      <a:srgbClr val="F0F2F5"/>
                    </a:solidFill>
                  </a:tcPr>
                </a:tc>
                <a:tc>
                  <a:txBody>
                    <a:bodyPr/>
                    <a:lstStyle/>
                    <a:p>
                      <a:pPr algn="l"/>
                      <a:r>
                        <a:rPr sz="1000">
                          <a:solidFill>
                            <a:srgbClr val="000F2D"/>
                          </a:solidFill>
                          <a:latin typeface="Arial"/>
                        </a:rPr>
                        <a:t>1</a:t>
                      </a:r>
                    </a:p>
                  </a:txBody>
                  <a:tcPr>
                    <a:solidFill>
                      <a:srgbClr val="F0F2F5"/>
                    </a:solidFill>
                  </a:tcPr>
                </a:tc>
                <a:tc>
                  <a:txBody>
                    <a:bodyPr/>
                    <a:lstStyle/>
                    <a:p>
                      <a:pPr algn="l"/>
                      <a:r>
                        <a:rPr sz="1000">
                          <a:solidFill>
                            <a:srgbClr val="000F2D"/>
                          </a:solidFill>
                          <a:latin typeface="Arial"/>
                        </a:rPr>
                        <a:t>Onshore</a:t>
                      </a:r>
                    </a:p>
                  </a:txBody>
                  <a:tcPr>
                    <a:solidFill>
                      <a:srgbClr val="F0F2F5"/>
                    </a:solidFill>
                  </a:tcPr>
                </a:tc>
                <a:tc>
                  <a:txBody>
                    <a:bodyPr/>
                    <a:lstStyle/>
                    <a:p>
                      <a:pPr algn="l"/>
                      <a:r>
                        <a:rPr sz="1000">
                          <a:solidFill>
                            <a:srgbClr val="000F2D"/>
                          </a:solidFill>
                          <a:latin typeface="Arial"/>
                        </a:rPr>
                        <a:t>160</a:t>
                      </a:r>
                    </a:p>
                  </a:txBody>
                  <a:tcPr>
                    <a:solidFill>
                      <a:srgbClr val="F0F2F5"/>
                    </a:solidFill>
                  </a:tcPr>
                </a:tc>
                <a:tc>
                  <a:txBody>
                    <a:bodyPr/>
                    <a:lstStyle/>
                    <a:p>
                      <a:pPr algn="l"/>
                      <a:r>
                        <a:rPr sz="1000">
                          <a:solidFill>
                            <a:srgbClr val="000F2D"/>
                          </a:solidFill>
                          <a:latin typeface="Arial"/>
                        </a:rPr>
                        <a:t>$120</a:t>
                      </a:r>
                    </a:p>
                  </a:txBody>
                  <a:tcPr>
                    <a:solidFill>
                      <a:srgbClr val="F0F2F5"/>
                    </a:solidFill>
                  </a:tcPr>
                </a:tc>
                <a:tc>
                  <a:txBody>
                    <a:bodyPr/>
                    <a:lstStyle/>
                    <a:p>
                      <a:pPr algn="l"/>
                      <a:r>
                        <a:rPr sz="1000">
                          <a:solidFill>
                            <a:srgbClr val="000F2D"/>
                          </a:solidFill>
                          <a:latin typeface="Arial"/>
                        </a:rPr>
                        <a:t>$19,200</a:t>
                      </a:r>
                    </a:p>
                  </a:txBody>
                  <a:tcPr>
                    <a:solidFill>
                      <a:srgbClr val="F0F2F5"/>
                    </a:solidFill>
                  </a:tcPr>
                </a:tc>
              </a:tr>
              <a:tr h="411480">
                <a:tc>
                  <a:txBody>
                    <a:bodyPr/>
                    <a:lstStyle/>
                    <a:p>
                      <a:pPr algn="l"/>
                      <a:r>
                        <a:rPr sz="1000">
                          <a:solidFill>
                            <a:srgbClr val="000F2D"/>
                          </a:solidFill>
                          <a:latin typeface="Arial"/>
                        </a:rPr>
                        <a:t>QA Engineer</a:t>
                      </a:r>
                    </a:p>
                  </a:txBody>
                  <a:tcPr>
                    <a:solidFill>
                      <a:srgbClr val="FFFFFF"/>
                    </a:solidFill>
                  </a:tcPr>
                </a:tc>
                <a:tc>
                  <a:txBody>
                    <a:bodyPr/>
                    <a:lstStyle/>
                    <a:p>
                      <a:pPr algn="l"/>
                      <a:r>
                        <a:rPr sz="1000">
                          <a:solidFill>
                            <a:srgbClr val="000F2D"/>
                          </a:solidFill>
                          <a:latin typeface="Arial"/>
                        </a:rPr>
                        <a:t>2</a:t>
                      </a:r>
                    </a:p>
                  </a:txBody>
                  <a:tcPr>
                    <a:solidFill>
                      <a:srgbClr val="FFFFFF"/>
                    </a:solidFill>
                  </a:tcPr>
                </a:tc>
                <a:tc>
                  <a:txBody>
                    <a:bodyPr/>
                    <a:lstStyle/>
                    <a:p>
                      <a:pPr algn="l"/>
                      <a:r>
                        <a:rPr sz="1000">
                          <a:solidFill>
                            <a:srgbClr val="000F2D"/>
                          </a:solidFill>
                          <a:latin typeface="Arial"/>
                        </a:rPr>
                        <a:t>Offshore</a:t>
                      </a:r>
                    </a:p>
                  </a:txBody>
                  <a:tcPr>
                    <a:solidFill>
                      <a:srgbClr val="FFFFFF"/>
                    </a:solidFill>
                  </a:tcPr>
                </a:tc>
                <a:tc>
                  <a:txBody>
                    <a:bodyPr/>
                    <a:lstStyle/>
                    <a:p>
                      <a:pPr algn="l"/>
                      <a:r>
                        <a:rPr sz="1000">
                          <a:solidFill>
                            <a:srgbClr val="000F2D"/>
                          </a:solidFill>
                          <a:latin typeface="Arial"/>
                        </a:rPr>
                        <a:t>160</a:t>
                      </a:r>
                    </a:p>
                  </a:txBody>
                  <a:tcPr>
                    <a:solidFill>
                      <a:srgbClr val="FFFFFF"/>
                    </a:solidFill>
                  </a:tcPr>
                </a:tc>
                <a:tc>
                  <a:txBody>
                    <a:bodyPr/>
                    <a:lstStyle/>
                    <a:p>
                      <a:pPr algn="l"/>
                      <a:r>
                        <a:rPr sz="1000">
                          <a:solidFill>
                            <a:srgbClr val="000F2D"/>
                          </a:solidFill>
                          <a:latin typeface="Arial"/>
                        </a:rPr>
                        <a:t>$25</a:t>
                      </a:r>
                    </a:p>
                  </a:txBody>
                  <a:tcPr>
                    <a:solidFill>
                      <a:srgbClr val="FFFFFF"/>
                    </a:solidFill>
                  </a:tcPr>
                </a:tc>
                <a:tc>
                  <a:txBody>
                    <a:bodyPr/>
                    <a:lstStyle/>
                    <a:p>
                      <a:pPr algn="l"/>
                      <a:r>
                        <a:rPr sz="1000">
                          <a:solidFill>
                            <a:srgbClr val="000F2D"/>
                          </a:solidFill>
                          <a:latin typeface="Arial"/>
                        </a:rPr>
                        <a:t>$4,000</a:t>
                      </a:r>
                    </a:p>
                  </a:txBody>
                  <a:tcPr>
                    <a:solidFill>
                      <a:srgbClr val="FFFFFF"/>
                    </a:solidFill>
                  </a:tcPr>
                </a:tc>
              </a:tr>
              <a:tr h="411480">
                <a:tc>
                  <a:txBody>
                    <a:bodyPr/>
                    <a:lstStyle/>
                    <a:p>
                      <a:pPr algn="l"/>
                      <a:r>
                        <a:rPr sz="1000">
                          <a:solidFill>
                            <a:srgbClr val="000F2D"/>
                          </a:solidFill>
                          <a:latin typeface="Arial"/>
                        </a:rPr>
                        <a:t>DevOps Engineer</a:t>
                      </a:r>
                    </a:p>
                  </a:txBody>
                  <a:tcPr>
                    <a:solidFill>
                      <a:srgbClr val="F0F2F5"/>
                    </a:solidFill>
                  </a:tcPr>
                </a:tc>
                <a:tc>
                  <a:txBody>
                    <a:bodyPr/>
                    <a:lstStyle/>
                    <a:p>
                      <a:pPr algn="l"/>
                      <a:r>
                        <a:rPr sz="1000">
                          <a:solidFill>
                            <a:srgbClr val="000F2D"/>
                          </a:solidFill>
                          <a:latin typeface="Arial"/>
                        </a:rPr>
                        <a:t>1</a:t>
                      </a:r>
                    </a:p>
                  </a:txBody>
                  <a:tcPr>
                    <a:solidFill>
                      <a:srgbClr val="F0F2F5"/>
                    </a:solidFill>
                  </a:tcPr>
                </a:tc>
                <a:tc>
                  <a:txBody>
                    <a:bodyPr/>
                    <a:lstStyle/>
                    <a:p>
                      <a:pPr algn="l"/>
                      <a:r>
                        <a:rPr sz="1000">
                          <a:solidFill>
                            <a:srgbClr val="000F2D"/>
                          </a:solidFill>
                          <a:latin typeface="Arial"/>
                        </a:rPr>
                        <a:t>Nearshore</a:t>
                      </a:r>
                    </a:p>
                  </a:txBody>
                  <a:tcPr>
                    <a:solidFill>
                      <a:srgbClr val="F0F2F5"/>
                    </a:solidFill>
                  </a:tcPr>
                </a:tc>
                <a:tc>
                  <a:txBody>
                    <a:bodyPr/>
                    <a:lstStyle/>
                    <a:p>
                      <a:pPr algn="l"/>
                      <a:r>
                        <a:rPr sz="1000">
                          <a:solidFill>
                            <a:srgbClr val="000F2D"/>
                          </a:solidFill>
                          <a:latin typeface="Arial"/>
                        </a:rPr>
                        <a:t>80</a:t>
                      </a:r>
                    </a:p>
                  </a:txBody>
                  <a:tcPr>
                    <a:solidFill>
                      <a:srgbClr val="F0F2F5"/>
                    </a:solidFill>
                  </a:tcPr>
                </a:tc>
                <a:tc>
                  <a:txBody>
                    <a:bodyPr/>
                    <a:lstStyle/>
                    <a:p>
                      <a:pPr algn="l"/>
                      <a:r>
                        <a:rPr sz="1000">
                          <a:solidFill>
                            <a:srgbClr val="000F2D"/>
                          </a:solidFill>
                          <a:latin typeface="Arial"/>
                        </a:rPr>
                        <a:t>$40</a:t>
                      </a:r>
                    </a:p>
                  </a:txBody>
                  <a:tcPr>
                    <a:solidFill>
                      <a:srgbClr val="F0F2F5"/>
                    </a:solidFill>
                  </a:tcPr>
                </a:tc>
                <a:tc>
                  <a:txBody>
                    <a:bodyPr/>
                    <a:lstStyle/>
                    <a:p>
                      <a:pPr algn="l"/>
                      <a:r>
                        <a:rPr sz="1000">
                          <a:solidFill>
                            <a:srgbClr val="000F2D"/>
                          </a:solidFill>
                          <a:latin typeface="Arial"/>
                        </a:rPr>
                        <a:t>$3,200</a:t>
                      </a:r>
                    </a:p>
                  </a:txBody>
                  <a:tcPr>
                    <a:solidFill>
                      <a:srgbClr val="F0F2F5"/>
                    </a:solidFill>
                  </a:tcPr>
                </a:tc>
              </a:tr>
            </a:tbl>
          </a:graphicData>
        </a:graphic>
      </p:graphicFrame>
      <p:sp>
        <p:nvSpPr>
          <p:cNvPr id="7" name="TextBox 6"/>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8" name="TextBox 7"/>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18</a:t>
            </a:r>
          </a:p>
        </p:txBody>
      </p:sp>
      <p:sp>
        <p:nvSpPr>
          <p:cNvPr id="9" name="Rectangle 8"/>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7. COMMERCIAL SUMMARY</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Our commercial model will comprise the following components:</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Total Monthly Cost: $82,120</a:t>
            </a:r>
          </a:p>
        </p:txBody>
      </p:sp>
      <p:sp>
        <p:nvSpPr>
          <p:cNvPr id="9" name="Rectangle 8"/>
          <p:cNvSpPr/>
          <p:nvPr/>
        </p:nvSpPr>
        <p:spPr>
          <a:xfrm>
            <a:off x="731520" y="321868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108960"/>
            <a:ext cx="10058400" cy="640080"/>
          </a:xfrm>
          <a:prstGeom prst="rect">
            <a:avLst/>
          </a:prstGeom>
          <a:noFill/>
        </p:spPr>
        <p:txBody>
          <a:bodyPr wrap="square" anchor="t">
            <a:spAutoFit/>
          </a:bodyPr>
          <a:lstStyle/>
          <a:p>
            <a:pPr algn="l"/>
            <a:r>
              <a:rPr sz="1600" b="0" i="0">
                <a:solidFill>
                  <a:srgbClr val="000F2D"/>
                </a:solidFill>
                <a:latin typeface="Arial"/>
              </a:rPr>
              <a:t>Total Contract Value: $2,400,000 (24 months)</a:t>
            </a:r>
          </a:p>
        </p:txBody>
      </p:sp>
      <p:sp>
        <p:nvSpPr>
          <p:cNvPr id="11" name="TextBox 10"/>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2" name="TextBox 11"/>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19</a:t>
            </a:r>
          </a:p>
        </p:txBody>
      </p:sp>
      <p:sp>
        <p:nvSpPr>
          <p:cNvPr id="13" name="Rectangle 12"/>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09</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8. WHY TECH MAHINDRA?</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8. WHY TECH MAHINDRA?</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Tech Mahindra is a leading global technology company that provides innovative and business-driven solutions to its clients. Our company has a strong track record of delivering successful projects and has a deep understanding of the financial services</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Our company has the following differentiators:</a:t>
            </a:r>
          </a:p>
        </p:txBody>
      </p:sp>
      <p:sp>
        <p:nvSpPr>
          <p:cNvPr id="9" name="Rectangle 8"/>
          <p:cNvSpPr/>
          <p:nvPr/>
        </p:nvSpPr>
        <p:spPr>
          <a:xfrm>
            <a:off x="731520" y="321868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108960"/>
            <a:ext cx="10058400" cy="640080"/>
          </a:xfrm>
          <a:prstGeom prst="rect">
            <a:avLst/>
          </a:prstGeom>
          <a:noFill/>
        </p:spPr>
        <p:txBody>
          <a:bodyPr wrap="square" anchor="t">
            <a:spAutoFit/>
          </a:bodyPr>
          <a:lstStyle/>
          <a:p>
            <a:pPr algn="l"/>
            <a:r>
              <a:rPr sz="1600" b="0" i="0">
                <a:solidFill>
                  <a:srgbClr val="000F2D"/>
                </a:solidFill>
                <a:latin typeface="Arial"/>
              </a:rPr>
              <a:t>Expertise in Cloud-Native Core Banking Platforms: Tech Mahindra has a strong track record of delivering cloud-native core banking platforms to its clients, ensuring high scalability, uptime, and regulatory compliance.</a:t>
            </a:r>
          </a:p>
        </p:txBody>
      </p:sp>
      <p:sp>
        <p:nvSpPr>
          <p:cNvPr id="11" name="Rectangle 10"/>
          <p:cNvSpPr/>
          <p:nvPr/>
        </p:nvSpPr>
        <p:spPr>
          <a:xfrm>
            <a:off x="731520" y="395020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840480"/>
            <a:ext cx="10058400" cy="640080"/>
          </a:xfrm>
          <a:prstGeom prst="rect">
            <a:avLst/>
          </a:prstGeom>
          <a:noFill/>
        </p:spPr>
        <p:txBody>
          <a:bodyPr wrap="square" anchor="t">
            <a:spAutoFit/>
          </a:bodyPr>
          <a:lstStyle/>
          <a:p>
            <a:pPr algn="l"/>
            <a:r>
              <a:rPr sz="1600" b="0" i="0">
                <a:solidFill>
                  <a:srgbClr val="000F2D"/>
                </a:solidFill>
                <a:latin typeface="Arial"/>
              </a:rPr>
              <a:t>Regulatory Compliance: Our company has a deep understanding of regulatory requirements and ensures that our solutions meet the highest standards of compliance.</a:t>
            </a:r>
          </a:p>
        </p:txBody>
      </p:sp>
      <p:sp>
        <p:nvSpPr>
          <p:cNvPr id="13" name="Rectangle 12"/>
          <p:cNvSpPr/>
          <p:nvPr/>
        </p:nvSpPr>
        <p:spPr>
          <a:xfrm>
            <a:off x="731520" y="468172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572000"/>
            <a:ext cx="10058400" cy="640080"/>
          </a:xfrm>
          <a:prstGeom prst="rect">
            <a:avLst/>
          </a:prstGeom>
          <a:noFill/>
        </p:spPr>
        <p:txBody>
          <a:bodyPr wrap="square" anchor="t">
            <a:spAutoFit/>
          </a:bodyPr>
          <a:lstStyle/>
          <a:p>
            <a:pPr algn="l"/>
            <a:r>
              <a:rPr sz="1600" b="0" i="0">
                <a:solidFill>
                  <a:srgbClr val="000F2D"/>
                </a:solidFill>
                <a:latin typeface="Arial"/>
              </a:rPr>
              <a:t>Digital Transformation: Tech Mahindra has a strong track record of delivering digital transformation projects to its clients, enabling them to provide a seamless customer experience across multiple channels.</a:t>
            </a:r>
          </a:p>
        </p:txBody>
      </p:sp>
      <p:sp>
        <p:nvSpPr>
          <p:cNvPr id="15" name="TextBox 14"/>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6" name="TextBox 15"/>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21</a:t>
            </a:r>
          </a:p>
        </p:txBody>
      </p:sp>
      <p:sp>
        <p:nvSpPr>
          <p:cNvPr id="17" name="Rectangle 16"/>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514600"/>
            <a:ext cx="12188952" cy="18288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97480"/>
            <a:ext cx="10058400" cy="457200"/>
          </a:xfrm>
          <a:prstGeom prst="rect">
            <a:avLst/>
          </a:prstGeom>
          <a:noFill/>
        </p:spPr>
        <p:txBody>
          <a:bodyPr wrap="square" anchor="t">
            <a:spAutoFit/>
          </a:bodyPr>
          <a:lstStyle/>
          <a:p>
            <a:pPr algn="l"/>
            <a:r>
              <a:rPr sz="1800" b="1" i="0">
                <a:solidFill>
                  <a:srgbClr val="FFFFFF"/>
                </a:solidFill>
                <a:latin typeface="Arial"/>
              </a:rPr>
              <a:t>SECTION 10</a:t>
            </a:r>
          </a:p>
        </p:txBody>
      </p:sp>
      <p:sp>
        <p:nvSpPr>
          <p:cNvPr id="4" name="TextBox 3"/>
          <p:cNvSpPr txBox="1"/>
          <p:nvPr/>
        </p:nvSpPr>
        <p:spPr>
          <a:xfrm>
            <a:off x="914400" y="3246120"/>
            <a:ext cx="10058400" cy="914400"/>
          </a:xfrm>
          <a:prstGeom prst="rect">
            <a:avLst/>
          </a:prstGeom>
          <a:noFill/>
        </p:spPr>
        <p:txBody>
          <a:bodyPr wrap="square" anchor="t">
            <a:spAutoFit/>
          </a:bodyPr>
          <a:lstStyle/>
          <a:p>
            <a:pPr algn="l"/>
            <a:r>
              <a:rPr sz="3600" b="1" i="0">
                <a:solidFill>
                  <a:srgbClr val="FFFFFF"/>
                </a:solidFill>
                <a:latin typeface="Arial"/>
              </a:rPr>
              <a:t>9. NEXT STEPS</a:t>
            </a:r>
          </a:p>
        </p:txBody>
      </p:sp>
      <p:sp>
        <p:nvSpPr>
          <p:cNvPr id="5" name="TextBox 4"/>
          <p:cNvSpPr txBox="1"/>
          <p:nvPr/>
        </p:nvSpPr>
        <p:spPr>
          <a:xfrm>
            <a:off x="457200" y="6492240"/>
            <a:ext cx="9144000" cy="274320"/>
          </a:xfrm>
          <a:prstGeom prst="rect">
            <a:avLst/>
          </a:prstGeom>
          <a:noFill/>
        </p:spPr>
        <p:txBody>
          <a:bodyPr wrap="square" anchor="t">
            <a:spAutoFit/>
          </a:bodyPr>
          <a:lstStyle/>
          <a:p>
            <a:pPr algn="l"/>
            <a:r>
              <a:rPr sz="800" b="1" i="0">
                <a:solidFill>
                  <a:srgbClr val="FFFFFF"/>
                </a:solidFill>
                <a:latin typeface="Arial"/>
              </a:rPr>
              <a:t>TECH MAHINDRA CONSULTING | HIGHLY CONFIDENTIAL</a:t>
            </a:r>
          </a:p>
        </p:txBody>
      </p:sp>
      <p:sp>
        <p:nvSpPr>
          <p:cNvPr id="6" name="Rectangle 5"/>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00F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88952" cy="4572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1274552" cy="548640"/>
          </a:xfrm>
          <a:prstGeom prst="rect">
            <a:avLst/>
          </a:prstGeom>
          <a:noFill/>
        </p:spPr>
        <p:txBody>
          <a:bodyPr wrap="square" anchor="t">
            <a:spAutoFit/>
          </a:bodyPr>
          <a:lstStyle/>
          <a:p>
            <a:pPr algn="l"/>
            <a:r>
              <a:rPr sz="2400" b="1" i="0">
                <a:solidFill>
                  <a:srgbClr val="FFFFFF"/>
                </a:solidFill>
                <a:latin typeface="Arial"/>
              </a:rPr>
              <a:t>9. NEXT STEPS</a:t>
            </a:r>
          </a:p>
        </p:txBody>
      </p:sp>
      <p:sp>
        <p:nvSpPr>
          <p:cNvPr id="5" name="Rectangle 4"/>
          <p:cNvSpPr/>
          <p:nvPr/>
        </p:nvSpPr>
        <p:spPr>
          <a:xfrm>
            <a:off x="731520" y="175564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645920"/>
            <a:ext cx="10058400" cy="640080"/>
          </a:xfrm>
          <a:prstGeom prst="rect">
            <a:avLst/>
          </a:prstGeom>
          <a:noFill/>
        </p:spPr>
        <p:txBody>
          <a:bodyPr wrap="square" anchor="t">
            <a:spAutoFit/>
          </a:bodyPr>
          <a:lstStyle/>
          <a:p>
            <a:pPr algn="l"/>
            <a:r>
              <a:rPr sz="1600" b="0" i="0">
                <a:solidFill>
                  <a:srgbClr val="000F2D"/>
                </a:solidFill>
                <a:latin typeface="Arial"/>
              </a:rPr>
              <a:t>We propose the following next steps:</a:t>
            </a:r>
          </a:p>
        </p:txBody>
      </p:sp>
      <p:sp>
        <p:nvSpPr>
          <p:cNvPr id="7" name="Rectangle 6"/>
          <p:cNvSpPr/>
          <p:nvPr/>
        </p:nvSpPr>
        <p:spPr>
          <a:xfrm>
            <a:off x="731520" y="248716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640080"/>
          </a:xfrm>
          <a:prstGeom prst="rect">
            <a:avLst/>
          </a:prstGeom>
          <a:noFill/>
        </p:spPr>
        <p:txBody>
          <a:bodyPr wrap="square" anchor="t">
            <a:spAutoFit/>
          </a:bodyPr>
          <a:lstStyle/>
          <a:p>
            <a:pPr algn="l"/>
            <a:r>
              <a:rPr sz="1600" b="0" i="0">
                <a:solidFill>
                  <a:srgbClr val="000F2D"/>
                </a:solidFill>
                <a:latin typeface="Arial"/>
              </a:rPr>
              <a:t>Sign a Non-Disclosure Agreement (NDA): We propose that HDFC Bank signs an NDA to protect the confidentiality of our proposal and discussions.</a:t>
            </a:r>
          </a:p>
        </p:txBody>
      </p:sp>
      <p:sp>
        <p:nvSpPr>
          <p:cNvPr id="9" name="Rectangle 8"/>
          <p:cNvSpPr/>
          <p:nvPr/>
        </p:nvSpPr>
        <p:spPr>
          <a:xfrm>
            <a:off x="731520" y="321868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108960"/>
            <a:ext cx="10058400" cy="640080"/>
          </a:xfrm>
          <a:prstGeom prst="rect">
            <a:avLst/>
          </a:prstGeom>
          <a:noFill/>
        </p:spPr>
        <p:txBody>
          <a:bodyPr wrap="square" anchor="t">
            <a:spAutoFit/>
          </a:bodyPr>
          <a:lstStyle/>
          <a:p>
            <a:pPr algn="l"/>
            <a:r>
              <a:rPr sz="1600" b="0" i="0">
                <a:solidFill>
                  <a:srgbClr val="000F2D"/>
                </a:solidFill>
                <a:latin typeface="Arial"/>
              </a:rPr>
              <a:t>Conduct a Detailed Requirements Gathering Session: We propose that HDFC Bank conducts a detailed requirements gathering session with our team to ensure that our solution meets its requirements.</a:t>
            </a:r>
          </a:p>
        </p:txBody>
      </p:sp>
      <p:sp>
        <p:nvSpPr>
          <p:cNvPr id="11" name="Rectangle 10"/>
          <p:cNvSpPr/>
          <p:nvPr/>
        </p:nvSpPr>
        <p:spPr>
          <a:xfrm>
            <a:off x="731520" y="395020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840480"/>
            <a:ext cx="10058400" cy="640080"/>
          </a:xfrm>
          <a:prstGeom prst="rect">
            <a:avLst/>
          </a:prstGeom>
          <a:noFill/>
        </p:spPr>
        <p:txBody>
          <a:bodyPr wrap="square" anchor="t">
            <a:spAutoFit/>
          </a:bodyPr>
          <a:lstStyle/>
          <a:p>
            <a:pPr algn="l"/>
            <a:r>
              <a:rPr sz="1600" b="0" i="0">
                <a:solidFill>
                  <a:srgbClr val="000F2D"/>
                </a:solidFill>
                <a:latin typeface="Arial"/>
              </a:rPr>
              <a:t>Finalize the Contract: We propose that HDFC Bank finalizes the contract with Tech Mahindra, outlining the scope of work, timelines, and commercial terms.</a:t>
            </a:r>
          </a:p>
        </p:txBody>
      </p:sp>
      <p:sp>
        <p:nvSpPr>
          <p:cNvPr id="13" name="Rectangle 12"/>
          <p:cNvSpPr/>
          <p:nvPr/>
        </p:nvSpPr>
        <p:spPr>
          <a:xfrm>
            <a:off x="731520" y="4681728"/>
            <a:ext cx="137160" cy="13716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572000"/>
            <a:ext cx="10058400" cy="640080"/>
          </a:xfrm>
          <a:prstGeom prst="rect">
            <a:avLst/>
          </a:prstGeom>
          <a:noFill/>
        </p:spPr>
        <p:txBody>
          <a:bodyPr wrap="square" anchor="t">
            <a:spAutoFit/>
          </a:bodyPr>
          <a:lstStyle/>
          <a:p>
            <a:pPr algn="l"/>
            <a:r>
              <a:rPr sz="1600" b="0" i="0">
                <a:solidFill>
                  <a:srgbClr val="000F2D"/>
                </a:solidFill>
                <a:latin typeface="Arial"/>
              </a:rPr>
              <a:t>Begin the Project: We propose that HDFC Bank begins the project with our team, ensuring a smooth and successful delivery of the cloud-native core banking platform.</a:t>
            </a:r>
          </a:p>
        </p:txBody>
      </p:sp>
      <p:sp>
        <p:nvSpPr>
          <p:cNvPr id="15" name="TextBox 14"/>
          <p:cNvSpPr txBox="1"/>
          <p:nvPr/>
        </p:nvSpPr>
        <p:spPr>
          <a:xfrm>
            <a:off x="457200" y="6492240"/>
            <a:ext cx="9144000" cy="274320"/>
          </a:xfrm>
          <a:prstGeom prst="rect">
            <a:avLst/>
          </a:prstGeom>
          <a:noFill/>
        </p:spPr>
        <p:txBody>
          <a:bodyPr wrap="square" anchor="t">
            <a:spAutoFit/>
          </a:bodyPr>
          <a:lstStyle/>
          <a:p>
            <a:pPr algn="l"/>
            <a:r>
              <a:rPr sz="800" b="1" i="0">
                <a:solidFill>
                  <a:srgbClr val="696969"/>
                </a:solidFill>
                <a:latin typeface="Arial"/>
              </a:rPr>
              <a:t>TECH MAHINDRA CONSULTING | HIGHLY CONFIDENTIAL</a:t>
            </a:r>
          </a:p>
        </p:txBody>
      </p:sp>
      <p:sp>
        <p:nvSpPr>
          <p:cNvPr id="16" name="TextBox 15"/>
          <p:cNvSpPr txBox="1"/>
          <p:nvPr/>
        </p:nvSpPr>
        <p:spPr>
          <a:xfrm>
            <a:off x="11457432" y="6492240"/>
            <a:ext cx="365760" cy="274320"/>
          </a:xfrm>
          <a:prstGeom prst="rect">
            <a:avLst/>
          </a:prstGeom>
          <a:noFill/>
        </p:spPr>
        <p:txBody>
          <a:bodyPr wrap="square" anchor="t">
            <a:spAutoFit/>
          </a:bodyPr>
          <a:lstStyle/>
          <a:p>
            <a:pPr algn="r"/>
            <a:r>
              <a:rPr sz="900" b="1" i="0">
                <a:solidFill>
                  <a:srgbClr val="696969"/>
                </a:solidFill>
                <a:latin typeface="Arial"/>
              </a:rPr>
              <a:t>23</a:t>
            </a:r>
          </a:p>
        </p:txBody>
      </p:sp>
      <p:sp>
        <p:nvSpPr>
          <p:cNvPr id="17" name="Rectangle 16"/>
          <p:cNvSpPr/>
          <p:nvPr/>
        </p:nvSpPr>
        <p:spPr>
          <a:xfrm>
            <a:off x="0" y="6766560"/>
            <a:ext cx="12188952" cy="9144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F2D"/>
        </a:solidFill>
        <a:effectLst/>
      </p:bgPr>
    </p:bg>
    <p:spTree>
      <p:nvGrpSpPr>
        <p:cNvPr id="1" name=""/>
        <p:cNvGrpSpPr/>
        <p:nvPr/>
      </p:nvGrpSpPr>
      <p:grpSpPr/>
      <p:sp>
        <p:nvSpPr>
          <p:cNvPr id="2" name="Rectangle 1"/>
          <p:cNvSpPr/>
          <p:nvPr/>
        </p:nvSpPr>
        <p:spPr>
          <a:xfrm>
            <a:off x="0" y="2057400"/>
            <a:ext cx="12188952" cy="2743200"/>
          </a:xfrm>
          <a:prstGeom prst="rect">
            <a:avLst/>
          </a:prstGeom>
          <a:solidFill>
            <a:srgbClr val="E31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697480"/>
            <a:ext cx="12188952" cy="914400"/>
          </a:xfrm>
          <a:prstGeom prst="rect">
            <a:avLst/>
          </a:prstGeom>
          <a:noFill/>
        </p:spPr>
        <p:txBody>
          <a:bodyPr wrap="square" anchor="t">
            <a:spAutoFit/>
          </a:bodyPr>
          <a:lstStyle/>
          <a:p>
            <a:pPr algn="ctr"/>
            <a:r>
              <a:rPr sz="6400" b="1" i="0">
                <a:solidFill>
                  <a:srgbClr val="FFFFFF"/>
                </a:solidFill>
                <a:latin typeface="Arial"/>
              </a:rPr>
              <a:t>THANK YOU</a:t>
            </a:r>
          </a:p>
        </p:txBody>
      </p:sp>
      <p:sp>
        <p:nvSpPr>
          <p:cNvPr id="4" name="TextBox 3"/>
          <p:cNvSpPr txBox="1"/>
          <p:nvPr/>
        </p:nvSpPr>
        <p:spPr>
          <a:xfrm>
            <a:off x="0" y="3703320"/>
            <a:ext cx="12188952" cy="457200"/>
          </a:xfrm>
          <a:prstGeom prst="rect">
            <a:avLst/>
          </a:prstGeom>
          <a:noFill/>
        </p:spPr>
        <p:txBody>
          <a:bodyPr wrap="square" anchor="t">
            <a:spAutoFit/>
          </a:bodyPr>
          <a:lstStyle/>
          <a:p>
            <a:pPr algn="ctr"/>
            <a:r>
              <a:rPr sz="2000" b="0" i="0">
                <a:solidFill>
                  <a:srgbClr val="FFFFFF"/>
                </a:solidFill>
                <a:latin typeface="Arial"/>
              </a:rPr>
              <a:t>We look forward to a successful partnership.</a:t>
            </a:r>
          </a:p>
        </p:txBody>
      </p:sp>
      <p:sp>
        <p:nvSpPr>
          <p:cNvPr id="5" name="TextBox 4"/>
          <p:cNvSpPr txBox="1"/>
          <p:nvPr/>
        </p:nvSpPr>
        <p:spPr>
          <a:xfrm>
            <a:off x="0" y="5943600"/>
            <a:ext cx="12188952" cy="457200"/>
          </a:xfrm>
          <a:prstGeom prst="rect">
            <a:avLst/>
          </a:prstGeom>
          <a:noFill/>
        </p:spPr>
        <p:txBody>
          <a:bodyPr wrap="square" anchor="t">
            <a:spAutoFit/>
          </a:bodyPr>
          <a:lstStyle/>
          <a:p>
            <a:pPr algn="ctr"/>
            <a:r>
              <a:rPr sz="1400" b="1" i="0">
                <a:solidFill>
                  <a:srgbClr val="C8D2E6"/>
                </a:solidFill>
                <a:latin typeface="Arial"/>
              </a:rPr>
              <a:t>TECH MAHINDRA STRATEGIC CONSULTING</a:t>
            </a:r>
          </a:p>
        </p:txBody>
      </p:sp>
      <p:sp>
        <p:nvSpPr>
          <p:cNvPr id="6" name="TextBox 5"/>
          <p:cNvSpPr txBox="1"/>
          <p:nvPr/>
        </p:nvSpPr>
        <p:spPr>
          <a:xfrm>
            <a:off x="0" y="6400800"/>
            <a:ext cx="12188952" cy="457200"/>
          </a:xfrm>
          <a:prstGeom prst="rect">
            <a:avLst/>
          </a:prstGeom>
          <a:noFill/>
        </p:spPr>
        <p:txBody>
          <a:bodyPr wrap="square" anchor="t">
            <a:spAutoFit/>
          </a:bodyPr>
          <a:lstStyle/>
          <a:p>
            <a:pPr algn="ctr"/>
            <a:r>
              <a:rPr sz="1000" b="0" i="0">
                <a:solidFill>
                  <a:srgbClr val="696969"/>
                </a:solidFill>
                <a:latin typeface="Arial"/>
              </a:rPr>
              <a:t>confidential | proprietary | strictly not for distribution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